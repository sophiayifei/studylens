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18"/>
  </p:notesMasterIdLst>
  <p:handoutMasterIdLst>
    <p:handoutMasterId r:id="rId19"/>
  </p:handoutMasterIdLst>
  <p:sldIdLst>
    <p:sldId id="271" r:id="rId2"/>
    <p:sldId id="511" r:id="rId3"/>
    <p:sldId id="504" r:id="rId4"/>
    <p:sldId id="502" r:id="rId5"/>
    <p:sldId id="503" r:id="rId6"/>
    <p:sldId id="501" r:id="rId7"/>
    <p:sldId id="507" r:id="rId8"/>
    <p:sldId id="509" r:id="rId9"/>
    <p:sldId id="453" r:id="rId10"/>
    <p:sldId id="505" r:id="rId11"/>
    <p:sldId id="508" r:id="rId12"/>
    <p:sldId id="510" r:id="rId13"/>
    <p:sldId id="512" r:id="rId14"/>
    <p:sldId id="513" r:id="rId15"/>
    <p:sldId id="514" r:id="rId16"/>
    <p:sldId id="515" r:id="rId17"/>
  </p:sldIdLst>
  <p:sldSz cx="9144000" cy="5143500" type="screen16x9"/>
  <p:notesSz cx="7010400" cy="9296400"/>
  <p:embeddedFontLst>
    <p:embeddedFont>
      <p:font typeface="Cambria Math" panose="02040503050406030204" pitchFamily="18" charset="0"/>
      <p:regular r:id="rId20"/>
    </p:embeddedFont>
    <p:embeddedFont>
      <p:font typeface="Open Sans" panose="020B0606030504020204" pitchFamily="34" charset="0"/>
      <p:regular r:id="rId21"/>
      <p:bold r:id="rId21"/>
      <p:italic r:id="rId21"/>
      <p:boldItalic r:id="rId21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9"/>
    <p:restoredTop sz="94681"/>
  </p:normalViewPr>
  <p:slideViewPr>
    <p:cSldViewPr snapToGrid="0" snapToObjects="1">
      <p:cViewPr varScale="1">
        <p:scale>
          <a:sx n="164" d="100"/>
          <a:sy n="164" d="100"/>
        </p:scale>
        <p:origin x="32" y="1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NUL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9/16/25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9/16/25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619341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Time Series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Week 4</a:t>
            </a:r>
            <a:br>
              <a:rPr lang="en-US" sz="3200" dirty="0"/>
            </a:br>
            <a:br>
              <a:rPr lang="en-US" sz="1600" dirty="0"/>
            </a:br>
            <a:br>
              <a:rPr lang="en-US" sz="1600" dirty="0"/>
            </a:b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96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AFC20-C9AB-0064-3DDA-28C3855FF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009180"/>
            <a:ext cx="7772400" cy="112514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http://</a:t>
            </a:r>
            <a:r>
              <a:rPr lang="en-US" sz="2400" dirty="0" err="1">
                <a:solidFill>
                  <a:schemeClr val="tx1"/>
                </a:solidFill>
              </a:rPr>
              <a:t>classwise.org</a:t>
            </a:r>
            <a:r>
              <a:rPr lang="en-US" sz="2400" dirty="0">
                <a:solidFill>
                  <a:schemeClr val="tx1"/>
                </a:solidFill>
              </a:rPr>
              <a:t>/student/quiz/4a03f4d9-0b33-4ba2-b399-f00e94f41b20</a:t>
            </a:r>
          </a:p>
        </p:txBody>
      </p:sp>
    </p:spTree>
    <p:extLst>
      <p:ext uri="{BB962C8B-B14F-4D97-AF65-F5344CB8AC3E}">
        <p14:creationId xmlns:p14="http://schemas.microsoft.com/office/powerpoint/2010/main" val="315101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262A-EC84-020E-202B-55CF1FC1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1B3F7-7157-F418-E6C9-D54790DC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005043" cy="137159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A time series is a sequence of data points taken at successive equally spaced points in time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Has a natural temporal ordering to the observations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Time ordered data is not necessarily time series (e.g. medical records)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Most data from hardware/sensors is time series</a:t>
            </a:r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6783D2-7859-264A-A986-CC5FDA85C5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285765"/>
            <a:ext cx="2414089" cy="1419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2B1E76-FEEC-DFD0-89DC-4101E5B13EA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52677" y="3451803"/>
            <a:ext cx="2414089" cy="108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EC73F1-E4E4-2F26-68D6-A19934343BD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8154" y="3262203"/>
            <a:ext cx="2414089" cy="137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6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F54B-C302-86C0-3D6B-703A0E6F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and Seasonality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9B16-6E36-DDCC-0075-2CC2291C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01182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We can break time series down into two main components:</a:t>
            </a:r>
          </a:p>
          <a:p>
            <a:pPr lvl="1"/>
            <a:r>
              <a:rPr lang="en-US" sz="1600" b="1" dirty="0"/>
              <a:t>Trend</a:t>
            </a:r>
            <a:r>
              <a:rPr lang="en-US" sz="1600" dirty="0"/>
              <a:t>: the long-term trend of the data</a:t>
            </a:r>
          </a:p>
          <a:p>
            <a:pPr lvl="1"/>
            <a:r>
              <a:rPr lang="en-US" sz="1600" b="1" dirty="0"/>
              <a:t>Seasonality</a:t>
            </a:r>
            <a:r>
              <a:rPr lang="en-US" sz="1600" dirty="0"/>
              <a:t>: the cyclical fluctuations in 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D9301-72A2-A40C-AFD0-FBF6C4BEF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94" y="2348503"/>
            <a:ext cx="6117437" cy="24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1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108B-35A2-CEF6-A4C1-2C2A6E60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17BA5-8A9D-6483-F979-36C37E792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78540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Data can have seasonality (periodicity) on multiple scales: hourly, daily, weekly, annually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B1A0B-CAEA-1259-AB60-CF40539726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6488" y="2459740"/>
            <a:ext cx="1580904" cy="2108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0A163D-D23E-247C-9677-20F67FE3E7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291" y="2459740"/>
            <a:ext cx="2108532" cy="2108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4D70AF-355E-6BA4-5BE9-6C06B29550FF}"/>
              </a:ext>
            </a:extLst>
          </p:cNvPr>
          <p:cNvSpPr txBox="1"/>
          <p:nvPr/>
        </p:nvSpPr>
        <p:spPr>
          <a:xfrm>
            <a:off x="457200" y="2037981"/>
            <a:ext cx="2108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Temperature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6813E-D9BE-BAA1-6E2B-65928319AB62}"/>
              </a:ext>
            </a:extLst>
          </p:cNvPr>
          <p:cNvSpPr txBox="1"/>
          <p:nvPr/>
        </p:nvSpPr>
        <p:spPr>
          <a:xfrm>
            <a:off x="3439886" y="2037980"/>
            <a:ext cx="2108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Power Demand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BBA09C-A6CC-B92B-3306-4951F8F142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272"/>
          <a:stretch/>
        </p:blipFill>
        <p:spPr>
          <a:xfrm>
            <a:off x="5764517" y="2515744"/>
            <a:ext cx="2536526" cy="19965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8C4DAB-6923-CFFD-1516-801F2B2F3CF0}"/>
              </a:ext>
            </a:extLst>
          </p:cNvPr>
          <p:cNvSpPr txBox="1"/>
          <p:nvPr/>
        </p:nvSpPr>
        <p:spPr>
          <a:xfrm>
            <a:off x="5764517" y="2033800"/>
            <a:ext cx="2108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Bookstore Sales</a:t>
            </a:r>
          </a:p>
        </p:txBody>
      </p:sp>
    </p:spTree>
    <p:extLst>
      <p:ext uri="{BB962C8B-B14F-4D97-AF65-F5344CB8AC3E}">
        <p14:creationId xmlns:p14="http://schemas.microsoft.com/office/powerpoint/2010/main" val="81740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042B-F935-D415-0E53-34216DC2E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D34D8-BA29-F904-6220-46A4A9683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855030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A key assumption of regression models is that the </a:t>
            </a:r>
            <a:r>
              <a:rPr lang="en-US" sz="1800" dirty="0" err="1"/>
              <a:t>X,y</a:t>
            </a:r>
            <a:r>
              <a:rPr lang="en-US" sz="1800" dirty="0"/>
              <a:t> observations are independent of each other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This does not hold true with time series – present is correlated with the past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Key to modeling is to understand the patterns of correlation across time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Many modeling approaches: ARIMA, exponential smoothing, etc.</a:t>
            </a:r>
          </a:p>
        </p:txBody>
      </p:sp>
      <p:pic>
        <p:nvPicPr>
          <p:cNvPr id="1026" name="Picture 2" descr="Minimum Daily Temperatures Dataset Plot">
            <a:extLst>
              <a:ext uri="{FF2B5EF4-FFF2-40B4-BE49-F238E27FC236}">
                <a16:creationId xmlns:a16="http://schemas.microsoft.com/office/drawing/2014/main" id="{F731A007-CAA0-BD79-76F7-1994A5C523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3" t="7531" r="7802" b="7531"/>
          <a:stretch/>
        </p:blipFill>
        <p:spPr bwMode="auto">
          <a:xfrm>
            <a:off x="5433384" y="1350236"/>
            <a:ext cx="3253416" cy="244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72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3805-508F-C7F1-D76D-F9CC7326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AAE3-4030-BA05-F12C-474C44BA3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228011" cy="2030729"/>
          </a:xfrm>
        </p:spPr>
        <p:txBody>
          <a:bodyPr/>
          <a:lstStyle/>
          <a:p>
            <a:r>
              <a:rPr lang="en-US" sz="1800" dirty="0"/>
              <a:t>We can decompose a time series into three main components:</a:t>
            </a:r>
          </a:p>
          <a:p>
            <a:pPr lvl="1"/>
            <a:r>
              <a:rPr lang="en-US" sz="1400" dirty="0"/>
              <a:t>Trend</a:t>
            </a:r>
          </a:p>
          <a:p>
            <a:pPr lvl="1"/>
            <a:r>
              <a:rPr lang="en-US" sz="1400" dirty="0"/>
              <a:t>Seasonality</a:t>
            </a:r>
          </a:p>
          <a:p>
            <a:pPr lvl="1"/>
            <a:r>
              <a:rPr lang="en-US" sz="1400" dirty="0"/>
              <a:t>Residuals</a:t>
            </a:r>
          </a:p>
          <a:p>
            <a:r>
              <a:rPr lang="en-US" sz="1800" dirty="0"/>
              <a:t>They are combined using the additive or multiplicative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19DA2-0F9A-CE72-521E-AD125BEA2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552" y="1092201"/>
            <a:ext cx="3684248" cy="3663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C897DF-6868-39CE-877B-95C343B4BAAC}"/>
                  </a:ext>
                </a:extLst>
              </p:cNvPr>
              <p:cNvSpPr txBox="1"/>
              <p:nvPr/>
            </p:nvSpPr>
            <p:spPr>
              <a:xfrm>
                <a:off x="1924074" y="3518303"/>
                <a:ext cx="1759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C897DF-6868-39CE-877B-95C343B4B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74" y="3518303"/>
                <a:ext cx="1759136" cy="276999"/>
              </a:xfrm>
              <a:prstGeom prst="rect">
                <a:avLst/>
              </a:prstGeom>
              <a:blipFill>
                <a:blip r:embed="rId3"/>
                <a:stretch>
                  <a:fillRect l="-28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D8DFDF-CA5D-C590-6F98-481568046230}"/>
                  </a:ext>
                </a:extLst>
              </p:cNvPr>
              <p:cNvSpPr txBox="1"/>
              <p:nvPr/>
            </p:nvSpPr>
            <p:spPr>
              <a:xfrm>
                <a:off x="2259361" y="4220279"/>
                <a:ext cx="16373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D8DFDF-CA5D-C590-6F98-481568046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361" y="4220279"/>
                <a:ext cx="1637308" cy="276999"/>
              </a:xfrm>
              <a:prstGeom prst="rect">
                <a:avLst/>
              </a:prstGeom>
              <a:blipFill>
                <a:blip r:embed="rId4"/>
                <a:stretch>
                  <a:fillRect l="-3101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52FB801-7A33-6FEF-678F-50A1F10441E4}"/>
              </a:ext>
            </a:extLst>
          </p:cNvPr>
          <p:cNvSpPr txBox="1"/>
          <p:nvPr/>
        </p:nvSpPr>
        <p:spPr>
          <a:xfrm>
            <a:off x="457200" y="3472137"/>
            <a:ext cx="114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Additive: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87EA47-AA2A-4F11-9A5C-173A900B6E81}"/>
              </a:ext>
            </a:extLst>
          </p:cNvPr>
          <p:cNvSpPr txBox="1"/>
          <p:nvPr/>
        </p:nvSpPr>
        <p:spPr>
          <a:xfrm>
            <a:off x="457199" y="4184510"/>
            <a:ext cx="175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Multiplicative:</a:t>
            </a:r>
          </a:p>
        </p:txBody>
      </p:sp>
    </p:spTree>
    <p:extLst>
      <p:ext uri="{BB962C8B-B14F-4D97-AF65-F5344CB8AC3E}">
        <p14:creationId xmlns:p14="http://schemas.microsoft.com/office/powerpoint/2010/main" val="132839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F037-E6E5-9A92-6409-94879FEE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Additive vs. Multiplicative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1978-4D31-3176-793C-703978FAB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296194" cy="3181350"/>
          </a:xfrm>
        </p:spPr>
        <p:txBody>
          <a:bodyPr/>
          <a:lstStyle/>
          <a:p>
            <a:r>
              <a:rPr lang="en-US" sz="1800" b="1" dirty="0"/>
              <a:t>Additive</a:t>
            </a:r>
            <a:r>
              <a:rPr lang="en-US" sz="1800" dirty="0"/>
              <a:t> model:</a:t>
            </a:r>
          </a:p>
          <a:p>
            <a:pPr lvl="1"/>
            <a:r>
              <a:rPr lang="en-US" sz="1400" dirty="0"/>
              <a:t>Linear trend</a:t>
            </a:r>
          </a:p>
          <a:p>
            <a:pPr lvl="1"/>
            <a:r>
              <a:rPr lang="en-US" sz="1400" dirty="0"/>
              <a:t>Constant seasonal periods over time</a:t>
            </a:r>
          </a:p>
          <a:p>
            <a:pPr lvl="1"/>
            <a:endParaRPr lang="en-US" sz="1400" dirty="0"/>
          </a:p>
          <a:p>
            <a:endParaRPr lang="en-US" sz="1800" dirty="0"/>
          </a:p>
          <a:p>
            <a:r>
              <a:rPr lang="en-US" sz="1800" b="1" dirty="0"/>
              <a:t>Multiplicative</a:t>
            </a:r>
            <a:r>
              <a:rPr lang="en-US" sz="1800" dirty="0"/>
              <a:t> model:</a:t>
            </a:r>
          </a:p>
          <a:p>
            <a:pPr lvl="1"/>
            <a:r>
              <a:rPr lang="en-US" sz="1400" dirty="0"/>
              <a:t>Non-linear trend</a:t>
            </a:r>
          </a:p>
          <a:p>
            <a:pPr lvl="1"/>
            <a:r>
              <a:rPr lang="en-US" sz="1400" dirty="0"/>
              <a:t>Width or height of seasonal periods changes over time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BABA95-AC78-1628-6BE4-A9592BF3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429" y="1170411"/>
            <a:ext cx="4522601" cy="140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D64C27E-12CA-C863-32D8-CD74DB475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428" y="3002288"/>
            <a:ext cx="4522602" cy="138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F6A219-AC7B-74EC-35B0-140CEAC7774D}"/>
                  </a:ext>
                </a:extLst>
              </p:cNvPr>
              <p:cNvSpPr txBox="1"/>
              <p:nvPr/>
            </p:nvSpPr>
            <p:spPr>
              <a:xfrm>
                <a:off x="1000966" y="2372290"/>
                <a:ext cx="1759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F6A219-AC7B-74EC-35B0-140CEAC77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66" y="2372290"/>
                <a:ext cx="1759136" cy="276999"/>
              </a:xfrm>
              <a:prstGeom prst="rect">
                <a:avLst/>
              </a:prstGeom>
              <a:blipFill>
                <a:blip r:embed="rId4"/>
                <a:stretch>
                  <a:fillRect l="-214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14C6BE-DEEB-AA3A-4368-5ED7B9D3E933}"/>
                  </a:ext>
                </a:extLst>
              </p:cNvPr>
              <p:cNvSpPr txBox="1"/>
              <p:nvPr/>
            </p:nvSpPr>
            <p:spPr>
              <a:xfrm>
                <a:off x="1000966" y="4037399"/>
                <a:ext cx="16373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14C6BE-DEEB-AA3A-4368-5ED7B9D3E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66" y="4037399"/>
                <a:ext cx="1637308" cy="276999"/>
              </a:xfrm>
              <a:prstGeom prst="rect">
                <a:avLst/>
              </a:prstGeom>
              <a:blipFill>
                <a:blip r:embed="rId5"/>
                <a:stretch>
                  <a:fillRect l="-230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69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96DC-292C-1840-BB6A-3581D7FCC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00151"/>
            <a:ext cx="4479131" cy="318135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1600" dirty="0"/>
              <a:t>We can use the </a:t>
            </a:r>
            <a:r>
              <a:rPr lang="en-US" sz="1600" dirty="0" err="1"/>
              <a:t>seasonal_decompose</a:t>
            </a:r>
            <a:r>
              <a:rPr lang="en-US" sz="1600" dirty="0"/>
              <a:t>() function from the </a:t>
            </a:r>
            <a:r>
              <a:rPr lang="en-US" sz="1600" dirty="0" err="1"/>
              <a:t>statsmodels</a:t>
            </a:r>
            <a:r>
              <a:rPr lang="en-US" sz="1600" dirty="0"/>
              <a:t> package to decompose time series into their trend, seasonal, and residual components</a:t>
            </a:r>
          </a:p>
          <a:p>
            <a:pPr lvl="1">
              <a:spcBef>
                <a:spcPts val="1000"/>
              </a:spcBef>
            </a:pPr>
            <a:r>
              <a:rPr lang="en-US" sz="1400" dirty="0"/>
              <a:t>We must select additive or multiplicative time series and input the estimated period</a:t>
            </a:r>
          </a:p>
          <a:p>
            <a:pPr lvl="1">
              <a:spcBef>
                <a:spcPts val="1000"/>
              </a:spcBef>
            </a:pPr>
            <a:endParaRPr lang="en-US" sz="800" dirty="0"/>
          </a:p>
          <a:p>
            <a:pPr>
              <a:spcBef>
                <a:spcPts val="1000"/>
              </a:spcBef>
            </a:pPr>
            <a:r>
              <a:rPr lang="en-US" sz="1600" dirty="0"/>
              <a:t>Be careful about automated time series decomposition</a:t>
            </a:r>
          </a:p>
          <a:p>
            <a:pPr lvl="1">
              <a:spcBef>
                <a:spcPts val="1000"/>
              </a:spcBef>
            </a:pPr>
            <a:r>
              <a:rPr lang="en-US" sz="1400" dirty="0"/>
              <a:t>It may do well at identifying trend, but sometimes finds seasonal patterns that don’t really exist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17C1F-A037-8045-B56F-E6BFA07D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506" y="1046427"/>
            <a:ext cx="3622221" cy="389704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D7D97D3-23FF-550D-F2DD-54889E8D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Time Series</a:t>
            </a:r>
          </a:p>
        </p:txBody>
      </p:sp>
    </p:spTree>
    <p:extLst>
      <p:ext uri="{BB962C8B-B14F-4D97-AF65-F5344CB8AC3E}">
        <p14:creationId xmlns:p14="http://schemas.microsoft.com/office/powerpoint/2010/main" val="422739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667F-AD6F-70FF-8C75-0FB62ABF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CF48D-FF95-3CE6-26C9-67A49C828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201886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Autocorrelation is the correlation of a signal with a delayed (lagged) copy of itself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Detected using the Durbin-Watson test or using the Pearson correlation coefficient of the two series (actual and lagged)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Autocorrelation is an indicator of seasonality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BCFAF-9D48-763D-356E-A1439045F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92" y="1063625"/>
            <a:ext cx="3500385" cy="335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6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BD35-3AE7-4888-10BC-9B3E8749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D375E-F5B6-D1CA-7C57-51AB3E82B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5569131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A process with full autocorrelation with a lag = 1 is called a </a:t>
            </a:r>
            <a:r>
              <a:rPr lang="en-US" sz="1800" b="1" dirty="0"/>
              <a:t>Markov process </a:t>
            </a:r>
            <a:r>
              <a:rPr lang="en-US" sz="1800" dirty="0"/>
              <a:t>or a </a:t>
            </a:r>
            <a:r>
              <a:rPr lang="en-US" sz="1800" b="1" dirty="0"/>
              <a:t>Markov chain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 current state depends only on the state attained at the previous timestep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 </a:t>
            </a:r>
            <a:r>
              <a:rPr lang="en-US" sz="1800" b="1" dirty="0"/>
              <a:t>transition matrix </a:t>
            </a:r>
            <a:r>
              <a:rPr lang="en-US" sz="1800" dirty="0"/>
              <a:t>specifies the probabilities of shifting between states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Markov models are used in the sciences, predicting stock market prices, and ranking web search results (PageRank)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EA61ED-7935-1132-7645-2B35823B5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578" y="1465423"/>
            <a:ext cx="2366318" cy="236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55957-8360-64B3-612A-C3F3A5E1A641}"/>
              </a:ext>
            </a:extLst>
          </p:cNvPr>
          <p:cNvSpPr txBox="1"/>
          <p:nvPr/>
        </p:nvSpPr>
        <p:spPr>
          <a:xfrm>
            <a:off x="6570617" y="3831741"/>
            <a:ext cx="19202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i="1" dirty="0"/>
              <a:t>https://</a:t>
            </a:r>
            <a:r>
              <a:rPr lang="en-US" sz="700" i="1" dirty="0" err="1"/>
              <a:t>en.wikipedia.org</a:t>
            </a:r>
            <a:r>
              <a:rPr lang="en-US" sz="700" i="1" dirty="0"/>
              <a:t>/wiki/</a:t>
            </a:r>
            <a:r>
              <a:rPr lang="en-US" sz="700" i="1" dirty="0" err="1"/>
              <a:t>Markov_chain</a:t>
            </a:r>
            <a:endParaRPr lang="en-US" sz="700" i="1" dirty="0"/>
          </a:p>
        </p:txBody>
      </p:sp>
    </p:spTree>
    <p:extLst>
      <p:ext uri="{BB962C8B-B14F-4D97-AF65-F5344CB8AC3E}">
        <p14:creationId xmlns:p14="http://schemas.microsoft.com/office/powerpoint/2010/main" val="617283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3559-D0EE-DF50-92A0-D54F2FF2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A9A6-8000-DC29-6390-1824A10E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36126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If we identify strong correlation with the past, we can build a model using the past values as features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This is called an </a:t>
            </a:r>
            <a:r>
              <a:rPr lang="en-US" sz="1800" b="1" dirty="0"/>
              <a:t>autoregression model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can create features using past data at one lag or multiple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480A0-5E94-2A3B-A838-9E06E100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05" y="1349104"/>
            <a:ext cx="4255395" cy="213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0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6BEA-0E25-B79E-14F5-D672FED9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1057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Time series demo</a:t>
            </a:r>
          </a:p>
        </p:txBody>
      </p:sp>
    </p:spTree>
    <p:extLst>
      <p:ext uri="{BB962C8B-B14F-4D97-AF65-F5344CB8AC3E}">
        <p14:creationId xmlns:p14="http://schemas.microsoft.com/office/powerpoint/2010/main" val="119438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29C4-87E8-FCF9-50A5-6FF14EE4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D361-EE87-F944-5F41-9A36F66C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1057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699316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A5C9-EA0C-98C9-24DB-C1AC6DC2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5A12-CC50-6325-9A4C-12178523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1057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Project 1</a:t>
            </a:r>
          </a:p>
        </p:txBody>
      </p:sp>
    </p:spTree>
    <p:extLst>
      <p:ext uri="{BB962C8B-B14F-4D97-AF65-F5344CB8AC3E}">
        <p14:creationId xmlns:p14="http://schemas.microsoft.com/office/powerpoint/2010/main" val="378537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986A-72D1-A359-EB22-D8DAD730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56D31-C514-379D-7308-C5AA1F358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Predict the hourly temperature measured at RDU airport for the period 12am September 17 – 11pm September 30’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sz="1800" dirty="0"/>
              <a:t>Rules</a:t>
            </a:r>
          </a:p>
          <a:p>
            <a:pPr lvl="1"/>
            <a:r>
              <a:rPr lang="en-US" sz="1400" dirty="0"/>
              <a:t>Any data (other than ground truth)</a:t>
            </a:r>
          </a:p>
          <a:p>
            <a:pPr lvl="1"/>
            <a:r>
              <a:rPr lang="en-US" sz="1400" dirty="0"/>
              <a:t>Any inputs/features</a:t>
            </a:r>
          </a:p>
          <a:p>
            <a:pPr lvl="1"/>
            <a:r>
              <a:rPr lang="en-US" sz="1400" dirty="0"/>
              <a:t>Any model(s)</a:t>
            </a:r>
          </a:p>
          <a:p>
            <a:pPr lvl="1"/>
            <a:r>
              <a:rPr lang="en-US" sz="1400" dirty="0"/>
              <a:t>MUST include 1 linear regression model + 1 other model</a:t>
            </a:r>
          </a:p>
          <a:p>
            <a:pPr marL="457200" lvl="1" indent="0">
              <a:buNone/>
            </a:pPr>
            <a:endParaRPr lang="en-US" sz="800" dirty="0"/>
          </a:p>
          <a:p>
            <a:r>
              <a:rPr lang="en-US" sz="1800" dirty="0"/>
              <a:t>Deliverables</a:t>
            </a:r>
          </a:p>
          <a:p>
            <a:pPr lvl="1"/>
            <a:r>
              <a:rPr lang="en-US" sz="1400" dirty="0"/>
              <a:t>Presentation: Inputs, data pipeline, features, models, eval approach, performance</a:t>
            </a:r>
          </a:p>
          <a:p>
            <a:pPr lvl="1"/>
            <a:r>
              <a:rPr lang="en-US" sz="1400" dirty="0"/>
              <a:t>Code repo</a:t>
            </a:r>
          </a:p>
          <a:p>
            <a:pPr lvl="1"/>
            <a:r>
              <a:rPr lang="en-US" sz="1400" dirty="0"/>
              <a:t>Writeup (2-4 pages): your approach to the problem, how you applied what we learned in class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62307420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27021</TotalTime>
  <Words>594</Words>
  <Application>Microsoft Macintosh PowerPoint</Application>
  <PresentationFormat>On-screen Show (16:9)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Cambria Math</vt:lpstr>
      <vt:lpstr>Calibri</vt:lpstr>
      <vt:lpstr>Open Sans</vt:lpstr>
      <vt:lpstr>Arial</vt:lpstr>
      <vt:lpstr>pratt-template-aerial-wide</vt:lpstr>
      <vt:lpstr>Time Series  Week 4    </vt:lpstr>
      <vt:lpstr>PowerPoint Presentation</vt:lpstr>
      <vt:lpstr>Time Series</vt:lpstr>
      <vt:lpstr>Trend and Seasonality</vt:lpstr>
      <vt:lpstr>Seasonality</vt:lpstr>
      <vt:lpstr>Time Series Modeling</vt:lpstr>
      <vt:lpstr>Time Series Decomposition</vt:lpstr>
      <vt:lpstr>Additive vs. Multiplicative</vt:lpstr>
      <vt:lpstr>Decomposing Time Series</vt:lpstr>
      <vt:lpstr>Autocorrelation</vt:lpstr>
      <vt:lpstr>Markov Processes</vt:lpstr>
      <vt:lpstr>Autoregression Model</vt:lpstr>
      <vt:lpstr>Time series demo</vt:lpstr>
      <vt:lpstr>Exercise</vt:lpstr>
      <vt:lpstr>Project 1</vt:lpstr>
      <vt:lpstr>Project 1 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225</cp:revision>
  <dcterms:created xsi:type="dcterms:W3CDTF">2020-08-17T17:32:42Z</dcterms:created>
  <dcterms:modified xsi:type="dcterms:W3CDTF">2025-09-17T12:52:48Z</dcterms:modified>
</cp:coreProperties>
</file>