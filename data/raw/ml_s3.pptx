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1" r:id="rId1"/>
  </p:sldMasterIdLst>
  <p:notesMasterIdLst>
    <p:notesMasterId r:id="rId45"/>
  </p:notesMasterIdLst>
  <p:handoutMasterIdLst>
    <p:handoutMasterId r:id="rId46"/>
  </p:handoutMasterIdLst>
  <p:sldIdLst>
    <p:sldId id="256" r:id="rId2"/>
    <p:sldId id="395" r:id="rId3"/>
    <p:sldId id="478" r:id="rId4"/>
    <p:sldId id="458" r:id="rId5"/>
    <p:sldId id="460" r:id="rId6"/>
    <p:sldId id="459" r:id="rId7"/>
    <p:sldId id="461" r:id="rId8"/>
    <p:sldId id="468" r:id="rId9"/>
    <p:sldId id="501" r:id="rId10"/>
    <p:sldId id="500" r:id="rId11"/>
    <p:sldId id="471" r:id="rId12"/>
    <p:sldId id="462" r:id="rId13"/>
    <p:sldId id="472" r:id="rId14"/>
    <p:sldId id="473" r:id="rId15"/>
    <p:sldId id="479" r:id="rId16"/>
    <p:sldId id="474" r:id="rId17"/>
    <p:sldId id="477" r:id="rId18"/>
    <p:sldId id="480" r:id="rId19"/>
    <p:sldId id="457" r:id="rId20"/>
    <p:sldId id="481" r:id="rId21"/>
    <p:sldId id="482" r:id="rId22"/>
    <p:sldId id="483" r:id="rId23"/>
    <p:sldId id="496" r:id="rId24"/>
    <p:sldId id="498" r:id="rId25"/>
    <p:sldId id="497" r:id="rId26"/>
    <p:sldId id="502" r:id="rId27"/>
    <p:sldId id="484" r:id="rId28"/>
    <p:sldId id="490" r:id="rId29"/>
    <p:sldId id="503" r:id="rId30"/>
    <p:sldId id="485" r:id="rId31"/>
    <p:sldId id="488" r:id="rId32"/>
    <p:sldId id="487" r:id="rId33"/>
    <p:sldId id="504" r:id="rId34"/>
    <p:sldId id="494" r:id="rId35"/>
    <p:sldId id="505" r:id="rId36"/>
    <p:sldId id="506" r:id="rId37"/>
    <p:sldId id="507" r:id="rId38"/>
    <p:sldId id="508" r:id="rId39"/>
    <p:sldId id="509" r:id="rId40"/>
    <p:sldId id="489" r:id="rId41"/>
    <p:sldId id="491" r:id="rId42"/>
    <p:sldId id="493" r:id="rId43"/>
    <p:sldId id="495" r:id="rId44"/>
  </p:sldIdLst>
  <p:sldSz cx="9144000" cy="5143500" type="screen16x9"/>
  <p:notesSz cx="7010400" cy="9296400"/>
  <p:embeddedFontLst>
    <p:embeddedFont>
      <p:font typeface="Cambria Math" panose="02040503050406030204" pitchFamily="18" charset="0"/>
      <p:regular r:id="rId47"/>
    </p:embeddedFont>
    <p:embeddedFont>
      <p:font typeface="Open Sans" panose="020B0606030504020204" pitchFamily="34" charset="0"/>
      <p:regular r:id="rId48"/>
      <p:bold r:id="rId49"/>
      <p:italic r:id="rId50"/>
      <p:boldItalic r:id="rId51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 Reifschneider" initials="JR" lastIdx="1" clrIdx="0">
    <p:extLst>
      <p:ext uri="{19B8F6BF-5375-455C-9EA6-DF929625EA0E}">
        <p15:presenceInfo xmlns:p15="http://schemas.microsoft.com/office/powerpoint/2012/main" userId="S::jjr10@duke.edu::adf61fbf-732f-4512-928f-7bd2737fad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26"/>
    <p:restoredTop sz="95630"/>
  </p:normalViewPr>
  <p:slideViewPr>
    <p:cSldViewPr snapToGrid="0" snapToObjects="1">
      <p:cViewPr varScale="1">
        <p:scale>
          <a:sx n="119" d="100"/>
          <a:sy n="119" d="100"/>
        </p:scale>
        <p:origin x="208" y="10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99A984-4A80-074F-88D1-7DA5B8EF2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2F1B4-ED44-504A-B219-D6CB7358A0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75CFD1-423F-6341-B9E6-7F0902AB8C58}" type="datetime1">
              <a:rPr lang="en-US" altLang="en-US"/>
              <a:pPr>
                <a:defRPr/>
              </a:pPr>
              <a:t>9/9/25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7C091-A977-3646-82B8-4087D2EFD1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EE009-30F0-F04E-AB1E-3DEE7D93AB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487C64-BAF2-3148-A83E-1853D83860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5D1F0E-1220-9F46-BD67-AE740D2FEE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8C05A-3D33-054F-A2E2-9865B3B386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91D22EF-D2F6-C042-8C78-98305ECA2FBD}" type="datetime1">
              <a:rPr lang="en-US" altLang="en-US"/>
              <a:pPr>
                <a:defRPr/>
              </a:pPr>
              <a:t>9/9/25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A60385-C3A2-E743-8F84-CF588485B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C3C097-4388-5747-AB58-7F79793A4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4066E-C0CE-C047-88E3-615BBBFE71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C7E83-6AF9-0A44-802E-291EF3E6D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17813C2-0D88-2B44-8D66-87A07275F6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7813C2-0D88-2B44-8D66-87A07275F6A6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385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7813C2-0D88-2B44-8D66-87A07275F6A6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6415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7813C2-0D88-2B44-8D66-87A07275F6A6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782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14C1C88-EB41-0F4B-AAA8-143084A38A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054D886C-A6B0-1D40-8E9F-DDF4C4693F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98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FCI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9BC785DC-496B-1E42-B5DC-69821FFDD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3B8D600D-83A1-BE49-ADB0-3C1521F4A6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48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Sp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33BBE9F-A41D-7241-9E5A-ED29170B91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ADC9F641-F081-5B4B-83CC-6ADAE2B98E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282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DBC914-62BC-3649-BEB4-BD91CBF055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D1687-5D3A-B547-974B-AD28DF7757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18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72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EBD51B-ACAB-7042-8D52-94BF5946AC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C1DF3-8571-FF45-AF26-608241B756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600" b="1" cap="all">
                <a:solidFill>
                  <a:srgbClr val="00558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4513F3E-18D7-354A-BA3C-C51343F3F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94096B7-B609-AC41-9C13-3955C73145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599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4D562D98-0CF7-F04F-BAA4-FC79A4700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4FB7BF6-55C6-A644-972F-BF0E1C319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6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44688"/>
            <a:ext cx="4040188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6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44688"/>
            <a:ext cx="4041775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1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50DDF2E-CCB6-0547-A5BF-367109A385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A99C66E-2C0B-5D47-8CAE-FE9A7CE88E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341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0FCB922-04CA-B649-8B8C-F47E33B9D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E25ABF1-BE5E-B742-8B15-EAFE315704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3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EB7A28A-68F2-0348-9FB9-A55D57980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77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BBDB4B-434E-5841-8C55-1F2B080437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7963" y="4133850"/>
            <a:ext cx="8890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60430D-3485-7F49-8822-7405437E5C53}"/>
              </a:ext>
            </a:extLst>
          </p:cNvPr>
          <p:cNvCxnSpPr/>
          <p:nvPr userDrawn="1"/>
        </p:nvCxnSpPr>
        <p:spPr>
          <a:xfrm>
            <a:off x="0" y="309563"/>
            <a:ext cx="9144000" cy="0"/>
          </a:xfrm>
          <a:prstGeom prst="line">
            <a:avLst/>
          </a:prstGeom>
          <a:ln w="38100" cmpd="sng">
            <a:solidFill>
              <a:srgbClr val="E899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34FF0BE-0153-884F-8F35-C766CB9B5152}"/>
              </a:ext>
            </a:extLst>
          </p:cNvPr>
          <p:cNvSpPr/>
          <p:nvPr/>
        </p:nvSpPr>
        <p:spPr>
          <a:xfrm>
            <a:off x="7600950" y="298450"/>
            <a:ext cx="1543050" cy="517525"/>
          </a:xfrm>
          <a:prstGeom prst="rect">
            <a:avLst/>
          </a:prstGeom>
          <a:solidFill>
            <a:srgbClr val="E89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C831686F-FC2A-024E-A406-E0A7481F7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7950" y="403225"/>
            <a:ext cx="97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2"/>
          <p:cNvSpPr>
            <a:spLocks noGrp="1"/>
          </p:cNvSpPr>
          <p:nvPr>
            <p:ph type="title"/>
          </p:nvPr>
        </p:nvSpPr>
        <p:spPr>
          <a:xfrm>
            <a:off x="407722" y="1983028"/>
            <a:ext cx="8328557" cy="1173525"/>
          </a:xfrm>
        </p:spPr>
        <p:txBody>
          <a:bodyPr/>
          <a:lstStyle>
            <a:lvl1pPr algn="ctr">
              <a:defRPr sz="3600" b="1" spc="3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4"/>
          <p:cNvSpPr>
            <a:spLocks noGrp="1"/>
          </p:cNvSpPr>
          <p:nvPr>
            <p:ph sz="quarter" idx="10"/>
          </p:nvPr>
        </p:nvSpPr>
        <p:spPr>
          <a:xfrm>
            <a:off x="427397" y="3631634"/>
            <a:ext cx="7174159" cy="1215084"/>
          </a:xfrm>
        </p:spPr>
        <p:txBody>
          <a:bodyPr anchor="b"/>
          <a:lstStyle>
            <a:lvl1pPr marL="0" indent="0" algn="l">
              <a:buNone/>
              <a:defRPr sz="2100" baseline="0">
                <a:solidFill>
                  <a:schemeClr val="bg1"/>
                </a:solidFill>
              </a:defRPr>
            </a:lvl1pPr>
            <a:lvl2pPr marL="457178" indent="0">
              <a:buNone/>
              <a:defRPr>
                <a:solidFill>
                  <a:schemeClr val="bg1"/>
                </a:solidFill>
              </a:defRPr>
            </a:lvl2pPr>
            <a:lvl3pPr marL="914355" indent="0">
              <a:buNone/>
              <a:defRPr>
                <a:solidFill>
                  <a:schemeClr val="bg1"/>
                </a:solidFill>
              </a:defRPr>
            </a:lvl3pPr>
            <a:lvl4pPr marL="1371532" indent="0">
              <a:buNone/>
              <a:defRPr>
                <a:solidFill>
                  <a:schemeClr val="bg1"/>
                </a:solidFill>
              </a:defRPr>
            </a:lvl4pPr>
            <a:lvl5pPr marL="182870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487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64C2E-09BB-46F7-5867-8E7B92107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6C45C-65D5-FBDA-7436-7FA1B6574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729D4-E966-9605-B068-543363DEA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4179-8322-5A4C-BDAB-03B6B32178C9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2599B-1404-FFAB-2807-05F81A83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A2EF4-12AC-1772-01D5-BE0C8F90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1F353-9A15-AF4B-A6D3-952F1048D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16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22E64FD-81FF-D943-AFF5-681142E5B9D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387350"/>
            <a:ext cx="8229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E861207-7373-4344-BED4-311B44BEAA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  <p:sldLayoutId id="2147483931" r:id="rId12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2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isticsbyjim.com/regression/ols-linear-regression-assumptions/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if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EC6116-052C-DE72-F292-C6BFE10E5ABB}"/>
              </a:ext>
            </a:extLst>
          </p:cNvPr>
          <p:cNvSpPr txBox="1"/>
          <p:nvPr/>
        </p:nvSpPr>
        <p:spPr>
          <a:xfrm>
            <a:off x="757131" y="2686374"/>
            <a:ext cx="76297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A3622"/>
                </a:solidFill>
                <a:latin typeface="system-ui"/>
              </a:rPr>
              <a:t>Enter code</a:t>
            </a:r>
          </a:p>
          <a:p>
            <a:pPr algn="ctr"/>
            <a:r>
              <a:rPr lang="en-US" sz="3000" dirty="0">
                <a:solidFill>
                  <a:srgbClr val="0A3622"/>
                </a:solidFill>
                <a:latin typeface="system-ui"/>
              </a:rPr>
              <a:t>d147bbc6-c9db-46c2-b704-a4373e55690b </a:t>
            </a:r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BD54B-98A5-C80C-DD8A-8F19F930DC11}"/>
              </a:ext>
            </a:extLst>
          </p:cNvPr>
          <p:cNvSpPr txBox="1"/>
          <p:nvPr/>
        </p:nvSpPr>
        <p:spPr>
          <a:xfrm>
            <a:off x="253021" y="997206"/>
            <a:ext cx="88200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/>
              <a:t>Go to:</a:t>
            </a:r>
          </a:p>
          <a:p>
            <a:pPr algn="ctr"/>
            <a:r>
              <a:rPr lang="en-US" sz="3000" dirty="0"/>
              <a:t>fastapi-app-690891431278.us-central1.run.app/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2C902-E43A-9C39-8443-0F49EF627474}"/>
              </a:ext>
            </a:extLst>
          </p:cNvPr>
          <p:cNvSpPr txBox="1"/>
          <p:nvPr/>
        </p:nvSpPr>
        <p:spPr>
          <a:xfrm>
            <a:off x="244365" y="4712303"/>
            <a:ext cx="8655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https://fastapi-app-690891431278.us-central1.run.app/student/quiz/d147bbc6-c9db-46c2-b704-a4373e55690b</a:t>
            </a:r>
          </a:p>
        </p:txBody>
      </p:sp>
    </p:spTree>
    <p:extLst>
      <p:ext uri="{BB962C8B-B14F-4D97-AF65-F5344CB8AC3E}">
        <p14:creationId xmlns:p14="http://schemas.microsoft.com/office/powerpoint/2010/main" val="355784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Linear Regression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04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CFB0-7949-B346-82AF-6C0C42FA2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are linear models?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B04A8-108C-6049-83E8-2AAC6FDCC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49" y="1232444"/>
            <a:ext cx="7394551" cy="3103885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5CE997-520B-5D4F-8DDB-2AF58975CDA6}"/>
              </a:ext>
            </a:extLst>
          </p:cNvPr>
          <p:cNvSpPr/>
          <p:nvPr/>
        </p:nvSpPr>
        <p:spPr>
          <a:xfrm>
            <a:off x="5288437" y="1336139"/>
            <a:ext cx="3398363" cy="17816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 models are </a:t>
            </a:r>
            <a:r>
              <a:rPr lang="en-US" b="1" dirty="0"/>
              <a:t>linear in the parameters </a:t>
            </a:r>
            <a:r>
              <a:rPr lang="en-US" b="1" i="1" dirty="0"/>
              <a:t>w</a:t>
            </a:r>
            <a:r>
              <a:rPr lang="en-US" dirty="0"/>
              <a:t>. They can be used to model non-linear relationships between inputs &amp; outputs</a:t>
            </a:r>
          </a:p>
        </p:txBody>
      </p:sp>
    </p:spTree>
    <p:extLst>
      <p:ext uri="{BB962C8B-B14F-4D97-AF65-F5344CB8AC3E}">
        <p14:creationId xmlns:p14="http://schemas.microsoft.com/office/powerpoint/2010/main" val="299188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941F-D762-B349-8BFB-D55885D8B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3BFC-E160-9746-9EFE-5A4516763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0396"/>
            <a:ext cx="5315447" cy="1371599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What is linear regression?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Model which assumes linear relationships between the features and targets</a:t>
            </a:r>
          </a:p>
          <a:p>
            <a:pPr lvl="1">
              <a:spcAft>
                <a:spcPts val="400"/>
              </a:spcAft>
            </a:pPr>
            <a:endParaRPr lang="en-US" sz="600" dirty="0"/>
          </a:p>
          <a:p>
            <a:pPr>
              <a:spcAft>
                <a:spcPts val="400"/>
              </a:spcAft>
            </a:pPr>
            <a:r>
              <a:rPr lang="en-US" sz="1800" dirty="0"/>
              <a:t>Why should we care about linear regression?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Forms the basis of more complex ML models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Can be surprisingly effective if you know how to use it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Great first model to apply to get a benchmark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Helps us understand relationships between inputs and outputs (feature and targets)</a:t>
            </a:r>
            <a:endParaRPr lang="en-US" sz="140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29CCD447-7D03-174C-8C11-FFD74AB4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665" y="1063625"/>
            <a:ext cx="2836660" cy="219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5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C4A0-5941-D04B-A600-2D40FA811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Simple vs. multiple linear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56F86-CB7F-D540-B7C1-98AF063B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081873"/>
          </a:xfrm>
        </p:spPr>
        <p:txBody>
          <a:bodyPr/>
          <a:lstStyle/>
          <a:p>
            <a:r>
              <a:rPr lang="en-US" sz="1800" dirty="0"/>
              <a:t>Simple linear regression models y as a function of a single feature x</a:t>
            </a:r>
          </a:p>
          <a:p>
            <a:r>
              <a:rPr lang="en-US" sz="1800" dirty="0"/>
              <a:t>Multiple linear regression models y as a function of a feature vector x containing multiple features 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…</a:t>
            </a:r>
            <a:r>
              <a:rPr lang="en-US" sz="1800" dirty="0" err="1"/>
              <a:t>x</a:t>
            </a:r>
            <a:r>
              <a:rPr lang="en-US" sz="1800" baseline="-25000" dirty="0" err="1"/>
              <a:t>n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26FCECA0-4DF2-DC4C-BD64-6642009A42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5935" y="2367458"/>
                <a:ext cx="3721940" cy="69852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000" dirty="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Multiple linear regression</a:t>
                </a:r>
                <a:b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26FCECA0-4DF2-DC4C-BD64-6642009A4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5935" y="2367458"/>
                <a:ext cx="3721940" cy="698525"/>
              </a:xfrm>
              <a:prstGeom prst="rect">
                <a:avLst/>
              </a:prstGeom>
              <a:blipFill>
                <a:blip r:embed="rId2"/>
                <a:stretch>
                  <a:fillRect t="-5357" b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6AA6114-2915-3F4D-ACB0-98C4821CB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0" t="27757" r="25964" b="36060"/>
          <a:stretch>
            <a:fillRect/>
          </a:stretch>
        </p:blipFill>
        <p:spPr bwMode="auto">
          <a:xfrm>
            <a:off x="6122503" y="3181772"/>
            <a:ext cx="1283860" cy="143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3">
                <a:extLst>
                  <a:ext uri="{FF2B5EF4-FFF2-40B4-BE49-F238E27FC236}">
                    <a16:creationId xmlns:a16="http://schemas.microsoft.com/office/drawing/2014/main" id="{07340BEC-F531-1447-AA08-F00D7897BF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301" y="2388875"/>
                <a:ext cx="3310227" cy="6771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2000" dirty="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Simple linear regression</a:t>
                </a:r>
                <a:br>
                  <a:rPr lang="en-US" altLang="en-US" dirty="0">
                    <a:latin typeface="Times New Roman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en-US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6" name="Text Box 3">
                <a:extLst>
                  <a:ext uri="{FF2B5EF4-FFF2-40B4-BE49-F238E27FC236}">
                    <a16:creationId xmlns:a16="http://schemas.microsoft.com/office/drawing/2014/main" id="{07340BEC-F531-1447-AA08-F00D7897B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301" y="2388875"/>
                <a:ext cx="3310227" cy="677108"/>
              </a:xfrm>
              <a:prstGeom prst="rect">
                <a:avLst/>
              </a:prstGeom>
              <a:blipFill>
                <a:blip r:embed="rId4"/>
                <a:stretch>
                  <a:fillRect t="-5556" b="-37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C344535-996E-544D-9100-D23FAAAD3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156" y="3161397"/>
            <a:ext cx="1711244" cy="1556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E4E82A-9276-C542-AC26-C448CA828F93}"/>
              </a:ext>
            </a:extLst>
          </p:cNvPr>
          <p:cNvSpPr/>
          <p:nvPr/>
        </p:nvSpPr>
        <p:spPr>
          <a:xfrm>
            <a:off x="128455" y="4901072"/>
            <a:ext cx="204895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00" i="1" dirty="0"/>
              <a:t>Image source: https://</a:t>
            </a:r>
            <a:r>
              <a:rPr lang="en-US" sz="700" i="1" dirty="0" err="1"/>
              <a:t>www.alsharif.info</a:t>
            </a:r>
            <a:r>
              <a:rPr lang="en-US" sz="700" i="1" dirty="0"/>
              <a:t>/iom530</a:t>
            </a:r>
          </a:p>
        </p:txBody>
      </p:sp>
    </p:spTree>
    <p:extLst>
      <p:ext uri="{BB962C8B-B14F-4D97-AF65-F5344CB8AC3E}">
        <p14:creationId xmlns:p14="http://schemas.microsoft.com/office/powerpoint/2010/main" val="424689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2DDD-7DFC-6748-8D23-787904E3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3C245-935B-C841-8ABD-FCE2C9562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76867"/>
            <a:ext cx="5084859" cy="220463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The parameters are easy to interpret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w</a:t>
            </a:r>
            <a:r>
              <a:rPr lang="en-US" sz="1600" baseline="-25000" dirty="0"/>
              <a:t>0</a:t>
            </a:r>
            <a:r>
              <a:rPr lang="en-US" sz="1600" dirty="0"/>
              <a:t> is the intercept (the average value for y if all the x’s are 0)</a:t>
            </a:r>
          </a:p>
          <a:p>
            <a:pPr lvl="1">
              <a:spcAft>
                <a:spcPts val="600"/>
              </a:spcAft>
            </a:pPr>
            <a:r>
              <a:rPr lang="en-US" sz="1600" dirty="0" err="1"/>
              <a:t>w</a:t>
            </a:r>
            <a:r>
              <a:rPr lang="en-US" sz="1600" baseline="-25000" dirty="0" err="1"/>
              <a:t>i</a:t>
            </a:r>
            <a:r>
              <a:rPr lang="en-US" sz="1600" dirty="0"/>
              <a:t> is the average increase in y when x</a:t>
            </a:r>
            <a:r>
              <a:rPr lang="en-US" sz="1600" baseline="-25000" dirty="0"/>
              <a:t>i</a:t>
            </a:r>
            <a:r>
              <a:rPr lang="en-US" sz="1600" dirty="0"/>
              <a:t> is increased by 1 and </a:t>
            </a:r>
            <a:r>
              <a:rPr lang="en-US" sz="1600" b="1" dirty="0"/>
              <a:t>all other x’s are held constant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">
                <a:extLst>
                  <a:ext uri="{FF2B5EF4-FFF2-40B4-BE49-F238E27FC236}">
                    <a16:creationId xmlns:a16="http://schemas.microsoft.com/office/drawing/2014/main" id="{ED68DE5F-E10A-B24C-ABB8-B63E25D83B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078" y="1473451"/>
                <a:ext cx="3336952" cy="35753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en-US" sz="16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16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1600" i="1" dirty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altLang="en-US" sz="1600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5" name="Text Box 3">
                <a:extLst>
                  <a:ext uri="{FF2B5EF4-FFF2-40B4-BE49-F238E27FC236}">
                    <a16:creationId xmlns:a16="http://schemas.microsoft.com/office/drawing/2014/main" id="{ED68DE5F-E10A-B24C-ABB8-B63E25D83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078" y="1473451"/>
                <a:ext cx="3336952" cy="3575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">
                <a:extLst>
                  <a:ext uri="{FF2B5EF4-FFF2-40B4-BE49-F238E27FC236}">
                    <a16:creationId xmlns:a16="http://schemas.microsoft.com/office/drawing/2014/main" id="{54130ADF-0846-2D4C-9417-753C4C020E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9668" y="1196806"/>
                <a:ext cx="1441836" cy="6806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sz="1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sz="1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en-US" sz="14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altLang="en-US" sz="1400" i="1" dirty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𝑤</m:t>
                          </m:r>
                          <m:r>
                            <m:rPr>
                              <m:nor/>
                            </m:rPr>
                            <a:rPr lang="en-US" altLang="en-US" sz="1400" baseline="-25000" dirty="0"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en-US" sz="1400" dirty="0"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en-US" sz="1400" baseline="-25000" dirty="0"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i</m:t>
                          </m:r>
                        </m:e>
                      </m:nary>
                    </m:oMath>
                  </m:oMathPara>
                </a14:m>
                <a:endParaRPr lang="en-US" altLang="en-US" sz="1400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7" name="Text Box 3">
                <a:extLst>
                  <a:ext uri="{FF2B5EF4-FFF2-40B4-BE49-F238E27FC236}">
                    <a16:creationId xmlns:a16="http://schemas.microsoft.com/office/drawing/2014/main" id="{54130ADF-0846-2D4C-9417-753C4C020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9668" y="1196806"/>
                <a:ext cx="1441836" cy="680699"/>
              </a:xfrm>
              <a:prstGeom prst="rect">
                <a:avLst/>
              </a:prstGeom>
              <a:blipFill>
                <a:blip r:embed="rId3"/>
                <a:stretch>
                  <a:fillRect l="-6140" t="-98148" b="-1537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>
                <a:extLst>
                  <a:ext uri="{FF2B5EF4-FFF2-40B4-BE49-F238E27FC236}">
                    <a16:creationId xmlns:a16="http://schemas.microsoft.com/office/drawing/2014/main" id="{510784A0-30F0-CE40-A588-144DE2AB7D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06479" y="1454660"/>
                <a:ext cx="1081378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en-US" sz="18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en-US" sz="1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en-US" i="1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8" name="Text Box 3">
                <a:extLst>
                  <a:ext uri="{FF2B5EF4-FFF2-40B4-BE49-F238E27FC236}">
                    <a16:creationId xmlns:a16="http://schemas.microsoft.com/office/drawing/2014/main" id="{510784A0-30F0-CE40-A588-144DE2AB7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06479" y="1454660"/>
                <a:ext cx="1081378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FDA3626D-93E6-A34A-BA6E-0AA4B0845977}"/>
              </a:ext>
            </a:extLst>
          </p:cNvPr>
          <p:cNvSpPr/>
          <p:nvPr/>
        </p:nvSpPr>
        <p:spPr>
          <a:xfrm>
            <a:off x="3912096" y="1487883"/>
            <a:ext cx="588397" cy="285268"/>
          </a:xfrm>
          <a:prstGeom prst="leftRightArrow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9FCD0090-6EE5-0B4F-B36E-FE06D4B0E186}"/>
              </a:ext>
            </a:extLst>
          </p:cNvPr>
          <p:cNvSpPr/>
          <p:nvPr/>
        </p:nvSpPr>
        <p:spPr>
          <a:xfrm>
            <a:off x="6221950" y="1496691"/>
            <a:ext cx="588397" cy="285268"/>
          </a:xfrm>
          <a:prstGeom prst="leftRightArrow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F8D2B0-CF2D-774E-80FE-E5B3B57866CD}"/>
                  </a:ext>
                </a:extLst>
              </p:cNvPr>
              <p:cNvSpPr txBox="1"/>
              <p:nvPr/>
            </p:nvSpPr>
            <p:spPr>
              <a:xfrm>
                <a:off x="5050457" y="1807801"/>
                <a:ext cx="10098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where x</a:t>
                </a:r>
                <a:r>
                  <a:rPr lang="en-US" sz="1200" baseline="-25000" dirty="0"/>
                  <a:t>0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≜</m:t>
                    </m:r>
                  </m:oMath>
                </a14:m>
                <a:r>
                  <a:rPr lang="en-US" sz="1200" dirty="0"/>
                  <a:t>1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F8D2B0-CF2D-774E-80FE-E5B3B5786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457" y="1807801"/>
                <a:ext cx="1009817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8E1657C7-E7F4-034F-B336-21A390214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0" t="27757" r="25964" b="36060"/>
          <a:stretch>
            <a:fillRect/>
          </a:stretch>
        </p:blipFill>
        <p:spPr bwMode="auto">
          <a:xfrm>
            <a:off x="5851670" y="2176867"/>
            <a:ext cx="2126505" cy="2369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3AE2E4-5D2D-738C-F6D1-12EF35AA4433}"/>
              </a:ext>
            </a:extLst>
          </p:cNvPr>
          <p:cNvSpPr txBox="1"/>
          <p:nvPr/>
        </p:nvSpPr>
        <p:spPr>
          <a:xfrm>
            <a:off x="457200" y="1063625"/>
            <a:ext cx="3256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an observation (</a:t>
            </a:r>
            <a:r>
              <a:rPr lang="en-US" sz="1400" dirty="0" err="1"/>
              <a:t>x,y</a:t>
            </a:r>
            <a:r>
              <a:rPr lang="en-US" sz="1400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46758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9714-FFBF-9F41-ADFA-67D864B7C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1D1A3-C6CB-BF4A-896A-BE73D74701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200151"/>
                <a:ext cx="4609792" cy="3181350"/>
              </a:xfrm>
            </p:spPr>
            <p:txBody>
              <a:bodyPr/>
              <a:lstStyle/>
              <a:p>
                <a:pPr>
                  <a:spcAft>
                    <a:spcPts val="400"/>
                  </a:spcAft>
                </a:pPr>
                <a:r>
                  <a:rPr lang="en-US" sz="1600" dirty="0"/>
                  <a:t>We seek a function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600" i="1" dirty="0"/>
                  <a:t>=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𝑤</m:t>
                    </m:r>
                  </m:oMath>
                </a14:m>
                <a:r>
                  <a:rPr lang="en-US" altLang="en-US" sz="1600" i="1" baseline="-25000" dirty="0">
                    <a:latin typeface="KishoreFont Medium" charset="0"/>
                    <a:ea typeface="KishoreFont Medium" charset="0"/>
                    <a:cs typeface="KishoreFont Medium" charset="0"/>
                  </a:rPr>
                  <a:t>0</a:t>
                </a:r>
                <a:r>
                  <a:rPr lang="en-US" altLang="en-US" sz="1600" i="1" dirty="0">
                    <a:latin typeface="KishoreFont Medium" charset="0"/>
                    <a:ea typeface="KishoreFont Medium" charset="0"/>
                    <a:cs typeface="KishoreFont Medium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𝑤</m:t>
                    </m:r>
                  </m:oMath>
                </a14:m>
                <a:r>
                  <a:rPr lang="en-US" altLang="en-US" sz="1600" i="1" baseline="-25000" dirty="0">
                    <a:latin typeface="KishoreFont Medium" charset="0"/>
                    <a:ea typeface="KishoreFont Medium" charset="0"/>
                    <a:cs typeface="KishoreFont Medium" charset="0"/>
                  </a:rPr>
                  <a:t>1</a:t>
                </a:r>
                <a:r>
                  <a:rPr lang="en-US" altLang="en-US" sz="1600" i="1" dirty="0">
                    <a:latin typeface="KishoreFont Medium" charset="0"/>
                    <a:ea typeface="KishoreFont Medium" charset="0"/>
                    <a:cs typeface="KishoreFont Medium" charset="0"/>
                  </a:rPr>
                  <a:t>x</a:t>
                </a:r>
                <a:r>
                  <a:rPr lang="en-US" altLang="en-US" sz="1600" i="1" baseline="-25000" dirty="0">
                    <a:latin typeface="KishoreFont Medium" charset="0"/>
                    <a:ea typeface="KishoreFont Medium" charset="0"/>
                    <a:cs typeface="KishoreFont Medium" charset="0"/>
                  </a:rPr>
                  <a:t>1</a:t>
                </a:r>
                <a:r>
                  <a:rPr lang="en-US" altLang="en-US" sz="1600" i="1" dirty="0">
                    <a:latin typeface="KishoreFont Medium" charset="0"/>
                    <a:ea typeface="KishoreFont Medium" charset="0"/>
                    <a:cs typeface="KishoreFont Medium" charset="0"/>
                  </a:rPr>
                  <a:t> …+</a:t>
                </a:r>
                <a:r>
                  <a:rPr lang="en-US" altLang="en-US" sz="1600" i="1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𝑤</m:t>
                    </m:r>
                  </m:oMath>
                </a14:m>
                <a:r>
                  <a:rPr lang="en-US" altLang="en-US" sz="1600" i="1" baseline="-25000" dirty="0">
                    <a:latin typeface="KishoreFont Medium" charset="0"/>
                    <a:ea typeface="KishoreFont Medium" charset="0"/>
                    <a:cs typeface="KishoreFont Medium" charset="0"/>
                  </a:rPr>
                  <a:t>p</a:t>
                </a:r>
                <a:r>
                  <a:rPr lang="en-US" altLang="en-US" sz="1600" i="1" dirty="0">
                    <a:latin typeface="KishoreFont Medium" charset="0"/>
                    <a:ea typeface="KishoreFont Medium" charset="0"/>
                    <a:cs typeface="KishoreFont Medium" charset="0"/>
                  </a:rPr>
                  <a:t>x</a:t>
                </a:r>
                <a:r>
                  <a:rPr lang="en-US" altLang="en-US" sz="1600" i="1" baseline="-25000" dirty="0">
                    <a:latin typeface="KishoreFont Medium" charset="0"/>
                    <a:ea typeface="KishoreFont Medium" charset="0"/>
                    <a:cs typeface="KishoreFont Medium" charset="0"/>
                  </a:rPr>
                  <a:t>p </a:t>
                </a:r>
                <a:r>
                  <a:rPr lang="en-US" sz="1600" dirty="0"/>
                  <a:t>that minimizes the total error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600" dirty="0"/>
              </a:p>
              <a:p>
                <a:pPr>
                  <a:spcAft>
                    <a:spcPts val="400"/>
                  </a:spcAft>
                </a:pPr>
                <a:r>
                  <a:rPr lang="en-US" sz="1600" dirty="0"/>
                  <a:t>Alternatively, we seek to minimize the </a:t>
                </a:r>
                <a:r>
                  <a:rPr lang="en-US" sz="1600" i="1" dirty="0"/>
                  <a:t>Sum of Squared Error (SSE)</a:t>
                </a:r>
                <a:r>
                  <a:rPr lang="en-US" sz="1600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1600" dirty="0"/>
              </a:p>
              <a:p>
                <a:pPr>
                  <a:spcAft>
                    <a:spcPts val="400"/>
                  </a:spcAft>
                </a:pPr>
                <a:r>
                  <a:rPr lang="en-US" sz="1600" dirty="0"/>
                  <a:t>This error function we seek to minimize is called the </a:t>
                </a:r>
                <a:r>
                  <a:rPr lang="en-US" sz="1600" b="1" i="1" dirty="0"/>
                  <a:t>cost function </a:t>
                </a:r>
                <a:r>
                  <a:rPr lang="en-US" sz="1600" dirty="0"/>
                  <a:t>or </a:t>
                </a:r>
                <a:r>
                  <a:rPr lang="en-US" sz="1600" b="1" i="1" dirty="0"/>
                  <a:t>loss function</a:t>
                </a:r>
              </a:p>
              <a:p>
                <a:pPr>
                  <a:spcAft>
                    <a:spcPts val="400"/>
                  </a:spcAft>
                </a:pPr>
                <a:endParaRPr lang="en-US" sz="1600" b="1" i="1" dirty="0"/>
              </a:p>
              <a:p>
                <a:pPr>
                  <a:spcAft>
                    <a:spcPts val="400"/>
                  </a:spcAft>
                </a:pPr>
                <a:endParaRPr lang="en-US" sz="1600" b="1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1D1A3-C6CB-BF4A-896A-BE73D74701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200151"/>
                <a:ext cx="4609792" cy="3181350"/>
              </a:xfrm>
              <a:blipFill>
                <a:blip r:embed="rId2"/>
                <a:stretch>
                  <a:fillRect l="-551" t="-3571" r="-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675EAF8D-374F-204D-8E8A-850B8B231946}"/>
              </a:ext>
            </a:extLst>
          </p:cNvPr>
          <p:cNvGrpSpPr/>
          <p:nvPr/>
        </p:nvGrpSpPr>
        <p:grpSpPr>
          <a:xfrm>
            <a:off x="5287617" y="1235213"/>
            <a:ext cx="3763977" cy="2615715"/>
            <a:chOff x="5152445" y="1479524"/>
            <a:chExt cx="3904802" cy="290197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510E8AC-37B5-684F-90C8-191AA559A84D}"/>
                </a:ext>
              </a:extLst>
            </p:cNvPr>
            <p:cNvCxnSpPr>
              <a:cxnSpLocks/>
            </p:cNvCxnSpPr>
            <p:nvPr/>
          </p:nvCxnSpPr>
          <p:spPr>
            <a:xfrm>
              <a:off x="5494351" y="1650502"/>
              <a:ext cx="0" cy="2361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3FD446E-EDAD-6744-848E-73122CBDF286}"/>
                </a:ext>
              </a:extLst>
            </p:cNvPr>
            <p:cNvCxnSpPr/>
            <p:nvPr/>
          </p:nvCxnSpPr>
          <p:spPr>
            <a:xfrm>
              <a:off x="5494351" y="4024502"/>
              <a:ext cx="31089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6268CB-007F-2549-ABDD-8232DD6B8838}"/>
                </a:ext>
              </a:extLst>
            </p:cNvPr>
            <p:cNvSpPr txBox="1"/>
            <p:nvPr/>
          </p:nvSpPr>
          <p:spPr>
            <a:xfrm>
              <a:off x="8432358" y="4012169"/>
              <a:ext cx="34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269A7F-C820-0B47-8595-9FE6236B4DDD}"/>
                </a:ext>
              </a:extLst>
            </p:cNvPr>
            <p:cNvSpPr txBox="1"/>
            <p:nvPr/>
          </p:nvSpPr>
          <p:spPr>
            <a:xfrm>
              <a:off x="5152445" y="1479524"/>
              <a:ext cx="34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6674E7-44D4-714C-A1CB-E673A8128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4351" y="1953746"/>
              <a:ext cx="3184453" cy="155863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8F32189-49C7-714A-A6CE-069256CC77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6117" y="2208367"/>
              <a:ext cx="159026" cy="165192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653CE43-4063-A34C-B2C9-467AE5B88F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0605" y="3022416"/>
              <a:ext cx="159026" cy="165192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F536727-15D3-0F48-A55C-09C041028E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429" y="2889094"/>
              <a:ext cx="159026" cy="165192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D707164-5318-D140-AB12-66206BFF6F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42530" y="2062160"/>
              <a:ext cx="159026" cy="165192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6524DFC-27F6-5F44-A31C-67A8CADE81C5}"/>
                </a:ext>
              </a:extLst>
            </p:cNvPr>
            <p:cNvCxnSpPr>
              <a:cxnSpLocks/>
              <a:stCxn id="14" idx="4"/>
            </p:cNvCxnSpPr>
            <p:nvPr/>
          </p:nvCxnSpPr>
          <p:spPr>
            <a:xfrm>
              <a:off x="5750118" y="3187608"/>
              <a:ext cx="0" cy="162663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34E9B8C-731F-7546-8A12-676DAB1C7D1A}"/>
                </a:ext>
              </a:extLst>
            </p:cNvPr>
            <p:cNvCxnSpPr>
              <a:cxnSpLocks/>
            </p:cNvCxnSpPr>
            <p:nvPr/>
          </p:nvCxnSpPr>
          <p:spPr>
            <a:xfrm>
              <a:off x="6136419" y="3187608"/>
              <a:ext cx="0" cy="1524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854833B-C2D0-9E4B-B98C-26F58DAA5B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56906" y="3267675"/>
              <a:ext cx="159026" cy="165192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8C4B9D3-346A-E04F-BD75-4B50FFC68082}"/>
                </a:ext>
              </a:extLst>
            </p:cNvPr>
            <p:cNvCxnSpPr>
              <a:cxnSpLocks/>
            </p:cNvCxnSpPr>
            <p:nvPr/>
          </p:nvCxnSpPr>
          <p:spPr>
            <a:xfrm>
              <a:off x="6265630" y="2373559"/>
              <a:ext cx="0" cy="72527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A3B457F-A5F0-D842-94C5-0B3A9DE5792C}"/>
                </a:ext>
              </a:extLst>
            </p:cNvPr>
            <p:cNvCxnSpPr>
              <a:cxnSpLocks/>
            </p:cNvCxnSpPr>
            <p:nvPr/>
          </p:nvCxnSpPr>
          <p:spPr>
            <a:xfrm>
              <a:off x="6832159" y="2717091"/>
              <a:ext cx="0" cy="162663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3A8A50C-B7A9-F64C-A2F6-9C3D2F5AEB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52646" y="2655424"/>
              <a:ext cx="159026" cy="165192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D7A61E5-B4C4-B049-995E-3A318E56FB1A}"/>
                </a:ext>
              </a:extLst>
            </p:cNvPr>
            <p:cNvCxnSpPr>
              <a:cxnSpLocks/>
            </p:cNvCxnSpPr>
            <p:nvPr/>
          </p:nvCxnSpPr>
          <p:spPr>
            <a:xfrm>
              <a:off x="7398690" y="2590028"/>
              <a:ext cx="0" cy="308829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94339D1-AE1A-8F42-8CFE-B352CD87C05F}"/>
                </a:ext>
              </a:extLst>
            </p:cNvPr>
            <p:cNvCxnSpPr>
              <a:cxnSpLocks/>
            </p:cNvCxnSpPr>
            <p:nvPr/>
          </p:nvCxnSpPr>
          <p:spPr>
            <a:xfrm>
              <a:off x="7722043" y="2241403"/>
              <a:ext cx="0" cy="162663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7AC9628-BB8D-8440-88D5-4F9EF5144B89}"/>
                </a:ext>
              </a:extLst>
            </p:cNvPr>
            <p:cNvCxnSpPr>
              <a:cxnSpLocks/>
            </p:cNvCxnSpPr>
            <p:nvPr/>
          </p:nvCxnSpPr>
          <p:spPr>
            <a:xfrm>
              <a:off x="8331642" y="2122161"/>
              <a:ext cx="0" cy="162663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0DD02A1-A2F3-B647-BF17-FC48FA963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1528" y="2238874"/>
              <a:ext cx="159026" cy="165192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ular Callout 31">
                  <a:extLst>
                    <a:ext uri="{FF2B5EF4-FFF2-40B4-BE49-F238E27FC236}">
                      <a16:creationId xmlns:a16="http://schemas.microsoft.com/office/drawing/2014/main" id="{BE53DF72-584B-714E-8B6F-82B77A2D8DE5}"/>
                    </a:ext>
                  </a:extLst>
                </p:cNvPr>
                <p:cNvSpPr/>
                <p:nvPr/>
              </p:nvSpPr>
              <p:spPr>
                <a:xfrm>
                  <a:off x="6345144" y="3405808"/>
                  <a:ext cx="1545900" cy="321200"/>
                </a:xfrm>
                <a:prstGeom prst="wedgeRectCallout">
                  <a:avLst>
                    <a:gd name="adj1" fmla="val -52952"/>
                    <a:gd name="adj2" fmla="val -244453"/>
                  </a:avLst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bg1"/>
                      </a:solidFill>
                    </a:rPr>
                    <a:t>Error</a:t>
                  </a:r>
                  <a14:m>
                    <m:oMath xmlns:m="http://schemas.openxmlformats.org/officeDocument/2006/math">
                      <m:r>
                        <a:rPr 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200" dirty="0">
                      <a:solidFill>
                        <a:schemeClr val="bg1"/>
                      </a:solidFill>
                    </a:rPr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" name="Rectangular Callout 31">
                  <a:extLst>
                    <a:ext uri="{FF2B5EF4-FFF2-40B4-BE49-F238E27FC236}">
                      <a16:creationId xmlns:a16="http://schemas.microsoft.com/office/drawing/2014/main" id="{BE53DF72-584B-714E-8B6F-82B77A2D8D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5144" y="3405808"/>
                  <a:ext cx="1545900" cy="321200"/>
                </a:xfrm>
                <a:prstGeom prst="wedgeRectCallout">
                  <a:avLst>
                    <a:gd name="adj1" fmla="val -52952"/>
                    <a:gd name="adj2" fmla="val -244453"/>
                  </a:avLst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1640529-4483-9E4E-A5AD-EA0A75221B0D}"/>
                    </a:ext>
                  </a:extLst>
                </p:cNvPr>
                <p:cNvSpPr/>
                <p:nvPr/>
              </p:nvSpPr>
              <p:spPr>
                <a:xfrm>
                  <a:off x="6911673" y="1559512"/>
                  <a:ext cx="2145574" cy="3549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n-US" sz="1400" dirty="0"/>
                    <a:t>=</a:t>
                  </a:r>
                  <a:r>
                    <a:rPr lang="en-US" altLang="en-US" sz="1400" dirty="0">
                      <a:ea typeface="Cambria Math" charset="0"/>
                      <a:cs typeface="Cambria Math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en-US" sz="1400" i="1" dirty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𝑤</m:t>
                      </m:r>
                    </m:oMath>
                  </a14:m>
                  <a:r>
                    <a:rPr lang="en-US" altLang="en-US" sz="1400" i="1" baseline="-25000" dirty="0">
                      <a:latin typeface="KishoreFont Medium" charset="0"/>
                      <a:ea typeface="KishoreFont Medium" charset="0"/>
                      <a:cs typeface="KishoreFont Medium" charset="0"/>
                    </a:rPr>
                    <a:t>0</a:t>
                  </a:r>
                  <a:r>
                    <a:rPr lang="en-US" altLang="en-US" sz="1400" i="1" dirty="0">
                      <a:latin typeface="KishoreFont Medium" charset="0"/>
                      <a:ea typeface="KishoreFont Medium" charset="0"/>
                      <a:cs typeface="KishoreFont Medium" charset="0"/>
                    </a:rPr>
                    <a:t> + </a:t>
                  </a:r>
                  <a14:m>
                    <m:oMath xmlns:m="http://schemas.openxmlformats.org/officeDocument/2006/math">
                      <m:r>
                        <a:rPr lang="en-US" altLang="en-US" sz="1400" i="1" dirty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𝑤</m:t>
                      </m:r>
                    </m:oMath>
                  </a14:m>
                  <a:r>
                    <a:rPr lang="en-US" altLang="en-US" sz="1400" i="1" baseline="-25000" dirty="0">
                      <a:latin typeface="KishoreFont Medium" charset="0"/>
                      <a:ea typeface="KishoreFont Medium" charset="0"/>
                      <a:cs typeface="KishoreFont Medium" charset="0"/>
                    </a:rPr>
                    <a:t>1</a:t>
                  </a:r>
                  <a:r>
                    <a:rPr lang="en-US" altLang="en-US" sz="1400" i="1" dirty="0">
                      <a:latin typeface="KishoreFont Medium" charset="0"/>
                      <a:ea typeface="KishoreFont Medium" charset="0"/>
                      <a:cs typeface="KishoreFont Medium" charset="0"/>
                    </a:rPr>
                    <a:t>x</a:t>
                  </a:r>
                  <a:r>
                    <a:rPr lang="en-US" altLang="en-US" sz="1400" i="1" baseline="-25000" dirty="0">
                      <a:latin typeface="KishoreFont Medium" charset="0"/>
                      <a:ea typeface="KishoreFont Medium" charset="0"/>
                      <a:cs typeface="KishoreFont Medium" charset="0"/>
                    </a:rPr>
                    <a:t>1</a:t>
                  </a:r>
                  <a:r>
                    <a:rPr lang="en-US" altLang="en-US" sz="1400" i="1" dirty="0">
                      <a:latin typeface="KishoreFont Medium" charset="0"/>
                      <a:ea typeface="KishoreFont Medium" charset="0"/>
                      <a:cs typeface="KishoreFont Medium" charset="0"/>
                    </a:rPr>
                    <a:t> …+</a:t>
                  </a:r>
                  <a:r>
                    <a:rPr lang="en-US" altLang="en-US" sz="1400" i="1" dirty="0">
                      <a:ea typeface="Cambria Math" charset="0"/>
                      <a:cs typeface="Cambria Math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en-US" sz="1400" i="1" dirty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𝑤</m:t>
                      </m:r>
                    </m:oMath>
                  </a14:m>
                  <a:r>
                    <a:rPr lang="en-US" altLang="en-US" sz="1400" i="1" baseline="-25000" dirty="0">
                      <a:latin typeface="KishoreFont Medium" charset="0"/>
                      <a:ea typeface="KishoreFont Medium" charset="0"/>
                      <a:cs typeface="KishoreFont Medium" charset="0"/>
                    </a:rPr>
                    <a:t>p</a:t>
                  </a:r>
                  <a:r>
                    <a:rPr lang="en-US" altLang="en-US" sz="1400" i="1" dirty="0">
                      <a:latin typeface="KishoreFont Medium" charset="0"/>
                      <a:ea typeface="KishoreFont Medium" charset="0"/>
                      <a:cs typeface="KishoreFont Medium" charset="0"/>
                    </a:rPr>
                    <a:t>x</a:t>
                  </a:r>
                  <a:r>
                    <a:rPr lang="en-US" altLang="en-US" sz="1400" i="1" baseline="-25000" dirty="0">
                      <a:latin typeface="KishoreFont Medium" charset="0"/>
                      <a:ea typeface="KishoreFont Medium" charset="0"/>
                      <a:cs typeface="KishoreFont Medium" charset="0"/>
                    </a:rPr>
                    <a:t>p </a:t>
                  </a:r>
                  <a:endParaRPr lang="en-US" sz="1400" dirty="0"/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1640529-4483-9E4E-A5AD-EA0A75221B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1673" y="1559512"/>
                  <a:ext cx="2145574" cy="354905"/>
                </a:xfrm>
                <a:prstGeom prst="rect">
                  <a:avLst/>
                </a:prstGeom>
                <a:blipFill>
                  <a:blip r:embed="rId4"/>
                  <a:stretch>
                    <a:fillRect b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23DFA81-3EDB-A544-B781-C05816554AFE}"/>
                  </a:ext>
                </a:extLst>
              </p:cNvPr>
              <p:cNvSpPr/>
              <p:nvPr/>
            </p:nvSpPr>
            <p:spPr>
              <a:xfrm>
                <a:off x="888056" y="3185303"/>
                <a:ext cx="3809159" cy="165019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𝑓𝑢𝑛𝑐𝑡𝑖𝑜𝑛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23DFA81-3EDB-A544-B781-C05816554A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56" y="3185303"/>
                <a:ext cx="3809159" cy="1650195"/>
              </a:xfrm>
              <a:prstGeom prst="rect">
                <a:avLst/>
              </a:prstGeom>
              <a:blipFill>
                <a:blip r:embed="rId5"/>
                <a:stretch>
                  <a:fillRect l="-11296" t="-50769" b="-7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768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DA22-A96C-A94E-8BFD-295B42765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2B3BF-32A9-CA49-BA8D-B65B6C17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62716"/>
            <a:ext cx="8229600" cy="140386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We want to minimize this cost function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We cannot change the data (</a:t>
            </a:r>
            <a:r>
              <a:rPr lang="en-US" sz="1800" i="1" dirty="0" err="1"/>
              <a:t>X,</a:t>
            </a:r>
            <a:r>
              <a:rPr lang="en-US" sz="1800" dirty="0" err="1"/>
              <a:t>y</a:t>
            </a:r>
            <a:r>
              <a:rPr lang="en-US" sz="1800" dirty="0"/>
              <a:t>) so we adjust </a:t>
            </a:r>
            <a:r>
              <a:rPr lang="en-US" sz="1800" i="1" dirty="0"/>
              <a:t>w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How do we find values for </a:t>
            </a:r>
            <a:r>
              <a:rPr lang="en-US" sz="1800" i="1" dirty="0"/>
              <a:t>w</a:t>
            </a:r>
            <a:r>
              <a:rPr lang="en-US" sz="1800" i="1" baseline="-25000" dirty="0"/>
              <a:t>0</a:t>
            </a:r>
            <a:r>
              <a:rPr lang="en-US" sz="1800" i="1" dirty="0"/>
              <a:t>…</a:t>
            </a:r>
            <a:r>
              <a:rPr lang="en-US" sz="1800" i="1" dirty="0" err="1"/>
              <a:t>w</a:t>
            </a:r>
            <a:r>
              <a:rPr lang="en-US" sz="1800" i="1" baseline="-25000" dirty="0" err="1"/>
              <a:t>i</a:t>
            </a:r>
            <a:r>
              <a:rPr lang="en-US" sz="1800" i="1" dirty="0"/>
              <a:t> </a:t>
            </a:r>
            <a:r>
              <a:rPr lang="en-US" sz="1800" dirty="0"/>
              <a:t>that minimize this cost function?</a:t>
            </a:r>
          </a:p>
          <a:p>
            <a:pPr lvl="1">
              <a:spcAft>
                <a:spcPts val="600"/>
              </a:spcAft>
            </a:pPr>
            <a:r>
              <a:rPr lang="en-US" sz="1400" b="1" dirty="0"/>
              <a:t>Closed form solution </a:t>
            </a:r>
            <a:r>
              <a:rPr lang="en-US" sz="1400" dirty="0"/>
              <a:t>– take the derivative of the cost function and set equal to 0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Apply a </a:t>
            </a:r>
            <a:r>
              <a:rPr lang="en-US" sz="1400" b="1" dirty="0"/>
              <a:t>gradient descent </a:t>
            </a:r>
            <a:r>
              <a:rPr lang="en-US" sz="1400" dirty="0"/>
              <a:t>search algorithm to converge on the optimal values</a:t>
            </a:r>
          </a:p>
          <a:p>
            <a:pPr marL="228600" indent="-171450">
              <a:spcAft>
                <a:spcPts val="600"/>
              </a:spcAft>
            </a:pPr>
            <a:endParaRPr lang="en-US" sz="1000" dirty="0"/>
          </a:p>
          <a:p>
            <a:pPr lvl="1">
              <a:spcAft>
                <a:spcPts val="600"/>
              </a:spcAft>
            </a:pPr>
            <a:endParaRPr lang="en-US" sz="1400" dirty="0"/>
          </a:p>
          <a:p>
            <a:pPr lvl="1">
              <a:spcAft>
                <a:spcPts val="600"/>
              </a:spcAft>
            </a:pP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C1A136-BB25-A94F-B460-30F50461DC07}"/>
                  </a:ext>
                </a:extLst>
              </p:cNvPr>
              <p:cNvSpPr/>
              <p:nvPr/>
            </p:nvSpPr>
            <p:spPr>
              <a:xfrm>
                <a:off x="1385011" y="1276922"/>
                <a:ext cx="5709960" cy="8712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𝑓𝑢𝑛𝑐𝑡𝑖𝑜𝑛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C1A136-BB25-A94F-B460-30F50461DC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011" y="1276922"/>
                <a:ext cx="5709960" cy="871264"/>
              </a:xfrm>
              <a:prstGeom prst="rect">
                <a:avLst/>
              </a:prstGeom>
              <a:blipFill>
                <a:blip r:embed="rId2"/>
                <a:stretch>
                  <a:fillRect t="-94203" b="-1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98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AA22D-9179-C15E-8489-010BD2CA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Vectorized 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641A01-AECF-35FC-A228-0161CFFFB340}"/>
              </a:ext>
            </a:extLst>
          </p:cNvPr>
          <p:cNvSpPr txBox="1"/>
          <p:nvPr/>
        </p:nvSpPr>
        <p:spPr>
          <a:xfrm>
            <a:off x="246850" y="2890534"/>
            <a:ext cx="3088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Written in vectorized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>
                <a:extLst>
                  <a:ext uri="{FF2B5EF4-FFF2-40B4-BE49-F238E27FC236}">
                    <a16:creationId xmlns:a16="http://schemas.microsoft.com/office/drawing/2014/main" id="{7686786C-F9C6-5BA3-C734-2C67038985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099" y="1734905"/>
                <a:ext cx="1441836" cy="764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sz="16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sz="16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altLang="en-US" sz="160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𝑤</m:t>
                          </m:r>
                          <m:r>
                            <m:rPr>
                              <m:nor/>
                            </m:rPr>
                            <a:rPr lang="en-US" altLang="en-US" sz="1600" baseline="-25000" dirty="0">
                              <a:solidFill>
                                <a:srgbClr val="FFC000"/>
                              </a:solidFill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en-US" sz="1600" dirty="0" smtClean="0">
                              <a:solidFill>
                                <a:srgbClr val="0070C0"/>
                              </a:solidFill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en-US" sz="1600" baseline="-25000" dirty="0" smtClean="0">
                              <a:solidFill>
                                <a:srgbClr val="0070C0"/>
                              </a:solidFill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i</m:t>
                          </m:r>
                        </m:e>
                      </m:nary>
                    </m:oMath>
                  </m:oMathPara>
                </a14:m>
                <a:endParaRPr lang="en-US" altLang="en-US" sz="1600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8" name="Text Box 3">
                <a:extLst>
                  <a:ext uri="{FF2B5EF4-FFF2-40B4-BE49-F238E27FC236}">
                    <a16:creationId xmlns:a16="http://schemas.microsoft.com/office/drawing/2014/main" id="{7686786C-F9C6-5BA3-C734-2C6703898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099" y="1734905"/>
                <a:ext cx="1441836" cy="764761"/>
              </a:xfrm>
              <a:prstGeom prst="rect">
                <a:avLst/>
              </a:prstGeom>
              <a:blipFill>
                <a:blip r:embed="rId2"/>
                <a:stretch>
                  <a:fillRect l="-14912" t="-101639" b="-1573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3">
                <a:extLst>
                  <a:ext uri="{FF2B5EF4-FFF2-40B4-BE49-F238E27FC236}">
                    <a16:creationId xmlns:a16="http://schemas.microsoft.com/office/drawing/2014/main" id="{025B4E78-F4A0-DC6A-F699-35A2666CD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524" y="3198903"/>
                <a:ext cx="4103881" cy="14032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sz="18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sz="18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en-US" sz="18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180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en-US" sz="1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1800" b="0" i="1" dirty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en-US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en-US" sz="18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18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en-US" sz="18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en-US" i="1" dirty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en-US" sz="1800" b="0" i="1" dirty="0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en-US" i="1" dirty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18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altLang="en-US" sz="1800" b="0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en-US" sz="1800" b="0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en-US" sz="1800" b="0" i="1" dirty="0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1800" b="0" i="1" dirty="0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en-US" sz="1800" b="0" i="1" dirty="0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en-US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en-US" sz="1800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en-US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i="1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9" name="Text Box 3">
                <a:extLst>
                  <a:ext uri="{FF2B5EF4-FFF2-40B4-BE49-F238E27FC236}">
                    <a16:creationId xmlns:a16="http://schemas.microsoft.com/office/drawing/2014/main" id="{025B4E78-F4A0-DC6A-F699-35A2666CD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24" y="3198903"/>
                <a:ext cx="4103881" cy="1403205"/>
              </a:xfrm>
              <a:prstGeom prst="rect">
                <a:avLst/>
              </a:prstGeom>
              <a:blipFill>
                <a:blip r:embed="rId3"/>
                <a:stretch>
                  <a:fillRect l="-3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57AE4B7-6A08-66E6-379F-6707ADC43FC3}"/>
              </a:ext>
            </a:extLst>
          </p:cNvPr>
          <p:cNvSpPr txBox="1"/>
          <p:nvPr/>
        </p:nvSpPr>
        <p:spPr>
          <a:xfrm>
            <a:off x="4325992" y="1189214"/>
            <a:ext cx="4719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many observations: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09DF2F-FDA7-AAC8-1BF6-D2CB129B6893}"/>
                  </a:ext>
                </a:extLst>
              </p:cNvPr>
              <p:cNvSpPr txBox="1"/>
              <p:nvPr/>
            </p:nvSpPr>
            <p:spPr>
              <a:xfrm>
                <a:off x="4643679" y="2189519"/>
                <a:ext cx="8250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09DF2F-FDA7-AAC8-1BF6-D2CB129B6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679" y="2189519"/>
                <a:ext cx="825034" cy="276999"/>
              </a:xfrm>
              <a:prstGeom prst="rect">
                <a:avLst/>
              </a:prstGeom>
              <a:blipFill>
                <a:blip r:embed="rId4"/>
                <a:stretch>
                  <a:fillRect l="-6061" t="-8696" r="-1515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ket 12">
            <a:extLst>
              <a:ext uri="{FF2B5EF4-FFF2-40B4-BE49-F238E27FC236}">
                <a16:creationId xmlns:a16="http://schemas.microsoft.com/office/drawing/2014/main" id="{7FA30E10-DE76-5CF0-539B-335139305352}"/>
              </a:ext>
            </a:extLst>
          </p:cNvPr>
          <p:cNvSpPr/>
          <p:nvPr/>
        </p:nvSpPr>
        <p:spPr>
          <a:xfrm>
            <a:off x="5919464" y="1990929"/>
            <a:ext cx="79513" cy="659958"/>
          </a:xfrm>
          <a:prstGeom prst="leftBracke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A2B45A5E-1E72-C20E-3D24-9A507441EEE6}"/>
              </a:ext>
            </a:extLst>
          </p:cNvPr>
          <p:cNvSpPr/>
          <p:nvPr/>
        </p:nvSpPr>
        <p:spPr>
          <a:xfrm flipH="1">
            <a:off x="6270162" y="1990929"/>
            <a:ext cx="79513" cy="659958"/>
          </a:xfrm>
          <a:prstGeom prst="leftBracke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CE0D94-6CDA-5241-98DF-DB78849FC024}"/>
              </a:ext>
            </a:extLst>
          </p:cNvPr>
          <p:cNvSpPr txBox="1"/>
          <p:nvPr/>
        </p:nvSpPr>
        <p:spPr>
          <a:xfrm>
            <a:off x="5888410" y="2197797"/>
            <a:ext cx="544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B050"/>
                </a:solidFill>
              </a:rPr>
              <a:t>N </a:t>
            </a:r>
            <a:r>
              <a:rPr lang="en-US" sz="1000" dirty="0">
                <a:solidFill>
                  <a:srgbClr val="00B050"/>
                </a:solidFill>
              </a:rPr>
              <a:t>x 1</a:t>
            </a: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D7DBE272-912A-611C-8E2C-473F219410BF}"/>
              </a:ext>
            </a:extLst>
          </p:cNvPr>
          <p:cNvSpPr/>
          <p:nvPr/>
        </p:nvSpPr>
        <p:spPr>
          <a:xfrm>
            <a:off x="6830928" y="2012770"/>
            <a:ext cx="79513" cy="659958"/>
          </a:xfrm>
          <a:prstGeom prst="leftBracke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294A1965-D4F6-66BA-876A-BF008450E152}"/>
              </a:ext>
            </a:extLst>
          </p:cNvPr>
          <p:cNvSpPr/>
          <p:nvPr/>
        </p:nvSpPr>
        <p:spPr>
          <a:xfrm flipH="1">
            <a:off x="7504280" y="2012770"/>
            <a:ext cx="79513" cy="659958"/>
          </a:xfrm>
          <a:prstGeom prst="leftBracke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9DFEC2-0A7B-61F5-C041-39099B98B493}"/>
              </a:ext>
            </a:extLst>
          </p:cNvPr>
          <p:cNvSpPr txBox="1"/>
          <p:nvPr/>
        </p:nvSpPr>
        <p:spPr>
          <a:xfrm>
            <a:off x="6926342" y="2197797"/>
            <a:ext cx="657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70C0"/>
                </a:solidFill>
              </a:rPr>
              <a:t>N</a:t>
            </a:r>
            <a:r>
              <a:rPr lang="en-US" sz="1000" dirty="0">
                <a:solidFill>
                  <a:srgbClr val="0070C0"/>
                </a:solidFill>
              </a:rPr>
              <a:t> x </a:t>
            </a:r>
            <a:r>
              <a:rPr lang="en-US" sz="1000" i="1" dirty="0">
                <a:solidFill>
                  <a:srgbClr val="0070C0"/>
                </a:solidFill>
              </a:rPr>
              <a:t>p+1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45B016-72F0-8D1F-46C0-458C25E7D94E}"/>
              </a:ext>
            </a:extLst>
          </p:cNvPr>
          <p:cNvSpPr txBox="1"/>
          <p:nvPr/>
        </p:nvSpPr>
        <p:spPr>
          <a:xfrm>
            <a:off x="6453612" y="2219638"/>
            <a:ext cx="273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=</a:t>
            </a:r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0D6E5FDA-919F-98F3-0172-4BB8B9698852}"/>
              </a:ext>
            </a:extLst>
          </p:cNvPr>
          <p:cNvSpPr/>
          <p:nvPr/>
        </p:nvSpPr>
        <p:spPr>
          <a:xfrm>
            <a:off x="7724239" y="2009907"/>
            <a:ext cx="79513" cy="659958"/>
          </a:xfrm>
          <a:prstGeom prst="leftBracke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FC6D2C70-CFE8-D868-4CBA-F7D0397A4E9F}"/>
              </a:ext>
            </a:extLst>
          </p:cNvPr>
          <p:cNvSpPr/>
          <p:nvPr/>
        </p:nvSpPr>
        <p:spPr>
          <a:xfrm flipH="1">
            <a:off x="8135900" y="2009907"/>
            <a:ext cx="79513" cy="659958"/>
          </a:xfrm>
          <a:prstGeom prst="leftBracke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42A96E-EBF9-06BA-B075-598F72676E1D}"/>
              </a:ext>
            </a:extLst>
          </p:cNvPr>
          <p:cNvSpPr txBox="1"/>
          <p:nvPr/>
        </p:nvSpPr>
        <p:spPr>
          <a:xfrm>
            <a:off x="7680922" y="2234624"/>
            <a:ext cx="657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FFC000"/>
                </a:solidFill>
              </a:rPr>
              <a:t>p+1 </a:t>
            </a:r>
            <a:r>
              <a:rPr lang="en-US" sz="1000" dirty="0">
                <a:solidFill>
                  <a:srgbClr val="FFC000"/>
                </a:solidFill>
              </a:rPr>
              <a:t>x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4AA82B-58DD-BA05-717C-131D8D093BDC}"/>
                  </a:ext>
                </a:extLst>
              </p:cNvPr>
              <p:cNvSpPr txBox="1"/>
              <p:nvPr/>
            </p:nvSpPr>
            <p:spPr>
              <a:xfrm>
                <a:off x="5974261" y="2643564"/>
                <a:ext cx="3506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4AA82B-58DD-BA05-717C-131D8D093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261" y="2643564"/>
                <a:ext cx="350698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6DF9B7F-1AA9-E3EB-56F7-E41333BE7842}"/>
              </a:ext>
            </a:extLst>
          </p:cNvPr>
          <p:cNvSpPr txBox="1"/>
          <p:nvPr/>
        </p:nvSpPr>
        <p:spPr>
          <a:xfrm>
            <a:off x="7049505" y="2650887"/>
            <a:ext cx="35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F59E71-774C-678F-B21C-1531546C1C0F}"/>
              </a:ext>
            </a:extLst>
          </p:cNvPr>
          <p:cNvSpPr txBox="1"/>
          <p:nvPr/>
        </p:nvSpPr>
        <p:spPr>
          <a:xfrm>
            <a:off x="7781543" y="2643564"/>
            <a:ext cx="35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C000"/>
                </a:solidFill>
              </a:rPr>
              <a:t>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A5BBC9-ABDB-3B20-D9BD-4440A192AC97}"/>
              </a:ext>
            </a:extLst>
          </p:cNvPr>
          <p:cNvSpPr txBox="1"/>
          <p:nvPr/>
        </p:nvSpPr>
        <p:spPr>
          <a:xfrm>
            <a:off x="5729487" y="1735041"/>
            <a:ext cx="840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B050"/>
                </a:solidFill>
              </a:rPr>
              <a:t>Predictions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462A03-4E18-3D67-D958-1860D2B1B8B9}"/>
              </a:ext>
            </a:extLst>
          </p:cNvPr>
          <p:cNvSpPr txBox="1"/>
          <p:nvPr/>
        </p:nvSpPr>
        <p:spPr>
          <a:xfrm>
            <a:off x="6788422" y="1736558"/>
            <a:ext cx="840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751B1F-D2C4-5B6A-4564-B631849570A1}"/>
              </a:ext>
            </a:extLst>
          </p:cNvPr>
          <p:cNvSpPr txBox="1"/>
          <p:nvPr/>
        </p:nvSpPr>
        <p:spPr>
          <a:xfrm>
            <a:off x="7565896" y="1735041"/>
            <a:ext cx="8646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FFC000"/>
                </a:solidFill>
              </a:rPr>
              <a:t>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CED12B-D81C-6774-AAE0-474613D04D7E}"/>
                  </a:ext>
                </a:extLst>
              </p:cNvPr>
              <p:cNvSpPr txBox="1"/>
              <p:nvPr/>
            </p:nvSpPr>
            <p:spPr>
              <a:xfrm>
                <a:off x="4673836" y="3330957"/>
                <a:ext cx="3595618" cy="11691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1 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2,1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CED12B-D81C-6774-AAE0-474613D04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836" y="3330957"/>
                <a:ext cx="3595618" cy="1169166"/>
              </a:xfrm>
              <a:prstGeom prst="rect">
                <a:avLst/>
              </a:prstGeom>
              <a:blipFill>
                <a:blip r:embed="rId6"/>
                <a:stretch>
                  <a:fillRect t="-1075" b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A9F631-47C3-76CA-1577-D76D17645AFE}"/>
              </a:ext>
            </a:extLst>
          </p:cNvPr>
          <p:cNvCxnSpPr/>
          <p:nvPr/>
        </p:nvCxnSpPr>
        <p:spPr>
          <a:xfrm>
            <a:off x="4241131" y="1172519"/>
            <a:ext cx="0" cy="3698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EAC446F-2A22-39F4-C295-01DDF8E01426}"/>
              </a:ext>
            </a:extLst>
          </p:cNvPr>
          <p:cNvSpPr txBox="1"/>
          <p:nvPr/>
        </p:nvSpPr>
        <p:spPr>
          <a:xfrm>
            <a:off x="273609" y="1214599"/>
            <a:ext cx="2808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single observation: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54F0E-CEAB-0651-A53D-A58A41C1363D}"/>
              </a:ext>
            </a:extLst>
          </p:cNvPr>
          <p:cNvSpPr txBox="1"/>
          <p:nvPr/>
        </p:nvSpPr>
        <p:spPr>
          <a:xfrm>
            <a:off x="1731935" y="2009907"/>
            <a:ext cx="1603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where x</a:t>
            </a:r>
            <a:r>
              <a:rPr lang="en-US" sz="1200" baseline="-25000" dirty="0"/>
              <a:t>0</a:t>
            </a:r>
            <a:r>
              <a:rPr lang="en-US" sz="1200" dirty="0"/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106678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DEE8-87D8-1749-B79F-2E42DAFDC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form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4BF63-94FA-5C4B-84C6-2C5A75F62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6055"/>
            <a:ext cx="5712941" cy="318135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Our model is: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000" dirty="0"/>
              <a:t>Our cost function is:</a:t>
            </a:r>
            <a:endParaRPr lang="en-US" sz="2000" b="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sz="400" b="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/>
              <a:t>We can rewrite this in vectorized form as:</a:t>
            </a:r>
          </a:p>
          <a:p>
            <a:pPr marL="0" indent="0">
              <a:buNone/>
            </a:pPr>
            <a:endParaRPr lang="en-US" sz="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A52DB0-705E-9501-77B8-65C1EDFE9754}"/>
                  </a:ext>
                </a:extLst>
              </p:cNvPr>
              <p:cNvSpPr txBox="1"/>
              <p:nvPr/>
            </p:nvSpPr>
            <p:spPr>
              <a:xfrm>
                <a:off x="3001409" y="2259688"/>
                <a:ext cx="4572000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A52DB0-705E-9501-77B8-65C1EDFE9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409" y="2259688"/>
                <a:ext cx="4572000" cy="871264"/>
              </a:xfrm>
              <a:prstGeom prst="rect">
                <a:avLst/>
              </a:prstGeom>
              <a:blipFill>
                <a:blip r:embed="rId3"/>
                <a:stretch>
                  <a:fillRect t="-95652" b="-150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80ADC5-A699-D902-BC18-E7EDD8DE132C}"/>
                  </a:ext>
                </a:extLst>
              </p:cNvPr>
              <p:cNvSpPr txBox="1"/>
              <p:nvPr/>
            </p:nvSpPr>
            <p:spPr>
              <a:xfrm>
                <a:off x="5578298" y="3741247"/>
                <a:ext cx="29849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80ADC5-A699-D902-BC18-E7EDD8DE1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298" y="3741247"/>
                <a:ext cx="2984934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3">
                <a:extLst>
                  <a:ext uri="{FF2B5EF4-FFF2-40B4-BE49-F238E27FC236}">
                    <a16:creationId xmlns:a16="http://schemas.microsoft.com/office/drawing/2014/main" id="{5F68DE57-FD5A-B05B-677E-791C627717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8065" y="1228940"/>
                <a:ext cx="1441836" cy="764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sz="16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sz="16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altLang="en-US" sz="160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𝑤</m:t>
                          </m:r>
                          <m:r>
                            <m:rPr>
                              <m:nor/>
                            </m:rPr>
                            <a:rPr lang="en-US" altLang="en-US" sz="1600" baseline="-25000" dirty="0">
                              <a:solidFill>
                                <a:srgbClr val="FFC000"/>
                              </a:solidFill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en-US" sz="1600" dirty="0" smtClean="0">
                              <a:solidFill>
                                <a:srgbClr val="0070C0"/>
                              </a:solidFill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en-US" sz="1600" baseline="-25000" dirty="0" smtClean="0">
                              <a:solidFill>
                                <a:srgbClr val="0070C0"/>
                              </a:solidFill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i</m:t>
                          </m:r>
                        </m:e>
                      </m:nary>
                    </m:oMath>
                  </m:oMathPara>
                </a14:m>
                <a:endParaRPr lang="en-US" altLang="en-US" sz="1600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32" name="Text Box 3">
                <a:extLst>
                  <a:ext uri="{FF2B5EF4-FFF2-40B4-BE49-F238E27FC236}">
                    <a16:creationId xmlns:a16="http://schemas.microsoft.com/office/drawing/2014/main" id="{5F68DE57-FD5A-B05B-677E-791C62771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8065" y="1228940"/>
                <a:ext cx="1441836" cy="764761"/>
              </a:xfrm>
              <a:prstGeom prst="rect">
                <a:avLst/>
              </a:prstGeom>
              <a:blipFill>
                <a:blip r:embed="rId5"/>
                <a:stretch>
                  <a:fillRect l="-14035" t="-100000" b="-1573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267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007BA5-1C05-7E40-88F7-EC4109544963}"/>
              </a:ext>
            </a:extLst>
          </p:cNvPr>
          <p:cNvSpPr/>
          <p:nvPr/>
        </p:nvSpPr>
        <p:spPr>
          <a:xfrm>
            <a:off x="5934146" y="895274"/>
            <a:ext cx="2807197" cy="39580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E49C3-E4DA-5042-951E-634F6E064CE8}"/>
              </a:ext>
            </a:extLst>
          </p:cNvPr>
          <p:cNvSpPr/>
          <p:nvPr/>
        </p:nvSpPr>
        <p:spPr>
          <a:xfrm>
            <a:off x="3612854" y="3789062"/>
            <a:ext cx="1539631" cy="4718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C25EA-1AAC-9141-BA40-413233851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form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A6F7403-B3AD-684F-B319-C9D885603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200151"/>
                <a:ext cx="5681207" cy="31813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Minimize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0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8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sz="2000" dirty="0"/>
                  <a:t>Set derivative </a:t>
                </a:r>
                <a:r>
                  <a:rPr lang="en-US" sz="2000" dirty="0" err="1"/>
                  <a:t>wrt</a:t>
                </a:r>
                <a:r>
                  <a:rPr lang="en-US" sz="2000" dirty="0"/>
                  <a:t> </a:t>
                </a:r>
                <a:r>
                  <a:rPr lang="en-US" sz="2000" i="1" dirty="0"/>
                  <a:t>w</a:t>
                </a:r>
                <a:r>
                  <a:rPr lang="en-US" sz="2000" dirty="0"/>
                  <a:t> = 0 and solve for w: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=0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8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A6F7403-B3AD-684F-B319-C9D885603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200151"/>
                <a:ext cx="5681207" cy="3181350"/>
              </a:xfrm>
              <a:blipFill>
                <a:blip r:embed="rId2"/>
                <a:stretch>
                  <a:fillRect l="-1116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C2241A-8E58-404D-9C6E-EA55680C4280}"/>
                  </a:ext>
                </a:extLst>
              </p:cNvPr>
              <p:cNvSpPr txBox="1"/>
              <p:nvPr/>
            </p:nvSpPr>
            <p:spPr>
              <a:xfrm>
                <a:off x="6248065" y="2321466"/>
                <a:ext cx="2151038" cy="938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i="1" dirty="0">
                    <a:solidFill>
                      <a:srgbClr val="0070C0"/>
                    </a:solidFill>
                  </a:rPr>
                  <a:t>X </a:t>
                </a:r>
                <a:r>
                  <a:rPr lang="en-US" dirty="0">
                    <a:solidFill>
                      <a:srgbClr val="0070C0"/>
                    </a:solidFill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,2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C2241A-8E58-404D-9C6E-EA55680C4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065" y="2321466"/>
                <a:ext cx="2151038" cy="938719"/>
              </a:xfrm>
              <a:prstGeom prst="rect">
                <a:avLst/>
              </a:prstGeom>
              <a:blipFill>
                <a:blip r:embed="rId3"/>
                <a:stretch>
                  <a:fillRect l="-7059" t="-9333"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4A455-4747-E14D-AFFB-FC555571EBCD}"/>
                  </a:ext>
                </a:extLst>
              </p:cNvPr>
              <p:cNvSpPr txBox="1"/>
              <p:nvPr/>
            </p:nvSpPr>
            <p:spPr>
              <a:xfrm>
                <a:off x="6818029" y="3571983"/>
                <a:ext cx="890757" cy="901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i="1" dirty="0">
                    <a:solidFill>
                      <a:srgbClr val="FFC000"/>
                    </a:solidFill>
                  </a:rPr>
                  <a:t>w </a:t>
                </a:r>
                <a:r>
                  <a:rPr lang="en-US" dirty="0">
                    <a:solidFill>
                      <a:srgbClr val="FFC000"/>
                    </a:solidFill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4A455-4747-E14D-AFFB-FC555571E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029" y="3571983"/>
                <a:ext cx="890757" cy="901016"/>
              </a:xfrm>
              <a:prstGeom prst="rect">
                <a:avLst/>
              </a:prstGeom>
              <a:blipFill>
                <a:blip r:embed="rId4"/>
                <a:stretch>
                  <a:fillRect l="-15278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5B9EE1-802D-2648-B9FA-58303B51A754}"/>
                  </a:ext>
                </a:extLst>
              </p:cNvPr>
              <p:cNvSpPr txBox="1"/>
              <p:nvPr/>
            </p:nvSpPr>
            <p:spPr>
              <a:xfrm>
                <a:off x="6905905" y="1063625"/>
                <a:ext cx="835357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5B9EE1-802D-2648-B9FA-58303B51A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905" y="1063625"/>
                <a:ext cx="835357" cy="880369"/>
              </a:xfrm>
              <a:prstGeom prst="rect">
                <a:avLst/>
              </a:prstGeom>
              <a:blipFill>
                <a:blip r:embed="rId5"/>
                <a:stretch>
                  <a:fillRect l="-8955"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9AE3AAA-C85F-9D45-9F8E-980FD74D9CC3}"/>
              </a:ext>
            </a:extLst>
          </p:cNvPr>
          <p:cNvSpPr txBox="1"/>
          <p:nvPr/>
        </p:nvSpPr>
        <p:spPr>
          <a:xfrm>
            <a:off x="2113772" y="3261355"/>
            <a:ext cx="2180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(Normal equation)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0033EC-DBAC-9142-AD34-D5A55F5905A3}"/>
                  </a:ext>
                </a:extLst>
              </p:cNvPr>
              <p:cNvSpPr txBox="1"/>
              <p:nvPr/>
            </p:nvSpPr>
            <p:spPr>
              <a:xfrm>
                <a:off x="3863320" y="3886712"/>
                <a:ext cx="108176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0033EC-DBAC-9142-AD34-D5A55F590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320" y="3886712"/>
                <a:ext cx="1081768" cy="276999"/>
              </a:xfrm>
              <a:prstGeom prst="rect">
                <a:avLst/>
              </a:prstGeom>
              <a:blipFill>
                <a:blip r:embed="rId6"/>
                <a:stretch>
                  <a:fillRect t="-13636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102B0FE-1EBB-5B41-A3AA-1A823BDA4D3B}"/>
              </a:ext>
            </a:extLst>
          </p:cNvPr>
          <p:cNvSpPr/>
          <p:nvPr/>
        </p:nvSpPr>
        <p:spPr>
          <a:xfrm>
            <a:off x="602796" y="4753326"/>
            <a:ext cx="396920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/>
              <a:t>Reference on inverse of a matrix: https://</a:t>
            </a:r>
            <a:r>
              <a:rPr lang="en-US" sz="700" dirty="0" err="1"/>
              <a:t>www.mathsisfun.com</a:t>
            </a:r>
            <a:r>
              <a:rPr lang="en-US" sz="700" dirty="0"/>
              <a:t>/algebra/matrix-</a:t>
            </a:r>
            <a:r>
              <a:rPr lang="en-US" sz="700" dirty="0" err="1"/>
              <a:t>inverse.html</a:t>
            </a:r>
            <a:endParaRPr lang="en-US" sz="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6E71C3-0EAD-FC43-95F7-504D6733BF36}"/>
              </a:ext>
            </a:extLst>
          </p:cNvPr>
          <p:cNvSpPr/>
          <p:nvPr/>
        </p:nvSpPr>
        <p:spPr>
          <a:xfrm>
            <a:off x="457199" y="3751868"/>
            <a:ext cx="2333135" cy="50904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4BB4BF02-67F6-D144-B790-FC5CDC3FFAED}"/>
              </a:ext>
            </a:extLst>
          </p:cNvPr>
          <p:cNvSpPr/>
          <p:nvPr/>
        </p:nvSpPr>
        <p:spPr>
          <a:xfrm>
            <a:off x="2986444" y="3863539"/>
            <a:ext cx="419013" cy="33174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62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0CAC-2F77-684B-9CE6-1BB6600B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Assumptions of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4A34-E13B-E140-BAB0-3A0DB57A1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/>
              <a:t>Linear regression makes </a:t>
            </a:r>
            <a:r>
              <a:rPr lang="en-US" sz="1800" b="1" dirty="0"/>
              <a:t>three key assumptions</a:t>
            </a:r>
            <a:r>
              <a:rPr lang="en-US" sz="1800" dirty="0"/>
              <a:t>: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600" dirty="0"/>
              <a:t>Expected value of y for any given x is a linear function of x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600" dirty="0"/>
              <a:t>Errors are uncorrelated random variables with 0 mean and constant variance σ</a:t>
            </a:r>
            <a:r>
              <a:rPr lang="en-US" sz="1600" baseline="30000" dirty="0"/>
              <a:t>2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600" dirty="0"/>
              <a:t>Feature variables are independent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/>
              <a:t>Model </a:t>
            </a:r>
            <a:r>
              <a:rPr lang="en-US" sz="1800" b="1" dirty="0"/>
              <a:t>fit issues can result </a:t>
            </a:r>
            <a:r>
              <a:rPr lang="en-US" sz="1800" dirty="0"/>
              <a:t>from violations of these assumptions:</a:t>
            </a:r>
          </a:p>
          <a:p>
            <a:pPr lvl="1">
              <a:spcAft>
                <a:spcPts val="400"/>
              </a:spcAft>
              <a:buFontTx/>
              <a:buChar char="-"/>
            </a:pPr>
            <a:r>
              <a:rPr lang="en-US" sz="1600" dirty="0"/>
              <a:t>Non-linearity of the target-features relationship</a:t>
            </a:r>
          </a:p>
          <a:p>
            <a:pPr lvl="1">
              <a:spcAft>
                <a:spcPts val="400"/>
              </a:spcAft>
              <a:buFontTx/>
              <a:buChar char="-"/>
            </a:pPr>
            <a:r>
              <a:rPr lang="en-US" sz="1600" dirty="0"/>
              <a:t>Non-constant variance or correlation of error terms</a:t>
            </a:r>
          </a:p>
          <a:p>
            <a:pPr lvl="1">
              <a:spcAft>
                <a:spcPts val="400"/>
              </a:spcAft>
              <a:buFontTx/>
              <a:buChar char="-"/>
            </a:pPr>
            <a:r>
              <a:rPr lang="en-US" sz="1600" dirty="0"/>
              <a:t>Collinearity or multicollinearity of feature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4670B-9CD3-0BBC-DCD4-6088D4B97ADD}"/>
              </a:ext>
            </a:extLst>
          </p:cNvPr>
          <p:cNvSpPr txBox="1"/>
          <p:nvPr/>
        </p:nvSpPr>
        <p:spPr>
          <a:xfrm>
            <a:off x="523566" y="4756150"/>
            <a:ext cx="56855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Good explanation: </a:t>
            </a:r>
            <a:r>
              <a:rPr lang="en-US" sz="1000" dirty="0">
                <a:hlinkClick r:id="rId2"/>
              </a:rPr>
              <a:t>https://</a:t>
            </a:r>
            <a:r>
              <a:rPr lang="en-US" sz="1000" dirty="0" err="1">
                <a:hlinkClick r:id="rId2"/>
              </a:rPr>
              <a:t>statisticsbyjim.com</a:t>
            </a:r>
            <a:r>
              <a:rPr lang="en-US" sz="1000" dirty="0">
                <a:hlinkClick r:id="rId2"/>
              </a:rPr>
              <a:t>/regression/</a:t>
            </a:r>
            <a:r>
              <a:rPr lang="en-US" sz="1000" dirty="0" err="1">
                <a:hlinkClick r:id="rId2"/>
              </a:rPr>
              <a:t>ols</a:t>
            </a:r>
            <a:r>
              <a:rPr lang="en-US" sz="1000" dirty="0">
                <a:hlinkClick r:id="rId2"/>
              </a:rPr>
              <a:t>-linear-regression-assumptions/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45409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1CF57D29-E63F-3A4E-9D4B-4F1E1D0386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364369"/>
              </p:ext>
            </p:extLst>
          </p:nvPr>
        </p:nvGraphicFramePr>
        <p:xfrm>
          <a:off x="5016063" y="2030046"/>
          <a:ext cx="3417210" cy="2344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tb Graph" r:id="rId2" imgW="5086662" imgH="3382780" progId="MinitabGraph.Document">
                  <p:embed/>
                </p:oleObj>
              </mc:Choice>
              <mc:Fallback>
                <p:oleObj name="Mtb Graph" r:id="rId2" imgW="5086662" imgH="3382780" progId="MinitabGraph.Document">
                  <p:embed/>
                  <p:pic>
                    <p:nvPicPr>
                      <p:cNvPr id="972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063" y="2030046"/>
                        <a:ext cx="3417210" cy="23448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1E6F164-48DE-F747-BB61-1946FDC5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for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B4B35-95FE-3A4E-A00E-C7A5D3012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502525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Problem</a:t>
            </a:r>
            <a:r>
              <a:rPr lang="en-US" sz="1800" dirty="0"/>
              <a:t>: Non-linearity of the target-features relationship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FAF9A6-521E-954E-A802-AE9F637DBF86}"/>
              </a:ext>
            </a:extLst>
          </p:cNvPr>
          <p:cNvSpPr txBox="1"/>
          <p:nvPr/>
        </p:nvSpPr>
        <p:spPr>
          <a:xfrm>
            <a:off x="630621" y="1702676"/>
            <a:ext cx="3176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Method 1</a:t>
            </a:r>
            <a:r>
              <a:rPr lang="en-US" sz="1600" dirty="0"/>
              <a:t>: Scatterplot of target vs. each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90DED-8CB6-D745-9603-7126716D01E6}"/>
              </a:ext>
            </a:extLst>
          </p:cNvPr>
          <p:cNvSpPr txBox="1"/>
          <p:nvPr/>
        </p:nvSpPr>
        <p:spPr>
          <a:xfrm>
            <a:off x="4968765" y="1698791"/>
            <a:ext cx="3639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Method 2</a:t>
            </a:r>
            <a:r>
              <a:rPr lang="en-US" sz="1600" dirty="0"/>
              <a:t>: Scatterplot of residuals (errors) vs features or vs. predictions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3CCE17-9143-BE43-9399-6A9DFFDADBE3}"/>
              </a:ext>
            </a:extLst>
          </p:cNvPr>
          <p:cNvCxnSpPr/>
          <p:nvPr/>
        </p:nvCxnSpPr>
        <p:spPr>
          <a:xfrm>
            <a:off x="5675586" y="3287112"/>
            <a:ext cx="20731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60279B-85DA-054B-A527-E8383B7A1C56}"/>
              </a:ext>
            </a:extLst>
          </p:cNvPr>
          <p:cNvSpPr txBox="1"/>
          <p:nvPr/>
        </p:nvSpPr>
        <p:spPr>
          <a:xfrm>
            <a:off x="5050221" y="4261677"/>
            <a:ext cx="3176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Errors should be uniformly distributed around the 0 line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B9B5F2-3D3B-5B49-9A86-333366AA9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02" y="2500369"/>
            <a:ext cx="2928570" cy="15734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AC83EE-744C-6540-9241-39170AEFEE3A}"/>
              </a:ext>
            </a:extLst>
          </p:cNvPr>
          <p:cNvSpPr txBox="1"/>
          <p:nvPr/>
        </p:nvSpPr>
        <p:spPr>
          <a:xfrm>
            <a:off x="754711" y="4153955"/>
            <a:ext cx="31767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Target should be roughly linearly related to the features (difficult to assess with many features)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58D618-E164-2C41-9D74-E3830C70BEA0}"/>
              </a:ext>
            </a:extLst>
          </p:cNvPr>
          <p:cNvCxnSpPr/>
          <p:nvPr/>
        </p:nvCxnSpPr>
        <p:spPr>
          <a:xfrm flipV="1">
            <a:off x="1068113" y="2657657"/>
            <a:ext cx="2317531" cy="9597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7F4877-0FA3-A64E-B432-698C670C07E4}"/>
                  </a:ext>
                </a:extLst>
              </p:cNvPr>
              <p:cNvSpPr txBox="1"/>
              <p:nvPr/>
            </p:nvSpPr>
            <p:spPr>
              <a:xfrm>
                <a:off x="6334471" y="3976041"/>
                <a:ext cx="780393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7F4877-0FA3-A64E-B432-698C670C0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1" y="3976041"/>
                <a:ext cx="780393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195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87F89728-977E-914C-9B8C-74A0DE55A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274" y="2196057"/>
            <a:ext cx="3221182" cy="21000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E6F164-48DE-F747-BB61-1946FDC5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for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B4B35-95FE-3A4E-A00E-C7A5D3012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52322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Problem: </a:t>
            </a:r>
            <a:r>
              <a:rPr lang="en-US" sz="1800" dirty="0"/>
              <a:t>Non-constant variance of errors (heteroscedasticity)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F98E17-89CA-C449-BF3C-D63F9C85CFAF}"/>
              </a:ext>
            </a:extLst>
          </p:cNvPr>
          <p:cNvSpPr txBox="1"/>
          <p:nvPr/>
        </p:nvSpPr>
        <p:spPr>
          <a:xfrm>
            <a:off x="802906" y="4296101"/>
            <a:ext cx="7356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the </a:t>
            </a:r>
            <a:r>
              <a:rPr lang="en-US" sz="1400"/>
              <a:t>residuals plot, variance </a:t>
            </a:r>
            <a:r>
              <a:rPr lang="en-US" sz="1400" dirty="0"/>
              <a:t>should be evenly scattered around the 0 line and should not increase or decrease with the predicted values (no funnel shape)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8F8845-6BD8-9748-BB5A-CA86FD528A81}"/>
              </a:ext>
            </a:extLst>
          </p:cNvPr>
          <p:cNvSpPr txBox="1"/>
          <p:nvPr/>
        </p:nvSpPr>
        <p:spPr>
          <a:xfrm>
            <a:off x="4436262" y="1666463"/>
            <a:ext cx="3639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Scatterplot of residuals (errors) vs. predictions</a:t>
            </a:r>
          </a:p>
        </p:txBody>
      </p:sp>
      <p:pic>
        <p:nvPicPr>
          <p:cNvPr id="3074" name="Picture 2" descr="Plot No. 2 demonstrating heteroscedasticity (heteroskedasticity)">
            <a:extLst>
              <a:ext uri="{FF2B5EF4-FFF2-40B4-BE49-F238E27FC236}">
                <a16:creationId xmlns:a16="http://schemas.microsoft.com/office/drawing/2014/main" id="{3C6D0C37-5F73-13A0-B230-47A9BB298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0" y="1875600"/>
            <a:ext cx="2472732" cy="233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3782E-8018-8D0E-4889-B2BE2051BDD9}"/>
              </a:ext>
            </a:extLst>
          </p:cNvPr>
          <p:cNvSpPr txBox="1"/>
          <p:nvPr/>
        </p:nvSpPr>
        <p:spPr>
          <a:xfrm>
            <a:off x="630621" y="1702676"/>
            <a:ext cx="31767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Scatterplot of target vs. a feature</a:t>
            </a:r>
          </a:p>
        </p:txBody>
      </p:sp>
    </p:spTree>
    <p:extLst>
      <p:ext uri="{BB962C8B-B14F-4D97-AF65-F5344CB8AC3E}">
        <p14:creationId xmlns:p14="http://schemas.microsoft.com/office/powerpoint/2010/main" val="2917485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22B8-0759-899C-BCAB-27D96056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for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B5BA-435E-CFBA-671C-932427CDB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498" y="1200151"/>
            <a:ext cx="2967135" cy="318135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/>
              <a:t>Based on the residuals plot, do you see evidence of any problems with using linear regression: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sz="1400" dirty="0"/>
              <a:t>Non-linearity of the target-features relationship?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sz="1400" dirty="0"/>
              <a:t>Non-constant variance or correlation of error terms?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sz="1400" dirty="0"/>
              <a:t>Collinearity or multicollinearity of feature variables?</a:t>
            </a:r>
          </a:p>
          <a:p>
            <a:pPr>
              <a:spcAft>
                <a:spcPts val="600"/>
              </a:spcAft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1C526A-9BA0-16AE-BD80-B2675DA67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633" y="1302788"/>
            <a:ext cx="4658042" cy="334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14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6F164-48DE-F747-BB61-1946FDC5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for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B4B35-95FE-3A4E-A00E-C7A5D3012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Problem: </a:t>
            </a:r>
            <a:r>
              <a:rPr lang="en-US" sz="1800" dirty="0"/>
              <a:t>Collinearity or multicollinearity of feature variables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36D3FE-A609-4E4C-BEA2-C85F406FA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596" y="1912245"/>
            <a:ext cx="2453528" cy="1956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B3F590-84A6-384E-8F6F-27CE3C2FEFC7}"/>
              </a:ext>
            </a:extLst>
          </p:cNvPr>
          <p:cNvSpPr txBox="1"/>
          <p:nvPr/>
        </p:nvSpPr>
        <p:spPr>
          <a:xfrm>
            <a:off x="770476" y="4002991"/>
            <a:ext cx="73566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Severe collinearity or multicollinearity can result in major swings of the correlated variable coefficients as the training data changes, making interpretation difficult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However, it usually does not significantly impact model’s prediction 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3CA2DCFA-FF55-774E-8AA7-BA5AE71AF627}"/>
                  </a:ext>
                </a:extLst>
              </p:cNvPr>
              <p:cNvSpPr txBox="1"/>
              <p:nvPr/>
            </p:nvSpPr>
            <p:spPr bwMode="auto">
              <a:xfrm>
                <a:off x="457200" y="2770433"/>
                <a:ext cx="4776951" cy="770917"/>
              </a:xfrm>
              <a:prstGeom prst="rect">
                <a:avLst/>
              </a:prstGeom>
              <a:noFill/>
              <a:ln w="19050">
                <a:noFill/>
              </a:ln>
              <a:effectLst/>
            </p:spPr>
            <p:txBody>
              <a:bodyPr wrap="square" tIns="91440" bIns="9144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cor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̄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̄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3CA2DCFA-FF55-774E-8AA7-BA5AE71AF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770433"/>
                <a:ext cx="4776951" cy="770917"/>
              </a:xfrm>
              <a:prstGeom prst="rect">
                <a:avLst/>
              </a:prstGeom>
              <a:blipFill>
                <a:blip r:embed="rId3"/>
                <a:stretch>
                  <a:fillRect t="-41935" b="-72581"/>
                </a:stretch>
              </a:blipFill>
              <a:ln w="1905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266C63D-4F38-E94B-B24F-F187E75E7E36}"/>
              </a:ext>
            </a:extLst>
          </p:cNvPr>
          <p:cNvSpPr txBox="1"/>
          <p:nvPr/>
        </p:nvSpPr>
        <p:spPr>
          <a:xfrm>
            <a:off x="457200" y="1768604"/>
            <a:ext cx="47769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Collinearity</a:t>
            </a:r>
            <a:r>
              <a:rPr lang="en-US" sz="1400" dirty="0"/>
              <a:t> means that one variable is nearly linearly dependent on another variable.  We can detect this by looking at the </a:t>
            </a:r>
            <a:r>
              <a:rPr lang="en-US" sz="1400" b="1" dirty="0"/>
              <a:t>correlation </a:t>
            </a:r>
            <a:r>
              <a:rPr lang="en-US" sz="1400" dirty="0"/>
              <a:t>between two features: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FF5C72-F5D4-7D46-87B4-B44274AC6462}"/>
              </a:ext>
            </a:extLst>
          </p:cNvPr>
          <p:cNvSpPr/>
          <p:nvPr/>
        </p:nvSpPr>
        <p:spPr>
          <a:xfrm>
            <a:off x="5494283" y="1626233"/>
            <a:ext cx="31215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Visualize with a correlation matrix:</a:t>
            </a:r>
          </a:p>
        </p:txBody>
      </p:sp>
    </p:spTree>
    <p:extLst>
      <p:ext uri="{BB962C8B-B14F-4D97-AF65-F5344CB8AC3E}">
        <p14:creationId xmlns:p14="http://schemas.microsoft.com/office/powerpoint/2010/main" val="3388782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7561-9BDB-9D49-94C1-6CF11A213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for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F8978-FB99-104E-9A1E-2D825667C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Violations of the linear regression assumptions do NOT mean that your model has no value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 purpose of checking for these problems is to guide us in how to improve our fit: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Non-linearity may imply we should transform our input feature variables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Non-constant variance may indicate we should transform our output target variable 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Collinearity may mean we should reduce our features to simplify</a:t>
            </a:r>
          </a:p>
        </p:txBody>
      </p:sp>
    </p:spTree>
    <p:extLst>
      <p:ext uri="{BB962C8B-B14F-4D97-AF65-F5344CB8AC3E}">
        <p14:creationId xmlns:p14="http://schemas.microsoft.com/office/powerpoint/2010/main" val="959457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EB9AD-244C-4845-AE64-EB4A55E26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do we do if we violate an assumption?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82B8-AAE0-A54C-A33B-BFF3C7709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4738701" cy="3555999"/>
          </a:xfrm>
        </p:spPr>
        <p:txBody>
          <a:bodyPr/>
          <a:lstStyle/>
          <a:p>
            <a:r>
              <a:rPr lang="en-US" sz="1800" dirty="0"/>
              <a:t>If we observe non-linearity between features and target:</a:t>
            </a:r>
          </a:p>
          <a:p>
            <a:pPr lvl="1"/>
            <a:r>
              <a:rPr lang="en-US" sz="1400" dirty="0"/>
              <a:t>We can transform our input features so that we have a linear relationship between the new features and the target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If we observe non-constant variance of errors across values of y-hat:</a:t>
            </a:r>
          </a:p>
          <a:p>
            <a:pPr lvl="1"/>
            <a:r>
              <a:rPr lang="en-US" sz="1400" dirty="0"/>
              <a:t>We can transform our output so that we have constant variance of error terms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42BCE-220A-F640-9F22-16D93EE82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642" y="1107637"/>
            <a:ext cx="2933700" cy="157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5C061B-588D-2547-9897-013BBB802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901" y="2790826"/>
            <a:ext cx="3221182" cy="210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44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Handling Nonlinear Relationships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689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DE144-F5EC-B64B-A5CF-44E73F774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Feature variable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35E18-2CDE-5543-8FFE-5B142C10BE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sz="1800" dirty="0"/>
                  <a:t>To model a nonlinear relationship with a feature, we can transform the feature by some nonlinear function to create a new feature </a:t>
                </a:r>
                <a:r>
                  <a:rPr lang="en-US" sz="1800" i="1" dirty="0"/>
                  <a:t>z</a:t>
                </a:r>
                <a:r>
                  <a:rPr lang="en-US" sz="1800" dirty="0"/>
                  <a:t>:</a:t>
                </a:r>
              </a:p>
              <a:p>
                <a:pPr>
                  <a:spcAft>
                    <a:spcPts val="600"/>
                  </a:spcAft>
                </a:pPr>
                <a:endParaRPr lang="en-US" sz="800" dirty="0"/>
              </a:p>
              <a:p>
                <a:pPr marL="0" indent="0" algn="ctr">
                  <a:spcAft>
                    <a:spcPts val="600"/>
                  </a:spcAft>
                  <a:buNone/>
                </a:pPr>
                <a:r>
                  <a:rPr lang="en-US" sz="1800" i="1" dirty="0">
                    <a:solidFill>
                      <a:srgbClr val="000000"/>
                    </a:solidFill>
                  </a:rPr>
                  <a:t>z</a:t>
                </a:r>
                <a:r>
                  <a:rPr lang="en-US"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nor/>
                      </m:rPr>
                      <a:rPr lang="en-U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en-U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nor/>
                      </m:rPr>
                      <a:rPr lang="en-U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nor/>
                      </m:rP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1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spcAft>
                    <a:spcPts val="600"/>
                  </a:spcAft>
                  <a:buNone/>
                </a:pPr>
                <a:endParaRPr lang="en-US" sz="8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800" dirty="0"/>
                  <a:t>We can then use our new feature </a:t>
                </a:r>
                <a:r>
                  <a:rPr lang="en-US" sz="1800" i="1" dirty="0"/>
                  <a:t>z</a:t>
                </a:r>
                <a:r>
                  <a:rPr lang="en-US" sz="1800" dirty="0"/>
                  <a:t> as an input to our model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800" dirty="0"/>
                  <a:t>If we can model our target as a linear function of our new feature </a:t>
                </a:r>
                <a:r>
                  <a:rPr lang="en-US" sz="1800" i="1" dirty="0"/>
                  <a:t>z</a:t>
                </a:r>
                <a:r>
                  <a:rPr lang="en-US" sz="1800" dirty="0"/>
                  <a:t>, our model performance should be improved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800" dirty="0"/>
                  <a:t>This is often called “polynomial regression”</a:t>
                </a:r>
              </a:p>
              <a:p>
                <a:pPr>
                  <a:spcAft>
                    <a:spcPts val="600"/>
                  </a:spcAft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35E18-2CDE-5543-8FFE-5B142C10BE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63" t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1710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82CD-B723-3942-80E1-B411DCA9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D55A4-4114-3740-BB55-4E28130BE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894083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Generally when we use polynomial regression with degree = n we include a feature with every degree from 1 to n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We now need to learn n+1 parameters in our model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We can easily do this in Scikit Learn using the </a:t>
            </a:r>
            <a:r>
              <a:rPr lang="en-US" sz="1800" dirty="0" err="1"/>
              <a:t>PolynomialFeatures</a:t>
            </a:r>
            <a:r>
              <a:rPr lang="en-US" sz="1800" dirty="0"/>
              <a:t> class to transform our input data before we build a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445707-E3FF-2C49-98F0-DE1D5768B780}"/>
                  </a:ext>
                </a:extLst>
              </p:cNvPr>
              <p:cNvSpPr txBox="1"/>
              <p:nvPr/>
            </p:nvSpPr>
            <p:spPr>
              <a:xfrm>
                <a:off x="4981904" y="1261241"/>
                <a:ext cx="3610304" cy="2831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Simple degree-1 linear regression:</a:t>
                </a:r>
              </a:p>
              <a:p>
                <a:endParaRPr lang="en-US" sz="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endParaRPr lang="en-US" b="1" dirty="0"/>
              </a:p>
              <a:p>
                <a:r>
                  <a:rPr lang="en-US" b="1" dirty="0"/>
                  <a:t>Simple degree-3 linear regression:</a:t>
                </a:r>
              </a:p>
              <a:p>
                <a:endParaRPr lang="en-US" sz="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445707-E3FF-2C49-98F0-DE1D5768B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904" y="1261241"/>
                <a:ext cx="3610304" cy="2831544"/>
              </a:xfrm>
              <a:prstGeom prst="rect">
                <a:avLst/>
              </a:prstGeom>
              <a:blipFill>
                <a:blip r:embed="rId2"/>
                <a:stretch>
                  <a:fillRect l="-1404" t="-1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ABA81F6-54B6-C042-A332-D9D68A7139D5}"/>
              </a:ext>
            </a:extLst>
          </p:cNvPr>
          <p:cNvSpPr/>
          <p:nvPr/>
        </p:nvSpPr>
        <p:spPr>
          <a:xfrm>
            <a:off x="4776952" y="3846786"/>
            <a:ext cx="4020207" cy="9093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Remember: Linear Regression is linear in the coefficients</a:t>
            </a:r>
          </a:p>
        </p:txBody>
      </p:sp>
    </p:spTree>
    <p:extLst>
      <p:ext uri="{BB962C8B-B14F-4D97-AF65-F5344CB8AC3E}">
        <p14:creationId xmlns:p14="http://schemas.microsoft.com/office/powerpoint/2010/main" val="1178612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539A-CE86-D744-AA5E-C52BE13C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6577BE-0F7C-7447-82E5-923B516ED460}"/>
                  </a:ext>
                </a:extLst>
              </p:cNvPr>
              <p:cNvSpPr txBox="1"/>
              <p:nvPr/>
            </p:nvSpPr>
            <p:spPr>
              <a:xfrm>
                <a:off x="1350941" y="2478869"/>
                <a:ext cx="970137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i="1" dirty="0">
                    <a:solidFill>
                      <a:schemeClr val="tx1"/>
                    </a:solidFill>
                  </a:rPr>
                  <a:t>X </a:t>
                </a:r>
                <a:r>
                  <a:rPr lang="en-US" sz="24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6577BE-0F7C-7447-82E5-923B516ED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941" y="2478869"/>
                <a:ext cx="970137" cy="974241"/>
              </a:xfrm>
              <a:prstGeom prst="rect">
                <a:avLst/>
              </a:prstGeom>
              <a:blipFill>
                <a:blip r:embed="rId2"/>
                <a:stretch>
                  <a:fillRect l="-19481" t="-1299" b="-10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50BED7-1A28-7247-BB04-CB21D68ED1C6}"/>
                  </a:ext>
                </a:extLst>
              </p:cNvPr>
              <p:cNvSpPr txBox="1"/>
              <p:nvPr/>
            </p:nvSpPr>
            <p:spPr>
              <a:xfrm>
                <a:off x="5430553" y="2478869"/>
                <a:ext cx="2109873" cy="1015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i="1" dirty="0">
                    <a:solidFill>
                      <a:schemeClr val="tx1"/>
                    </a:solidFill>
                  </a:rPr>
                  <a:t>X </a:t>
                </a:r>
                <a:r>
                  <a:rPr lang="en-US" sz="24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4, 8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1,3, 9, 27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16, 64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50BED7-1A28-7247-BB04-CB21D68ED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553" y="2478869"/>
                <a:ext cx="2109873" cy="1015727"/>
              </a:xfrm>
              <a:prstGeom prst="rect">
                <a:avLst/>
              </a:prstGeom>
              <a:blipFill>
                <a:blip r:embed="rId3"/>
                <a:stretch>
                  <a:fillRect l="-8982" t="-3704" b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>
            <a:extLst>
              <a:ext uri="{FF2B5EF4-FFF2-40B4-BE49-F238E27FC236}">
                <a16:creationId xmlns:a16="http://schemas.microsoft.com/office/drawing/2014/main" id="{7FF80B26-A1A6-854C-9AD4-42D564649B20}"/>
              </a:ext>
            </a:extLst>
          </p:cNvPr>
          <p:cNvSpPr/>
          <p:nvPr/>
        </p:nvSpPr>
        <p:spPr>
          <a:xfrm>
            <a:off x="3621342" y="2294954"/>
            <a:ext cx="970137" cy="152942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3DA5F-6DEE-3744-BB14-CF1DC96DAF77}"/>
              </a:ext>
            </a:extLst>
          </p:cNvPr>
          <p:cNvSpPr txBox="1"/>
          <p:nvPr/>
        </p:nvSpPr>
        <p:spPr>
          <a:xfrm>
            <a:off x="1836008" y="2090392"/>
            <a:ext cx="598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C25BE5-6B3B-7C4D-8367-4519F500724D}"/>
              </a:ext>
            </a:extLst>
          </p:cNvPr>
          <p:cNvSpPr txBox="1"/>
          <p:nvPr/>
        </p:nvSpPr>
        <p:spPr>
          <a:xfrm>
            <a:off x="5891743" y="2082129"/>
            <a:ext cx="166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X</a:t>
            </a:r>
            <a:r>
              <a:rPr lang="en-US" baseline="-25000" dirty="0">
                <a:solidFill>
                  <a:schemeClr val="accent1"/>
                </a:solidFill>
              </a:rPr>
              <a:t>0 </a:t>
            </a:r>
            <a:r>
              <a:rPr lang="en-US" dirty="0">
                <a:solidFill>
                  <a:schemeClr val="accent1"/>
                </a:solidFill>
              </a:rPr>
              <a:t>X</a:t>
            </a:r>
            <a:r>
              <a:rPr lang="en-US" baseline="-25000" dirty="0">
                <a:solidFill>
                  <a:schemeClr val="accent1"/>
                </a:solidFill>
              </a:rPr>
              <a:t>1  </a:t>
            </a:r>
            <a:r>
              <a:rPr lang="en-US" dirty="0">
                <a:solidFill>
                  <a:schemeClr val="accent1"/>
                </a:solidFill>
              </a:rPr>
              <a:t>X</a:t>
            </a:r>
            <a:r>
              <a:rPr lang="en-US" baseline="-25000" dirty="0">
                <a:solidFill>
                  <a:schemeClr val="accent1"/>
                </a:solidFill>
              </a:rPr>
              <a:t>2  </a:t>
            </a:r>
            <a:r>
              <a:rPr lang="en-US" dirty="0">
                <a:solidFill>
                  <a:schemeClr val="accent1"/>
                </a:solidFill>
              </a:rPr>
              <a:t>X</a:t>
            </a:r>
            <a:r>
              <a:rPr lang="en-US" baseline="-25000" dirty="0">
                <a:solidFill>
                  <a:schemeClr val="accent1"/>
                </a:solidFill>
              </a:rPr>
              <a:t>3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A3DAFE6-406B-A34F-A1E1-A1EF433ADC3D}"/>
                  </a:ext>
                </a:extLst>
              </p:cNvPr>
              <p:cNvSpPr/>
              <p:nvPr/>
            </p:nvSpPr>
            <p:spPr>
              <a:xfrm>
                <a:off x="1153482" y="1617289"/>
                <a:ext cx="17166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A3DAFE6-406B-A34F-A1E1-A1EF433AD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482" y="1617289"/>
                <a:ext cx="1716687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CE8A2B8-66B1-0147-9F7A-9159EDE81854}"/>
                  </a:ext>
                </a:extLst>
              </p:cNvPr>
              <p:cNvSpPr/>
              <p:nvPr/>
            </p:nvSpPr>
            <p:spPr>
              <a:xfrm>
                <a:off x="4759162" y="1616318"/>
                <a:ext cx="32525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CE8A2B8-66B1-0147-9F7A-9159EDE81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162" y="1616318"/>
                <a:ext cx="3252557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5F972BCF-A81A-6E4F-8DD7-5E245C960629}"/>
              </a:ext>
            </a:extLst>
          </p:cNvPr>
          <p:cNvSpPr/>
          <p:nvPr/>
        </p:nvSpPr>
        <p:spPr>
          <a:xfrm>
            <a:off x="477798" y="1188093"/>
            <a:ext cx="3095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Degree-1 linear regression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0A0420-46B6-2846-A7C9-81DC4D87CCB9}"/>
              </a:ext>
            </a:extLst>
          </p:cNvPr>
          <p:cNvSpPr/>
          <p:nvPr/>
        </p:nvSpPr>
        <p:spPr>
          <a:xfrm>
            <a:off x="4837582" y="1188093"/>
            <a:ext cx="3095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Degree-3 linear regression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74978B-B4B5-5A45-8827-21EFE4CB51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6765" y="3982662"/>
            <a:ext cx="4694824" cy="76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47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BA917-D1C8-9F4E-8091-61A88ECE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96319-3343-0C41-AC7E-5C0AAE5E0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Linear Regression assumes that the effect of each feature is independent of the other features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If we increase feature x</a:t>
            </a:r>
            <a:r>
              <a:rPr lang="en-US" sz="1400" baseline="-25000" dirty="0"/>
              <a:t>1</a:t>
            </a:r>
            <a:r>
              <a:rPr lang="en-US" sz="1400" dirty="0"/>
              <a:t> by 1 unit, we increase the target by w</a:t>
            </a:r>
            <a:r>
              <a:rPr lang="en-US" sz="1400" baseline="-25000" dirty="0"/>
              <a:t>1</a:t>
            </a:r>
            <a:r>
              <a:rPr lang="en-US" sz="1400" dirty="0"/>
              <a:t> units (coefficient of x</a:t>
            </a:r>
            <a:r>
              <a:rPr lang="en-US" sz="1400" baseline="-25000" dirty="0"/>
              <a:t>1</a:t>
            </a:r>
            <a:r>
              <a:rPr lang="en-US" sz="1400" dirty="0"/>
              <a:t>)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In real life, we sometimes have synergy effects (or “interaction” effects), of features with each other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400" dirty="0"/>
              <a:t>Changing the value of one feature causes the relationship of another feature to the target to change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These can be observed graphically, but usually rely on domain expertise to know they exist</a:t>
            </a:r>
          </a:p>
          <a:p>
            <a:pPr>
              <a:spcAft>
                <a:spcPts val="6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09347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52DC6-2914-E14C-9DF9-9328B10A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Example – Power Outage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78EB2-64DD-4946-A389-3BDF262BB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47208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/>
              <a:t>Power outages are generally caused by wind blowing trees onto lines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Thus, wind speed is a key feature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However, when the ground is very wet from recent rain, smaller increases in wind speed can cause more trees to fall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Thus, the presence of this feature (recent rain) changes the relationship between another feature (wind speed) and target (# of outages)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8C7112-05A4-0C49-B937-1CD7E11FF0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44" t="12786" r="5147" b="23950"/>
          <a:stretch/>
        </p:blipFill>
        <p:spPr>
          <a:xfrm>
            <a:off x="4639594" y="1259228"/>
            <a:ext cx="4047209" cy="262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73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3378-B6EA-3B47-99A5-92E02D48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Interaction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DE80E-6C32-7B4C-9052-9BEFEFEA3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945" y="1186773"/>
            <a:ext cx="4236855" cy="30724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/>
              <a:t>We can add features to account for potential interaction terms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Scikit </a:t>
            </a:r>
            <a:r>
              <a:rPr lang="en-US" sz="1600" dirty="0" err="1"/>
              <a:t>Learn’s</a:t>
            </a:r>
            <a:r>
              <a:rPr lang="en-US" sz="1600" dirty="0"/>
              <a:t> </a:t>
            </a:r>
            <a:r>
              <a:rPr lang="en-US" sz="1600" dirty="0" err="1"/>
              <a:t>PolynomialFeatures</a:t>
            </a:r>
            <a:r>
              <a:rPr lang="en-US" sz="1600" dirty="0"/>
              <a:t>() creates interaction terms automatically using the degree provided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We can also use ONLY the interaction terms if we wish and exclude the polynomial terms</a:t>
            </a:r>
          </a:p>
          <a:p>
            <a:pPr>
              <a:spcAft>
                <a:spcPts val="600"/>
              </a:spcAft>
            </a:pPr>
            <a:endParaRPr lang="en-US" sz="1600" dirty="0"/>
          </a:p>
          <a:p>
            <a:pPr>
              <a:spcAft>
                <a:spcPts val="600"/>
              </a:spcAft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BFA38C-36C9-1D40-BD66-BD3EC4BDF62C}"/>
                  </a:ext>
                </a:extLst>
              </p:cNvPr>
              <p:cNvSpPr txBox="1"/>
              <p:nvPr/>
            </p:nvSpPr>
            <p:spPr>
              <a:xfrm>
                <a:off x="457200" y="1186773"/>
                <a:ext cx="3536114" cy="2277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Normal linear regression:</a:t>
                </a:r>
              </a:p>
              <a:p>
                <a:endParaRPr lang="en-US" sz="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b="1" dirty="0"/>
              </a:p>
              <a:p>
                <a:r>
                  <a:rPr lang="en-US" b="1" dirty="0"/>
                  <a:t>With interaction term:</a:t>
                </a:r>
              </a:p>
              <a:p>
                <a:endParaRPr lang="en-US" sz="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BFA38C-36C9-1D40-BD66-BD3EC4BDF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86773"/>
                <a:ext cx="3536114" cy="2277547"/>
              </a:xfrm>
              <a:prstGeom prst="rect">
                <a:avLst/>
              </a:prstGeom>
              <a:blipFill>
                <a:blip r:embed="rId2"/>
                <a:stretch>
                  <a:fillRect l="-1434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CF1E0FFB-C70C-2A49-A020-3AA2041DC8E2}"/>
              </a:ext>
            </a:extLst>
          </p:cNvPr>
          <p:cNvSpPr/>
          <p:nvPr/>
        </p:nvSpPr>
        <p:spPr>
          <a:xfrm>
            <a:off x="3021106" y="2497282"/>
            <a:ext cx="972208" cy="46728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FE4DCF-B83C-AC4F-ABF3-1AECFD57E62E}"/>
                  </a:ext>
                </a:extLst>
              </p:cNvPr>
              <p:cNvSpPr/>
              <p:nvPr/>
            </p:nvSpPr>
            <p:spPr>
              <a:xfrm>
                <a:off x="2529996" y="3027562"/>
                <a:ext cx="191994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FE4DCF-B83C-AC4F-ABF3-1AECFD57E6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996" y="3027562"/>
                <a:ext cx="191994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0871D09-899B-5940-913B-95475610C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774" y="4000449"/>
            <a:ext cx="6788343" cy="52430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3D729C0-2C4D-6745-B1F4-16FFDB14A3CA}"/>
              </a:ext>
            </a:extLst>
          </p:cNvPr>
          <p:cNvSpPr/>
          <p:nvPr/>
        </p:nvSpPr>
        <p:spPr>
          <a:xfrm>
            <a:off x="5924350" y="4000449"/>
            <a:ext cx="1833612" cy="46728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84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Regularization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606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816FD-A423-CF4F-8974-E4927F1B9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9FD42-1BE7-7145-AEFE-5BFFD0A9A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US" sz="1800" dirty="0"/>
              <a:t>The training method (minimizing sum of squared error) we have been using tends to reward complexity / overfitting</a:t>
            </a:r>
          </a:p>
          <a:p>
            <a:pPr lvl="1">
              <a:spcAft>
                <a:spcPts val="800"/>
              </a:spcAft>
            </a:pPr>
            <a:r>
              <a:rPr lang="en-US" sz="1600" dirty="0"/>
              <a:t>More complex models fit the training data better and reduce training error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However, we know that complex models have higher variance and thus may not predict as well on new data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How can we build a regression model in a more balanced way?</a:t>
            </a:r>
          </a:p>
          <a:p>
            <a:pPr lvl="1">
              <a:spcAft>
                <a:spcPts val="800"/>
              </a:spcAft>
            </a:pPr>
            <a:r>
              <a:rPr lang="en-US" sz="1600" dirty="0"/>
              <a:t>We add a penalty factor to our cost function to penalize complexity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The penalty term we add to the cost function penalizes complexity in terms of number of features and their magnitude of contribution</a:t>
            </a:r>
          </a:p>
          <a:p>
            <a:pPr>
              <a:spcAft>
                <a:spcPts val="800"/>
              </a:spcAft>
            </a:pPr>
            <a:endParaRPr lang="en-US" sz="2000" dirty="0"/>
          </a:p>
          <a:p>
            <a:pPr lvl="1">
              <a:spcAft>
                <a:spcPts val="8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38390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199D3DA-0B33-FD4E-A538-064CEA48D125}"/>
              </a:ext>
            </a:extLst>
          </p:cNvPr>
          <p:cNvSpPr/>
          <p:nvPr/>
        </p:nvSpPr>
        <p:spPr>
          <a:xfrm>
            <a:off x="425992" y="1209035"/>
            <a:ext cx="7281094" cy="792831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EA042-9CEB-8742-9D6E-B6B26109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61F34-CF1D-564B-8FC0-1CD9925DB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992" y="2130949"/>
            <a:ext cx="7730130" cy="1470508"/>
          </a:xfrm>
        </p:spPr>
        <p:txBody>
          <a:bodyPr/>
          <a:lstStyle/>
          <a:p>
            <a:r>
              <a:rPr lang="en-US" sz="1600" dirty="0"/>
              <a:t>We add a penalty term to the cost function that is a function of the sum of the coefficients</a:t>
            </a:r>
          </a:p>
          <a:p>
            <a:r>
              <a:rPr lang="en-US" sz="1600" dirty="0"/>
              <a:t>Now, higher number or values of coefficients increases the cost function</a:t>
            </a:r>
          </a:p>
          <a:p>
            <a:r>
              <a:rPr lang="en-US" sz="1600" dirty="0"/>
              <a:t>Minimizing this new cost function seeks optimal balance of the model fit with the number &amp; magnitude of coefficients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905BE1-8F44-A147-B370-98CB78AA5C20}"/>
                  </a:ext>
                </a:extLst>
              </p:cNvPr>
              <p:cNvSpPr/>
              <p:nvPr/>
            </p:nvSpPr>
            <p:spPr>
              <a:xfrm>
                <a:off x="2505710" y="3757928"/>
                <a:ext cx="5354323" cy="698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𝑃𝑒𝑛𝑎𝑙𝑡𝑦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905BE1-8F44-A147-B370-98CB78AA5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710" y="3757928"/>
                <a:ext cx="5354323" cy="698140"/>
              </a:xfrm>
              <a:prstGeom prst="rect">
                <a:avLst/>
              </a:prstGeom>
              <a:blipFill>
                <a:blip r:embed="rId2"/>
                <a:stretch>
                  <a:fillRect t="-91071" b="-148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FFD2243-2C57-054D-AEE1-7CF8978C7EEF}"/>
              </a:ext>
            </a:extLst>
          </p:cNvPr>
          <p:cNvSpPr/>
          <p:nvPr/>
        </p:nvSpPr>
        <p:spPr>
          <a:xfrm>
            <a:off x="6084074" y="3797070"/>
            <a:ext cx="1775959" cy="59531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AF95DA9-2A9B-3141-B539-8F1132E2457D}"/>
                  </a:ext>
                </a:extLst>
              </p:cNvPr>
              <p:cNvSpPr/>
              <p:nvPr/>
            </p:nvSpPr>
            <p:spPr>
              <a:xfrm>
                <a:off x="3291478" y="1266637"/>
                <a:ext cx="4415608" cy="698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AF95DA9-2A9B-3141-B539-8F1132E245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478" y="1266637"/>
                <a:ext cx="4415608" cy="698140"/>
              </a:xfrm>
              <a:prstGeom prst="rect">
                <a:avLst/>
              </a:prstGeom>
              <a:blipFill>
                <a:blip r:embed="rId3"/>
                <a:stretch>
                  <a:fillRect t="-91071" b="-148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BEC65AF-094A-DC4F-8EC2-A9C494D4CAFC}"/>
              </a:ext>
            </a:extLst>
          </p:cNvPr>
          <p:cNvSpPr txBox="1">
            <a:spLocks/>
          </p:cNvSpPr>
          <p:nvPr/>
        </p:nvSpPr>
        <p:spPr bwMode="auto">
          <a:xfrm>
            <a:off x="532217" y="1326644"/>
            <a:ext cx="2688683" cy="60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Normal linear regression cost function: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5B67F47-37FF-864C-8BE1-33B6B8080443}"/>
              </a:ext>
            </a:extLst>
          </p:cNvPr>
          <p:cNvSpPr txBox="1">
            <a:spLocks/>
          </p:cNvSpPr>
          <p:nvPr/>
        </p:nvSpPr>
        <p:spPr bwMode="auto">
          <a:xfrm>
            <a:off x="470897" y="3779766"/>
            <a:ext cx="2332265" cy="434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Cost function with regularization: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D397DC7-95AC-C945-B107-F4AD05992F7F}"/>
              </a:ext>
            </a:extLst>
          </p:cNvPr>
          <p:cNvSpPr/>
          <p:nvPr/>
        </p:nvSpPr>
        <p:spPr>
          <a:xfrm>
            <a:off x="425992" y="3673209"/>
            <a:ext cx="7615830" cy="823649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C3A9DB-36B2-104D-8CD6-8E7DA3D1AF26}"/>
              </a:ext>
            </a:extLst>
          </p:cNvPr>
          <p:cNvCxnSpPr>
            <a:cxnSpLocks/>
          </p:cNvCxnSpPr>
          <p:nvPr/>
        </p:nvCxnSpPr>
        <p:spPr>
          <a:xfrm flipV="1">
            <a:off x="5012871" y="4214701"/>
            <a:ext cx="1224643" cy="454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3C6124-DDD4-9845-A43A-5ABED54B8E73}"/>
                  </a:ext>
                </a:extLst>
              </p:cNvPr>
              <p:cNvSpPr/>
              <p:nvPr/>
            </p:nvSpPr>
            <p:spPr>
              <a:xfrm>
                <a:off x="4787187" y="4656128"/>
                <a:ext cx="277338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𝜆</m:t>
                      </m:r>
                      <m:r>
                        <a:rPr lang="en-US" sz="140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controls</m:t>
                      </m:r>
                      <m:r>
                        <a:rPr lang="en-US" sz="140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strength</m:t>
                      </m:r>
                      <m:r>
                        <a:rPr lang="en-US" sz="140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of</m:t>
                      </m:r>
                      <m:r>
                        <a:rPr lang="en-US" sz="140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the</m:t>
                      </m:r>
                      <m:r>
                        <a:rPr lang="en-US" sz="140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penalty</m:t>
                      </m:r>
                    </m:oMath>
                  </m:oMathPara>
                </a14:m>
                <a:endParaRPr lang="en-US" sz="1400" dirty="0">
                  <a:solidFill>
                    <a:srgbClr val="404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3C6124-DDD4-9845-A43A-5ABED54B8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187" y="4656128"/>
                <a:ext cx="2773388" cy="30777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819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Regularization:</a:t>
            </a:r>
            <a:br>
              <a:rPr lang="en-US" dirty="0"/>
            </a:br>
            <a:r>
              <a:rPr lang="en-US" dirty="0"/>
              <a:t>LASSO &amp; Ridge Regression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191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3D60-3ED9-A642-A90A-E5E6B62E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(L1)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0F0C39-9315-CC4E-931D-E6EABF7DF3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1242"/>
                <a:ext cx="3568262" cy="3120260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sz="1600" dirty="0"/>
                  <a:t>LASSO: Least Absolute Shrinkage &amp; Selection Operator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600" dirty="0"/>
                  <a:t>Penalty factor is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* sum of absolute value of coefficients (L1 norm)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600" dirty="0"/>
                  <a:t>Form of the penalty factor forces coefficients to 0 if not relevant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600" dirty="0"/>
                  <a:t>Can also be considered a feature selection method because it reduces # of features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0F0C39-9315-CC4E-931D-E6EABF7DF3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1242"/>
                <a:ext cx="3568262" cy="3120260"/>
              </a:xfrm>
              <a:blipFill>
                <a:blip r:embed="rId2"/>
                <a:stretch>
                  <a:fillRect l="-712" t="-810" r="-356" b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6D46E95-3E95-F44A-AF9D-8CAF72D09073}"/>
                  </a:ext>
                </a:extLst>
              </p:cNvPr>
              <p:cNvSpPr/>
              <p:nvPr/>
            </p:nvSpPr>
            <p:spPr>
              <a:xfrm>
                <a:off x="4214648" y="1692984"/>
                <a:ext cx="3905429" cy="69814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6D46E95-3E95-F44A-AF9D-8CAF72D090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648" y="1692984"/>
                <a:ext cx="3905429" cy="698140"/>
              </a:xfrm>
              <a:prstGeom prst="rect">
                <a:avLst/>
              </a:prstGeom>
              <a:blipFill>
                <a:blip r:embed="rId3"/>
                <a:stretch>
                  <a:fillRect t="-92857" b="-148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82EA99A-A4F2-FD41-92F2-E4A4C18C8D58}"/>
              </a:ext>
            </a:extLst>
          </p:cNvPr>
          <p:cNvSpPr txBox="1"/>
          <p:nvPr/>
        </p:nvSpPr>
        <p:spPr>
          <a:xfrm>
            <a:off x="4145495" y="1293103"/>
            <a:ext cx="3974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Linear regression cost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0A4645-D6F9-6441-863B-54D669AF9F0B}"/>
                  </a:ext>
                </a:extLst>
              </p:cNvPr>
              <p:cNvSpPr/>
              <p:nvPr/>
            </p:nvSpPr>
            <p:spPr>
              <a:xfrm>
                <a:off x="4214648" y="3182452"/>
                <a:ext cx="4643362" cy="72250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0A4645-D6F9-6441-863B-54D669AF9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648" y="3182452"/>
                <a:ext cx="4643362" cy="722505"/>
              </a:xfrm>
              <a:prstGeom prst="rect">
                <a:avLst/>
              </a:prstGeom>
              <a:blipFill>
                <a:blip r:embed="rId4"/>
                <a:stretch>
                  <a:fillRect t="-89655" b="-139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6031753-8EB9-6E43-9290-8B6EED987E73}"/>
              </a:ext>
            </a:extLst>
          </p:cNvPr>
          <p:cNvSpPr txBox="1"/>
          <p:nvPr/>
        </p:nvSpPr>
        <p:spPr>
          <a:xfrm>
            <a:off x="4187536" y="2780495"/>
            <a:ext cx="3974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LASSO regression cost function: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C33314-BF12-2740-95D5-9930695CE72E}"/>
              </a:ext>
            </a:extLst>
          </p:cNvPr>
          <p:cNvSpPr/>
          <p:nvPr/>
        </p:nvSpPr>
        <p:spPr>
          <a:xfrm>
            <a:off x="7945820" y="3142698"/>
            <a:ext cx="896424" cy="78590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86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3D60-3ED9-A642-A90A-E5E6B62E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(L2)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F0C39-9315-CC4E-931D-E6EABF7DF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1242"/>
            <a:ext cx="3568262" cy="31202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/>
              <a:t>Penalty factor is the sum of squared coefficients (squared L2 norm)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Forces the coefficients of irrelevant variables to be small but not to 0 -&gt; does not perform feature selection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Mathematically more convenient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6D46E95-3E95-F44A-AF9D-8CAF72D09073}"/>
                  </a:ext>
                </a:extLst>
              </p:cNvPr>
              <p:cNvSpPr/>
              <p:nvPr/>
            </p:nvSpPr>
            <p:spPr>
              <a:xfrm>
                <a:off x="4214648" y="1692984"/>
                <a:ext cx="3905429" cy="69814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6D46E95-3E95-F44A-AF9D-8CAF72D090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648" y="1692984"/>
                <a:ext cx="3905429" cy="698140"/>
              </a:xfrm>
              <a:prstGeom prst="rect">
                <a:avLst/>
              </a:prstGeom>
              <a:blipFill>
                <a:blip r:embed="rId2"/>
                <a:stretch>
                  <a:fillRect t="-92857" b="-148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82EA99A-A4F2-FD41-92F2-E4A4C18C8D58}"/>
              </a:ext>
            </a:extLst>
          </p:cNvPr>
          <p:cNvSpPr txBox="1"/>
          <p:nvPr/>
        </p:nvSpPr>
        <p:spPr>
          <a:xfrm>
            <a:off x="4145495" y="1293103"/>
            <a:ext cx="3974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Linear regression cost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0A4645-D6F9-6441-863B-54D669AF9F0B}"/>
                  </a:ext>
                </a:extLst>
              </p:cNvPr>
              <p:cNvSpPr/>
              <p:nvPr/>
            </p:nvSpPr>
            <p:spPr>
              <a:xfrm>
                <a:off x="4214648" y="3182452"/>
                <a:ext cx="4643362" cy="72250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0A4645-D6F9-6441-863B-54D669AF9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648" y="3182452"/>
                <a:ext cx="4643362" cy="722505"/>
              </a:xfrm>
              <a:prstGeom prst="rect">
                <a:avLst/>
              </a:prstGeom>
              <a:blipFill>
                <a:blip r:embed="rId3"/>
                <a:stretch>
                  <a:fillRect t="-89655" r="-272" b="-139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6031753-8EB9-6E43-9290-8B6EED987E73}"/>
              </a:ext>
            </a:extLst>
          </p:cNvPr>
          <p:cNvSpPr txBox="1"/>
          <p:nvPr/>
        </p:nvSpPr>
        <p:spPr>
          <a:xfrm>
            <a:off x="4187536" y="2780495"/>
            <a:ext cx="3974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Ridge regression cost function: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4742D50-7D80-2D46-80C1-B5D66C530515}"/>
              </a:ext>
            </a:extLst>
          </p:cNvPr>
          <p:cNvSpPr/>
          <p:nvPr/>
        </p:nvSpPr>
        <p:spPr>
          <a:xfrm>
            <a:off x="7945820" y="3142698"/>
            <a:ext cx="896424" cy="78590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35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6438-6980-CA44-988B-BADDCD09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vs. Ridge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5CDB84-2DE2-C446-9AD9-C261EE60A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618" y="1926460"/>
            <a:ext cx="3372507" cy="2547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72198A-68C3-1F45-ABA1-C8DF6D0BB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25" y="1926460"/>
            <a:ext cx="3300555" cy="254716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E55F65-3285-764D-8D55-2C4A83D5C225}"/>
              </a:ext>
            </a:extLst>
          </p:cNvPr>
          <p:cNvSpPr/>
          <p:nvPr/>
        </p:nvSpPr>
        <p:spPr>
          <a:xfrm>
            <a:off x="457200" y="1280160"/>
            <a:ext cx="3959352" cy="4297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LASSO Regression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BA55871-54A6-774A-83CD-4317EC8959EE}"/>
              </a:ext>
            </a:extLst>
          </p:cNvPr>
          <p:cNvSpPr/>
          <p:nvPr/>
        </p:nvSpPr>
        <p:spPr>
          <a:xfrm>
            <a:off x="4727448" y="1280159"/>
            <a:ext cx="3959352" cy="4297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Ridge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761801F-0E6C-BA48-8E06-1CA0FD69F455}"/>
                  </a:ext>
                </a:extLst>
              </p:cNvPr>
              <p:cNvSpPr/>
              <p:nvPr/>
            </p:nvSpPr>
            <p:spPr>
              <a:xfrm>
                <a:off x="6560871" y="4473628"/>
                <a:ext cx="31072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761801F-0E6C-BA48-8E06-1CA0FD69F4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71" y="4473628"/>
                <a:ext cx="31072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EE128FE-40CC-AD41-8187-43A1488CF0BE}"/>
                  </a:ext>
                </a:extLst>
              </p:cNvPr>
              <p:cNvSpPr/>
              <p:nvPr/>
            </p:nvSpPr>
            <p:spPr>
              <a:xfrm>
                <a:off x="2133280" y="4487637"/>
                <a:ext cx="31072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EE128FE-40CC-AD41-8187-43A1488CF0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280" y="4487637"/>
                <a:ext cx="31072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731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2141-39B1-B14E-B8BC-01949837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LASSO vs 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A65F5-FD94-B140-8982-1F6BCA1394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Let’s look at a possible set of coefficients for a linear regression model with four features:</a:t>
                </a:r>
              </a:p>
              <a:p>
                <a:pPr lvl="1"/>
                <a:r>
                  <a:rPr lang="en-US" sz="1600" dirty="0"/>
                  <a:t>Coefficient set A: w = [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600" dirty="0"/>
                  <a:t>]</a:t>
                </a:r>
              </a:p>
              <a:p>
                <a:pPr lvl="1"/>
                <a:endParaRPr lang="en-US" sz="1600" dirty="0"/>
              </a:p>
              <a:p>
                <a:pPr lvl="1"/>
                <a:endParaRPr lang="en-US" sz="1600" dirty="0"/>
              </a:p>
              <a:p>
                <a:pPr lvl="1"/>
                <a:endParaRPr lang="en-US" sz="1600" dirty="0"/>
              </a:p>
              <a:p>
                <a:pPr lvl="1"/>
                <a:endParaRPr lang="en-US" sz="1600" dirty="0"/>
              </a:p>
              <a:p>
                <a:pPr marL="457200" lvl="1" indent="0">
                  <a:buNone/>
                </a:pPr>
                <a:endParaRPr lang="en-US" sz="1600" dirty="0"/>
              </a:p>
              <a:p>
                <a:r>
                  <a:rPr lang="en-US" sz="1800" dirty="0"/>
                  <a:t>Ridge penalizes this model more aggressively than LASSO does, but both Ridge and LASSO would seek another coefficient set that yields a similar SSE at a lower penalty</a:t>
                </a:r>
              </a:p>
              <a:p>
                <a:pPr lvl="1"/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A65F5-FD94-B140-8982-1F6BCA1394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63" t="-794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3DDC756-15EF-2746-ABEB-3F2E07970A0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65990" y="2287620"/>
              <a:ext cx="6007320" cy="1006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2440">
                      <a:extLst>
                        <a:ext uri="{9D8B030D-6E8A-4147-A177-3AD203B41FA5}">
                          <a16:colId xmlns:a16="http://schemas.microsoft.com/office/drawing/2014/main" val="1094074196"/>
                        </a:ext>
                      </a:extLst>
                    </a:gridCol>
                    <a:gridCol w="2002440">
                      <a:extLst>
                        <a:ext uri="{9D8B030D-6E8A-4147-A177-3AD203B41FA5}">
                          <a16:colId xmlns:a16="http://schemas.microsoft.com/office/drawing/2014/main" val="147196660"/>
                        </a:ext>
                      </a:extLst>
                    </a:gridCol>
                    <a:gridCol w="2002440">
                      <a:extLst>
                        <a:ext uri="{9D8B030D-6E8A-4147-A177-3AD203B41FA5}">
                          <a16:colId xmlns:a16="http://schemas.microsoft.com/office/drawing/2014/main" val="9927621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Ridge penalty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oMath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LASSO penalty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nary>
                            </m:oMath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53077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Set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r>
                            <a:rPr lang="en-US" sz="16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*8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0543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3DDC756-15EF-2746-ABEB-3F2E07970A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6698986"/>
                  </p:ext>
                </p:extLst>
              </p:nvPr>
            </p:nvGraphicFramePr>
            <p:xfrm>
              <a:off x="1165990" y="2287620"/>
              <a:ext cx="6007320" cy="1006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2440">
                      <a:extLst>
                        <a:ext uri="{9D8B030D-6E8A-4147-A177-3AD203B41FA5}">
                          <a16:colId xmlns:a16="http://schemas.microsoft.com/office/drawing/2014/main" val="1094074196"/>
                        </a:ext>
                      </a:extLst>
                    </a:gridCol>
                    <a:gridCol w="2002440">
                      <a:extLst>
                        <a:ext uri="{9D8B030D-6E8A-4147-A177-3AD203B41FA5}">
                          <a16:colId xmlns:a16="http://schemas.microsoft.com/office/drawing/2014/main" val="147196660"/>
                        </a:ext>
                      </a:extLst>
                    </a:gridCol>
                    <a:gridCol w="2002440">
                      <a:extLst>
                        <a:ext uri="{9D8B030D-6E8A-4147-A177-3AD203B41FA5}">
                          <a16:colId xmlns:a16="http://schemas.microsoft.com/office/drawing/2014/main" val="992762112"/>
                        </a:ext>
                      </a:extLst>
                    </a:gridCol>
                  </a:tblGrid>
                  <a:tr h="635572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9608" r="-101266" b="-901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9608" r="-1266" b="-901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3077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Set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10345" r="-101266" b="-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210345" r="-1266" b="-58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5434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80643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2141-39B1-B14E-B8BC-01949837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LASSO vs 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A65F5-FD94-B140-8982-1F6BCA1394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Now let’s reduce the coefficients towards 0 and compare two options:</a:t>
                </a:r>
              </a:p>
              <a:p>
                <a:pPr lvl="1"/>
                <a:r>
                  <a:rPr lang="en-US" sz="1600" dirty="0"/>
                  <a:t>Coefficient set B: w = [1, 0, 0, 0]</a:t>
                </a:r>
              </a:p>
              <a:p>
                <a:pPr lvl="1"/>
                <a:r>
                  <a:rPr lang="en-US" sz="1600" dirty="0"/>
                  <a:t>Coefficient set C: w =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/>
                  <a:t>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/>
                  <a:t>]</a:t>
                </a:r>
              </a:p>
              <a:p>
                <a:pPr lvl="1"/>
                <a:endParaRPr lang="en-US" sz="1600" dirty="0"/>
              </a:p>
              <a:p>
                <a:pPr lvl="1"/>
                <a:endParaRPr lang="en-US" sz="16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lvl="1"/>
                <a:endParaRPr lang="en-US" sz="1600" dirty="0"/>
              </a:p>
              <a:p>
                <a:pPr lvl="1"/>
                <a:endParaRPr lang="en-US" sz="1100" dirty="0"/>
              </a:p>
              <a:p>
                <a:r>
                  <a:rPr lang="en-US" sz="1800" dirty="0"/>
                  <a:t>The L2 norm is equal and so Ridge penalizes them equally (and picks whichever set minimizes SSE)</a:t>
                </a:r>
              </a:p>
              <a:p>
                <a:r>
                  <a:rPr lang="en-US" sz="1800" dirty="0"/>
                  <a:t>LASSO penalizes Set C much more than the sparse Set B, driving towards a sparse solution</a:t>
                </a:r>
              </a:p>
              <a:p>
                <a:pPr lvl="1"/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A65F5-FD94-B140-8982-1F6BCA1394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t="-794" r="-1389" b="-18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3DDC756-15EF-2746-ABEB-3F2E07970A0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26755" y="2268840"/>
              <a:ext cx="6007320" cy="1377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2440">
                      <a:extLst>
                        <a:ext uri="{9D8B030D-6E8A-4147-A177-3AD203B41FA5}">
                          <a16:colId xmlns:a16="http://schemas.microsoft.com/office/drawing/2014/main" val="1094074196"/>
                        </a:ext>
                      </a:extLst>
                    </a:gridCol>
                    <a:gridCol w="2002440">
                      <a:extLst>
                        <a:ext uri="{9D8B030D-6E8A-4147-A177-3AD203B41FA5}">
                          <a16:colId xmlns:a16="http://schemas.microsoft.com/office/drawing/2014/main" val="147196660"/>
                        </a:ext>
                      </a:extLst>
                    </a:gridCol>
                    <a:gridCol w="2002440">
                      <a:extLst>
                        <a:ext uri="{9D8B030D-6E8A-4147-A177-3AD203B41FA5}">
                          <a16:colId xmlns:a16="http://schemas.microsoft.com/office/drawing/2014/main" val="9927621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Ridge penalty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oMath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LASSO penalty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nary>
                            </m:oMath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53077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Set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*1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05434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Set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9865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3DDC756-15EF-2746-ABEB-3F2E07970A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8535027"/>
                  </p:ext>
                </p:extLst>
              </p:nvPr>
            </p:nvGraphicFramePr>
            <p:xfrm>
              <a:off x="1026755" y="2268840"/>
              <a:ext cx="6007320" cy="1377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2440">
                      <a:extLst>
                        <a:ext uri="{9D8B030D-6E8A-4147-A177-3AD203B41FA5}">
                          <a16:colId xmlns:a16="http://schemas.microsoft.com/office/drawing/2014/main" val="1094074196"/>
                        </a:ext>
                      </a:extLst>
                    </a:gridCol>
                    <a:gridCol w="2002440">
                      <a:extLst>
                        <a:ext uri="{9D8B030D-6E8A-4147-A177-3AD203B41FA5}">
                          <a16:colId xmlns:a16="http://schemas.microsoft.com/office/drawing/2014/main" val="147196660"/>
                        </a:ext>
                      </a:extLst>
                    </a:gridCol>
                    <a:gridCol w="2002440">
                      <a:extLst>
                        <a:ext uri="{9D8B030D-6E8A-4147-A177-3AD203B41FA5}">
                          <a16:colId xmlns:a16="http://schemas.microsoft.com/office/drawing/2014/main" val="992762112"/>
                        </a:ext>
                      </a:extLst>
                    </a:gridCol>
                  </a:tblGrid>
                  <a:tr h="635572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7647" r="-101899" b="-1215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7647" r="-1899" b="-1215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3077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Set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206897" r="-101899" b="-1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6897" r="-1899" b="-1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5434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Set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296667" r="-101899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96667" r="-1899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9865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9360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6E8A-84F3-EB4F-8338-277FD72D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geometric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7C2C88-4A2D-8D48-A13C-89812F1D2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Suppose we have a linear regression model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/>
              </a:p>
              <a:p>
                <a:endParaRPr lang="en-US" sz="800" dirty="0"/>
              </a:p>
              <a:p>
                <a:r>
                  <a:rPr lang="en-US" sz="1800" dirty="0"/>
                  <a:t>Now, suppose we have a single point: x=[2,1] y=[5]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To calculate our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we plug in the point values: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r>
                  <a:rPr lang="en-US" sz="1800" dirty="0"/>
                  <a:t>There are an infinite number of possible solutions to this, and they all fall on the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=5−2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7C2C88-4A2D-8D48-A13C-89812F1D2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t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478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6E8A-84F3-EB4F-8338-277FD72D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 geometric perspective - LASSO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B78A00-EFDB-BA44-A75A-B2E609F0A1C5}"/>
              </a:ext>
            </a:extLst>
          </p:cNvPr>
          <p:cNvCxnSpPr/>
          <p:nvPr/>
        </p:nvCxnSpPr>
        <p:spPr>
          <a:xfrm>
            <a:off x="3775842" y="1481959"/>
            <a:ext cx="0" cy="3058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43880D-C286-CC48-B745-BBFC9860293F}"/>
              </a:ext>
            </a:extLst>
          </p:cNvPr>
          <p:cNvCxnSpPr>
            <a:cxnSpLocks/>
          </p:cNvCxnSpPr>
          <p:nvPr/>
        </p:nvCxnSpPr>
        <p:spPr>
          <a:xfrm>
            <a:off x="2120463" y="3011214"/>
            <a:ext cx="33344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D1226A-70F6-654A-8BCB-4C5B45D8541C}"/>
                  </a:ext>
                </a:extLst>
              </p:cNvPr>
              <p:cNvSpPr/>
              <p:nvPr/>
            </p:nvSpPr>
            <p:spPr>
              <a:xfrm>
                <a:off x="3577760" y="1139145"/>
                <a:ext cx="5183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D1226A-70F6-654A-8BCB-4C5B45D85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760" y="1139145"/>
                <a:ext cx="518347" cy="369332"/>
              </a:xfrm>
              <a:prstGeom prst="rect">
                <a:avLst/>
              </a:prstGeom>
              <a:blipFill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ACA3EF-8C4E-3D44-9686-495C6B8B9AC6}"/>
                  </a:ext>
                </a:extLst>
              </p:cNvPr>
              <p:cNvSpPr/>
              <p:nvPr/>
            </p:nvSpPr>
            <p:spPr>
              <a:xfrm>
                <a:off x="5411192" y="2817538"/>
                <a:ext cx="5130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ACA3EF-8C4E-3D44-9686-495C6B8B9A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192" y="2817538"/>
                <a:ext cx="5130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EF2EB2-4C01-3E47-AC37-9FB7D96F3F21}"/>
              </a:ext>
            </a:extLst>
          </p:cNvPr>
          <p:cNvCxnSpPr>
            <a:cxnSpLocks/>
          </p:cNvCxnSpPr>
          <p:nvPr/>
        </p:nvCxnSpPr>
        <p:spPr>
          <a:xfrm>
            <a:off x="3563965" y="1481959"/>
            <a:ext cx="1268167" cy="28069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95A3899-1B53-134C-A7D5-0756698D2803}"/>
              </a:ext>
            </a:extLst>
          </p:cNvPr>
          <p:cNvSpPr txBox="1"/>
          <p:nvPr/>
        </p:nvSpPr>
        <p:spPr>
          <a:xfrm>
            <a:off x="3577760" y="1831365"/>
            <a:ext cx="184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A761E7-6C20-644D-9C10-85B6358B8209}"/>
              </a:ext>
            </a:extLst>
          </p:cNvPr>
          <p:cNvSpPr txBox="1"/>
          <p:nvPr/>
        </p:nvSpPr>
        <p:spPr>
          <a:xfrm>
            <a:off x="4137675" y="2734215"/>
            <a:ext cx="514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2.5</a:t>
            </a:r>
          </a:p>
        </p:txBody>
      </p: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E62DBA9A-0B65-D34D-998C-ACF506CA3A92}"/>
              </a:ext>
            </a:extLst>
          </p:cNvPr>
          <p:cNvSpPr/>
          <p:nvPr/>
        </p:nvSpPr>
        <p:spPr>
          <a:xfrm>
            <a:off x="491852" y="1194548"/>
            <a:ext cx="2522481" cy="707068"/>
          </a:xfrm>
          <a:prstGeom prst="wedgeRoundRectCallout">
            <a:avLst>
              <a:gd name="adj1" fmla="val 73693"/>
              <a:gd name="adj2" fmla="val 1683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Any point on this line yields a perfect model with SSE=0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54EBFCFC-0ECB-2943-B8E1-66BCAC9A9B75}"/>
              </a:ext>
            </a:extLst>
          </p:cNvPr>
          <p:cNvSpPr>
            <a:spLocks noChangeAspect="1"/>
          </p:cNvSpPr>
          <p:nvPr/>
        </p:nvSpPr>
        <p:spPr>
          <a:xfrm>
            <a:off x="3627056" y="2872714"/>
            <a:ext cx="285750" cy="286085"/>
          </a:xfrm>
          <a:prstGeom prst="diamond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7258761C-8EEB-7844-9221-1E75EAB7F959}"/>
              </a:ext>
            </a:extLst>
          </p:cNvPr>
          <p:cNvSpPr>
            <a:spLocks noChangeAspect="1"/>
          </p:cNvSpPr>
          <p:nvPr/>
        </p:nvSpPr>
        <p:spPr>
          <a:xfrm>
            <a:off x="3532256" y="2781152"/>
            <a:ext cx="459584" cy="460123"/>
          </a:xfrm>
          <a:prstGeom prst="diamond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2EC5D398-D0D5-BD43-A6E4-6E370C8EE50F}"/>
              </a:ext>
            </a:extLst>
          </p:cNvPr>
          <p:cNvSpPr>
            <a:spLocks noChangeAspect="1"/>
          </p:cNvSpPr>
          <p:nvPr/>
        </p:nvSpPr>
        <p:spPr>
          <a:xfrm>
            <a:off x="3389320" y="2638048"/>
            <a:ext cx="745455" cy="746329"/>
          </a:xfrm>
          <a:prstGeom prst="diamond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1A03C6A2-4DE2-DF4B-992A-94D6F24CD941}"/>
              </a:ext>
            </a:extLst>
          </p:cNvPr>
          <p:cNvSpPr>
            <a:spLocks noChangeAspect="1"/>
          </p:cNvSpPr>
          <p:nvPr/>
        </p:nvSpPr>
        <p:spPr>
          <a:xfrm>
            <a:off x="3275590" y="2510375"/>
            <a:ext cx="1000504" cy="1001677"/>
          </a:xfrm>
          <a:prstGeom prst="diamond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2021C75D-01BC-2D4A-95FD-1B6DBE0CAE31}"/>
              </a:ext>
            </a:extLst>
          </p:cNvPr>
          <p:cNvSpPr/>
          <p:nvPr/>
        </p:nvSpPr>
        <p:spPr>
          <a:xfrm>
            <a:off x="275934" y="3512052"/>
            <a:ext cx="2640724" cy="1017363"/>
          </a:xfrm>
          <a:prstGeom prst="wedgeRoundRectCallout">
            <a:avLst>
              <a:gd name="adj1" fmla="val 67302"/>
              <a:gd name="adj2" fmla="val -87681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Each diamond represents points that have an equal L1 penalty.  Increasing size means higher L1 penalty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A888F98A-8CA8-B949-9C99-F75595B1FDDA}"/>
              </a:ext>
            </a:extLst>
          </p:cNvPr>
          <p:cNvSpPr/>
          <p:nvPr/>
        </p:nvSpPr>
        <p:spPr>
          <a:xfrm>
            <a:off x="5411192" y="3416932"/>
            <a:ext cx="2941875" cy="1017363"/>
          </a:xfrm>
          <a:prstGeom prst="wedgeRoundRectCallout">
            <a:avLst>
              <a:gd name="adj1" fmla="val -87841"/>
              <a:gd name="adj2" fmla="val -89231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intersection of a diamond of given size (same L1 penalty) and the perfect model line falls at a sparse point (one coefficient is 0)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316545EC-4621-A94B-B4CF-206390E4F7FA}"/>
              </a:ext>
            </a:extLst>
          </p:cNvPr>
          <p:cNvSpPr>
            <a:spLocks noChangeAspect="1"/>
          </p:cNvSpPr>
          <p:nvPr/>
        </p:nvSpPr>
        <p:spPr>
          <a:xfrm>
            <a:off x="3108940" y="2343530"/>
            <a:ext cx="1333803" cy="1335367"/>
          </a:xfrm>
          <a:prstGeom prst="diamond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ular Callout 28">
            <a:extLst>
              <a:ext uri="{FF2B5EF4-FFF2-40B4-BE49-F238E27FC236}">
                <a16:creationId xmlns:a16="http://schemas.microsoft.com/office/drawing/2014/main" id="{C3F7B4FA-6E08-1348-9CBA-78D86E3DC838}"/>
              </a:ext>
            </a:extLst>
          </p:cNvPr>
          <p:cNvSpPr/>
          <p:nvPr/>
        </p:nvSpPr>
        <p:spPr>
          <a:xfrm>
            <a:off x="5479439" y="1685144"/>
            <a:ext cx="2941875" cy="1017363"/>
          </a:xfrm>
          <a:prstGeom prst="wedgeRoundRectCallout">
            <a:avLst>
              <a:gd name="adj1" fmla="val -97219"/>
              <a:gd name="adj2" fmla="val 4403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 larger diamond would intersect at a non-sparse point, but then it would not be minimizing the cost function (SSE + L1 penalty)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88B0CF-62BD-2042-AB48-D57E958D4EE2}"/>
              </a:ext>
            </a:extLst>
          </p:cNvPr>
          <p:cNvSpPr txBox="1"/>
          <p:nvPr/>
        </p:nvSpPr>
        <p:spPr>
          <a:xfrm>
            <a:off x="5322587" y="1078285"/>
            <a:ext cx="325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 = SSE + L1 penalty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C5F8710-3A31-0844-9CF5-9BA50D634AB3}"/>
              </a:ext>
            </a:extLst>
          </p:cNvPr>
          <p:cNvSpPr/>
          <p:nvPr/>
        </p:nvSpPr>
        <p:spPr>
          <a:xfrm>
            <a:off x="4189292" y="2957082"/>
            <a:ext cx="129257" cy="11993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9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6E8A-84F3-EB4F-8338-277FD72D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Now let’s add more training data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B78A00-EFDB-BA44-A75A-B2E609F0A1C5}"/>
              </a:ext>
            </a:extLst>
          </p:cNvPr>
          <p:cNvCxnSpPr/>
          <p:nvPr/>
        </p:nvCxnSpPr>
        <p:spPr>
          <a:xfrm>
            <a:off x="3775842" y="1481959"/>
            <a:ext cx="0" cy="3058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43880D-C286-CC48-B745-BBFC9860293F}"/>
              </a:ext>
            </a:extLst>
          </p:cNvPr>
          <p:cNvCxnSpPr>
            <a:cxnSpLocks/>
          </p:cNvCxnSpPr>
          <p:nvPr/>
        </p:nvCxnSpPr>
        <p:spPr>
          <a:xfrm>
            <a:off x="2120463" y="3011214"/>
            <a:ext cx="33344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D1226A-70F6-654A-8BCB-4C5B45D8541C}"/>
                  </a:ext>
                </a:extLst>
              </p:cNvPr>
              <p:cNvSpPr/>
              <p:nvPr/>
            </p:nvSpPr>
            <p:spPr>
              <a:xfrm>
                <a:off x="3577760" y="1139145"/>
                <a:ext cx="5183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D1226A-70F6-654A-8BCB-4C5B45D85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760" y="1139145"/>
                <a:ext cx="518347" cy="369332"/>
              </a:xfrm>
              <a:prstGeom prst="rect">
                <a:avLst/>
              </a:prstGeom>
              <a:blipFill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ACA3EF-8C4E-3D44-9686-495C6B8B9AC6}"/>
                  </a:ext>
                </a:extLst>
              </p:cNvPr>
              <p:cNvSpPr/>
              <p:nvPr/>
            </p:nvSpPr>
            <p:spPr>
              <a:xfrm>
                <a:off x="5411192" y="2817538"/>
                <a:ext cx="5130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ACA3EF-8C4E-3D44-9686-495C6B8B9A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192" y="2817538"/>
                <a:ext cx="5130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E62DBA9A-0B65-D34D-998C-ACF506CA3A92}"/>
              </a:ext>
            </a:extLst>
          </p:cNvPr>
          <p:cNvSpPr/>
          <p:nvPr/>
        </p:nvSpPr>
        <p:spPr>
          <a:xfrm>
            <a:off x="5756805" y="1627477"/>
            <a:ext cx="2560585" cy="435893"/>
          </a:xfrm>
          <a:prstGeom prst="wedgeRoundRectCallout">
            <a:avLst>
              <a:gd name="adj1" fmla="val -100460"/>
              <a:gd name="adj2" fmla="val 59537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 now have a single set of values for w1,w2 with SSE=0  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54EBFCFC-0ECB-2943-B8E1-66BCAC9A9B75}"/>
              </a:ext>
            </a:extLst>
          </p:cNvPr>
          <p:cNvSpPr>
            <a:spLocks noChangeAspect="1"/>
          </p:cNvSpPr>
          <p:nvPr/>
        </p:nvSpPr>
        <p:spPr>
          <a:xfrm>
            <a:off x="3627056" y="2872714"/>
            <a:ext cx="285750" cy="286085"/>
          </a:xfrm>
          <a:prstGeom prst="diamond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7258761C-8EEB-7844-9221-1E75EAB7F959}"/>
              </a:ext>
            </a:extLst>
          </p:cNvPr>
          <p:cNvSpPr>
            <a:spLocks noChangeAspect="1"/>
          </p:cNvSpPr>
          <p:nvPr/>
        </p:nvSpPr>
        <p:spPr>
          <a:xfrm>
            <a:off x="3532256" y="2781152"/>
            <a:ext cx="459584" cy="460123"/>
          </a:xfrm>
          <a:prstGeom prst="diamond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2EC5D398-D0D5-BD43-A6E4-6E370C8EE50F}"/>
              </a:ext>
            </a:extLst>
          </p:cNvPr>
          <p:cNvSpPr>
            <a:spLocks noChangeAspect="1"/>
          </p:cNvSpPr>
          <p:nvPr/>
        </p:nvSpPr>
        <p:spPr>
          <a:xfrm>
            <a:off x="3389320" y="2638048"/>
            <a:ext cx="745455" cy="746329"/>
          </a:xfrm>
          <a:prstGeom prst="diamond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1A03C6A2-4DE2-DF4B-992A-94D6F24CD941}"/>
              </a:ext>
            </a:extLst>
          </p:cNvPr>
          <p:cNvSpPr>
            <a:spLocks noChangeAspect="1"/>
          </p:cNvSpPr>
          <p:nvPr/>
        </p:nvSpPr>
        <p:spPr>
          <a:xfrm>
            <a:off x="3275590" y="2510375"/>
            <a:ext cx="1000504" cy="1001677"/>
          </a:xfrm>
          <a:prstGeom prst="diamond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2021C75D-01BC-2D4A-95FD-1B6DBE0CAE31}"/>
              </a:ext>
            </a:extLst>
          </p:cNvPr>
          <p:cNvSpPr/>
          <p:nvPr/>
        </p:nvSpPr>
        <p:spPr>
          <a:xfrm>
            <a:off x="4496286" y="3679976"/>
            <a:ext cx="2640724" cy="1017363"/>
          </a:xfrm>
          <a:prstGeom prst="wedgeRoundRectCallout">
            <a:avLst>
              <a:gd name="adj1" fmla="val -69474"/>
              <a:gd name="adj2" fmla="val -99365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Each diamond represents points that have an equal L1 penalty.  Increasing size means higher L1 penalty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A888F98A-8CA8-B949-9C99-F75595B1FDDA}"/>
              </a:ext>
            </a:extLst>
          </p:cNvPr>
          <p:cNvSpPr/>
          <p:nvPr/>
        </p:nvSpPr>
        <p:spPr>
          <a:xfrm>
            <a:off x="273827" y="1500745"/>
            <a:ext cx="3166970" cy="1017363"/>
          </a:xfrm>
          <a:prstGeom prst="wedgeRoundRectCallout">
            <a:avLst>
              <a:gd name="adj1" fmla="val 59989"/>
              <a:gd name="adj2" fmla="val 4918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intersection of the smallest possible diamond and smallest possible constant SSE curve  is likely to fall at a sparse point (one coefficient is 0)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88B0CF-62BD-2042-AB48-D57E958D4EE2}"/>
              </a:ext>
            </a:extLst>
          </p:cNvPr>
          <p:cNvSpPr txBox="1"/>
          <p:nvPr/>
        </p:nvSpPr>
        <p:spPr>
          <a:xfrm>
            <a:off x="5322587" y="1078285"/>
            <a:ext cx="325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 = SSE + L1 penalty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E4EFA97-B577-1243-B9EA-2C2D8FCA322D}"/>
              </a:ext>
            </a:extLst>
          </p:cNvPr>
          <p:cNvSpPr/>
          <p:nvPr/>
        </p:nvSpPr>
        <p:spPr>
          <a:xfrm>
            <a:off x="4404227" y="2055162"/>
            <a:ext cx="129257" cy="1199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358DD0-C3A7-9248-91A0-AFCD1857AC54}"/>
              </a:ext>
            </a:extLst>
          </p:cNvPr>
          <p:cNvSpPr>
            <a:spLocks noChangeAspect="1"/>
          </p:cNvSpPr>
          <p:nvPr/>
        </p:nvSpPr>
        <p:spPr>
          <a:xfrm rot="19997390">
            <a:off x="4161993" y="1993217"/>
            <a:ext cx="613723" cy="2536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F7A435C-7437-954D-89FC-36C2A7422108}"/>
              </a:ext>
            </a:extLst>
          </p:cNvPr>
          <p:cNvSpPr>
            <a:spLocks noChangeAspect="1"/>
          </p:cNvSpPr>
          <p:nvPr/>
        </p:nvSpPr>
        <p:spPr>
          <a:xfrm rot="19997390">
            <a:off x="3915625" y="1903800"/>
            <a:ext cx="1083002" cy="44753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069C1C0-E587-F349-8701-4AAB0E61102D}"/>
              </a:ext>
            </a:extLst>
          </p:cNvPr>
          <p:cNvSpPr>
            <a:spLocks noChangeAspect="1"/>
          </p:cNvSpPr>
          <p:nvPr/>
        </p:nvSpPr>
        <p:spPr>
          <a:xfrm rot="19997390">
            <a:off x="3667486" y="1802279"/>
            <a:ext cx="1528661" cy="631692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ular Callout 32">
            <a:extLst>
              <a:ext uri="{FF2B5EF4-FFF2-40B4-BE49-F238E27FC236}">
                <a16:creationId xmlns:a16="http://schemas.microsoft.com/office/drawing/2014/main" id="{3FF41B39-509C-254A-A23E-484EDD8534DB}"/>
              </a:ext>
            </a:extLst>
          </p:cNvPr>
          <p:cNvSpPr/>
          <p:nvPr/>
        </p:nvSpPr>
        <p:spPr>
          <a:xfrm>
            <a:off x="5912896" y="2324432"/>
            <a:ext cx="2957277" cy="493106"/>
          </a:xfrm>
          <a:prstGeom prst="wedgeRoundRectCallout">
            <a:avLst>
              <a:gd name="adj1" fmla="val -89470"/>
              <a:gd name="adj2" fmla="val -6099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 can draw curves of constant SSE around the point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89781A7-8176-7945-B4D8-DBF7AA74DF1B}"/>
              </a:ext>
            </a:extLst>
          </p:cNvPr>
          <p:cNvSpPr/>
          <p:nvPr/>
        </p:nvSpPr>
        <p:spPr>
          <a:xfrm>
            <a:off x="3723037" y="2462983"/>
            <a:ext cx="129257" cy="11993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4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6E8A-84F3-EB4F-8338-277FD72D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 geometric perspective - Ridge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B78A00-EFDB-BA44-A75A-B2E609F0A1C5}"/>
              </a:ext>
            </a:extLst>
          </p:cNvPr>
          <p:cNvCxnSpPr/>
          <p:nvPr/>
        </p:nvCxnSpPr>
        <p:spPr>
          <a:xfrm>
            <a:off x="3775842" y="1481959"/>
            <a:ext cx="0" cy="3058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43880D-C286-CC48-B745-BBFC9860293F}"/>
              </a:ext>
            </a:extLst>
          </p:cNvPr>
          <p:cNvCxnSpPr>
            <a:cxnSpLocks/>
          </p:cNvCxnSpPr>
          <p:nvPr/>
        </p:nvCxnSpPr>
        <p:spPr>
          <a:xfrm>
            <a:off x="2120463" y="3011214"/>
            <a:ext cx="33344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D1226A-70F6-654A-8BCB-4C5B45D8541C}"/>
                  </a:ext>
                </a:extLst>
              </p:cNvPr>
              <p:cNvSpPr/>
              <p:nvPr/>
            </p:nvSpPr>
            <p:spPr>
              <a:xfrm>
                <a:off x="3577760" y="1139145"/>
                <a:ext cx="5183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D1226A-70F6-654A-8BCB-4C5B45D85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760" y="1139145"/>
                <a:ext cx="518347" cy="369332"/>
              </a:xfrm>
              <a:prstGeom prst="rect">
                <a:avLst/>
              </a:prstGeom>
              <a:blipFill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ACA3EF-8C4E-3D44-9686-495C6B8B9AC6}"/>
                  </a:ext>
                </a:extLst>
              </p:cNvPr>
              <p:cNvSpPr/>
              <p:nvPr/>
            </p:nvSpPr>
            <p:spPr>
              <a:xfrm>
                <a:off x="5411192" y="2817538"/>
                <a:ext cx="5130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ACA3EF-8C4E-3D44-9686-495C6B8B9A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192" y="2817538"/>
                <a:ext cx="5130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EF2EB2-4C01-3E47-AC37-9FB7D96F3F21}"/>
              </a:ext>
            </a:extLst>
          </p:cNvPr>
          <p:cNvCxnSpPr>
            <a:cxnSpLocks/>
          </p:cNvCxnSpPr>
          <p:nvPr/>
        </p:nvCxnSpPr>
        <p:spPr>
          <a:xfrm>
            <a:off x="3563965" y="1481959"/>
            <a:ext cx="1268167" cy="28069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95A3899-1B53-134C-A7D5-0756698D2803}"/>
              </a:ext>
            </a:extLst>
          </p:cNvPr>
          <p:cNvSpPr txBox="1"/>
          <p:nvPr/>
        </p:nvSpPr>
        <p:spPr>
          <a:xfrm>
            <a:off x="3577760" y="1831365"/>
            <a:ext cx="184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A761E7-6C20-644D-9C10-85B6358B8209}"/>
              </a:ext>
            </a:extLst>
          </p:cNvPr>
          <p:cNvSpPr txBox="1"/>
          <p:nvPr/>
        </p:nvSpPr>
        <p:spPr>
          <a:xfrm>
            <a:off x="4137675" y="2734215"/>
            <a:ext cx="514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2.5</a:t>
            </a:r>
          </a:p>
        </p:txBody>
      </p: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E62DBA9A-0B65-D34D-998C-ACF506CA3A92}"/>
              </a:ext>
            </a:extLst>
          </p:cNvPr>
          <p:cNvSpPr/>
          <p:nvPr/>
        </p:nvSpPr>
        <p:spPr>
          <a:xfrm>
            <a:off x="491852" y="1194548"/>
            <a:ext cx="2522481" cy="707068"/>
          </a:xfrm>
          <a:prstGeom prst="wedgeRoundRectCallout">
            <a:avLst>
              <a:gd name="adj1" fmla="val 73693"/>
              <a:gd name="adj2" fmla="val 1683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Any point on this line yields a perfect model with SSE=0</a:t>
            </a:r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2021C75D-01BC-2D4A-95FD-1B6DBE0CAE31}"/>
              </a:ext>
            </a:extLst>
          </p:cNvPr>
          <p:cNvSpPr/>
          <p:nvPr/>
        </p:nvSpPr>
        <p:spPr>
          <a:xfrm>
            <a:off x="275934" y="3512052"/>
            <a:ext cx="2640724" cy="1017363"/>
          </a:xfrm>
          <a:prstGeom prst="wedgeRoundRectCallout">
            <a:avLst>
              <a:gd name="adj1" fmla="val 67302"/>
              <a:gd name="adj2" fmla="val -87681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Each circle represents points that have an equal L2 penalty.  Increasing radius means higher L2 penalty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A888F98A-8CA8-B949-9C99-F75595B1FDDA}"/>
              </a:ext>
            </a:extLst>
          </p:cNvPr>
          <p:cNvSpPr/>
          <p:nvPr/>
        </p:nvSpPr>
        <p:spPr>
          <a:xfrm>
            <a:off x="5061827" y="1611264"/>
            <a:ext cx="3078537" cy="1017363"/>
          </a:xfrm>
          <a:prstGeom prst="wedgeRoundRectCallout">
            <a:avLst>
              <a:gd name="adj1" fmla="val -78449"/>
              <a:gd name="adj2" fmla="val 7090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intersection of a circle of given size (same L2 penalty) and the perfect model line falls at a point that is not sparse (but one coefficient close to 0)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88B0CF-62BD-2042-AB48-D57E958D4EE2}"/>
              </a:ext>
            </a:extLst>
          </p:cNvPr>
          <p:cNvSpPr txBox="1"/>
          <p:nvPr/>
        </p:nvSpPr>
        <p:spPr>
          <a:xfrm>
            <a:off x="5322587" y="1078285"/>
            <a:ext cx="325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 = SSE + L2 penalty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E41A2EE-27D2-3E44-8DA7-7F249BCB19AE}"/>
              </a:ext>
            </a:extLst>
          </p:cNvPr>
          <p:cNvSpPr>
            <a:spLocks noChangeAspect="1"/>
          </p:cNvSpPr>
          <p:nvPr/>
        </p:nvSpPr>
        <p:spPr>
          <a:xfrm>
            <a:off x="3639865" y="2872714"/>
            <a:ext cx="275897" cy="2781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BC2739E-3827-FF47-86F2-228ED99BB3B4}"/>
              </a:ext>
            </a:extLst>
          </p:cNvPr>
          <p:cNvSpPr>
            <a:spLocks noChangeAspect="1"/>
          </p:cNvSpPr>
          <p:nvPr/>
        </p:nvSpPr>
        <p:spPr>
          <a:xfrm>
            <a:off x="3558615" y="2782185"/>
            <a:ext cx="454376" cy="45805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51EFE11-4E50-E04B-8414-BCA2F47DB1EE}"/>
              </a:ext>
            </a:extLst>
          </p:cNvPr>
          <p:cNvSpPr>
            <a:spLocks noChangeAspect="1"/>
          </p:cNvSpPr>
          <p:nvPr/>
        </p:nvSpPr>
        <p:spPr>
          <a:xfrm>
            <a:off x="3442296" y="2670975"/>
            <a:ext cx="670837" cy="6762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8F4297-5A04-B64C-B0AD-FECB0D4C1900}"/>
              </a:ext>
            </a:extLst>
          </p:cNvPr>
          <p:cNvSpPr>
            <a:spLocks noChangeAspect="1"/>
          </p:cNvSpPr>
          <p:nvPr/>
        </p:nvSpPr>
        <p:spPr>
          <a:xfrm>
            <a:off x="3349041" y="2571069"/>
            <a:ext cx="853602" cy="8605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131AAE6-3865-E348-9722-D3C53E10AB43}"/>
              </a:ext>
            </a:extLst>
          </p:cNvPr>
          <p:cNvSpPr/>
          <p:nvPr/>
        </p:nvSpPr>
        <p:spPr>
          <a:xfrm>
            <a:off x="4117007" y="2779842"/>
            <a:ext cx="129257" cy="11993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5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 animBg="1"/>
      <p:bldP spid="26" grpId="0" animBg="1"/>
      <p:bldP spid="27" grpId="0" animBg="1"/>
      <p:bldP spid="3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6E8A-84F3-EB4F-8338-277FD72D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Now let’s add more training data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B78A00-EFDB-BA44-A75A-B2E609F0A1C5}"/>
              </a:ext>
            </a:extLst>
          </p:cNvPr>
          <p:cNvCxnSpPr/>
          <p:nvPr/>
        </p:nvCxnSpPr>
        <p:spPr>
          <a:xfrm>
            <a:off x="3775842" y="1481959"/>
            <a:ext cx="0" cy="3058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43880D-C286-CC48-B745-BBFC9860293F}"/>
              </a:ext>
            </a:extLst>
          </p:cNvPr>
          <p:cNvCxnSpPr>
            <a:cxnSpLocks/>
          </p:cNvCxnSpPr>
          <p:nvPr/>
        </p:nvCxnSpPr>
        <p:spPr>
          <a:xfrm>
            <a:off x="2120463" y="3011214"/>
            <a:ext cx="33344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D1226A-70F6-654A-8BCB-4C5B45D8541C}"/>
                  </a:ext>
                </a:extLst>
              </p:cNvPr>
              <p:cNvSpPr/>
              <p:nvPr/>
            </p:nvSpPr>
            <p:spPr>
              <a:xfrm>
                <a:off x="3577760" y="1139145"/>
                <a:ext cx="5183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D1226A-70F6-654A-8BCB-4C5B45D85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760" y="1139145"/>
                <a:ext cx="518347" cy="369332"/>
              </a:xfrm>
              <a:prstGeom prst="rect">
                <a:avLst/>
              </a:prstGeom>
              <a:blipFill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ACA3EF-8C4E-3D44-9686-495C6B8B9AC6}"/>
                  </a:ext>
                </a:extLst>
              </p:cNvPr>
              <p:cNvSpPr/>
              <p:nvPr/>
            </p:nvSpPr>
            <p:spPr>
              <a:xfrm>
                <a:off x="5411192" y="2817538"/>
                <a:ext cx="5130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ACA3EF-8C4E-3D44-9686-495C6B8B9A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192" y="2817538"/>
                <a:ext cx="5130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E62DBA9A-0B65-D34D-998C-ACF506CA3A92}"/>
              </a:ext>
            </a:extLst>
          </p:cNvPr>
          <p:cNvSpPr/>
          <p:nvPr/>
        </p:nvSpPr>
        <p:spPr>
          <a:xfrm>
            <a:off x="5666750" y="1481959"/>
            <a:ext cx="3176603" cy="930994"/>
          </a:xfrm>
          <a:prstGeom prst="wedgeRoundRectCallout">
            <a:avLst>
              <a:gd name="adj1" fmla="val -86996"/>
              <a:gd name="adj2" fmla="val 21777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 now have a single set of values for w1,w2 with SSE=0.  We can draw curves of constant SSE around the point</a:t>
            </a:r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2021C75D-01BC-2D4A-95FD-1B6DBE0CAE31}"/>
              </a:ext>
            </a:extLst>
          </p:cNvPr>
          <p:cNvSpPr/>
          <p:nvPr/>
        </p:nvSpPr>
        <p:spPr>
          <a:xfrm>
            <a:off x="4496286" y="3679976"/>
            <a:ext cx="2640724" cy="1017363"/>
          </a:xfrm>
          <a:prstGeom prst="wedgeRoundRectCallout">
            <a:avLst>
              <a:gd name="adj1" fmla="val -69474"/>
              <a:gd name="adj2" fmla="val -99365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Each circle represents points that have an equal L2 penalty.  Increasing size means higher L2 penalty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A888F98A-8CA8-B949-9C99-F75595B1FDDA}"/>
              </a:ext>
            </a:extLst>
          </p:cNvPr>
          <p:cNvSpPr/>
          <p:nvPr/>
        </p:nvSpPr>
        <p:spPr>
          <a:xfrm>
            <a:off x="273827" y="1500745"/>
            <a:ext cx="3166970" cy="1017363"/>
          </a:xfrm>
          <a:prstGeom prst="wedgeRoundRectCallout">
            <a:avLst>
              <a:gd name="adj1" fmla="val 62876"/>
              <a:gd name="adj2" fmla="val 54576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intersection of a circle of given size (same L2 penalty) and the smallest possible constant SSE curve does not fall at a sparse point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88B0CF-62BD-2042-AB48-D57E958D4EE2}"/>
              </a:ext>
            </a:extLst>
          </p:cNvPr>
          <p:cNvSpPr txBox="1"/>
          <p:nvPr/>
        </p:nvSpPr>
        <p:spPr>
          <a:xfrm>
            <a:off x="5322587" y="1078285"/>
            <a:ext cx="325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 = SSE + L1 penalty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E4EFA97-B577-1243-B9EA-2C2D8FCA322D}"/>
              </a:ext>
            </a:extLst>
          </p:cNvPr>
          <p:cNvSpPr/>
          <p:nvPr/>
        </p:nvSpPr>
        <p:spPr>
          <a:xfrm>
            <a:off x="4431659" y="2091738"/>
            <a:ext cx="129257" cy="1199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358DD0-C3A7-9248-91A0-AFCD1857AC54}"/>
              </a:ext>
            </a:extLst>
          </p:cNvPr>
          <p:cNvSpPr>
            <a:spLocks noChangeAspect="1"/>
          </p:cNvSpPr>
          <p:nvPr/>
        </p:nvSpPr>
        <p:spPr>
          <a:xfrm rot="19997390">
            <a:off x="4189425" y="2029793"/>
            <a:ext cx="613723" cy="2536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F7A435C-7437-954D-89FC-36C2A7422108}"/>
              </a:ext>
            </a:extLst>
          </p:cNvPr>
          <p:cNvSpPr>
            <a:spLocks noChangeAspect="1"/>
          </p:cNvSpPr>
          <p:nvPr/>
        </p:nvSpPr>
        <p:spPr>
          <a:xfrm rot="19997390">
            <a:off x="3943057" y="1940376"/>
            <a:ext cx="1083002" cy="44753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069C1C0-E587-F349-8701-4AAB0E61102D}"/>
              </a:ext>
            </a:extLst>
          </p:cNvPr>
          <p:cNvSpPr>
            <a:spLocks noChangeAspect="1"/>
          </p:cNvSpPr>
          <p:nvPr/>
        </p:nvSpPr>
        <p:spPr>
          <a:xfrm rot="19997390">
            <a:off x="3694918" y="1838855"/>
            <a:ext cx="1528661" cy="631692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A9E236-7F1E-B44B-BBDC-BA7E9D12127F}"/>
              </a:ext>
            </a:extLst>
          </p:cNvPr>
          <p:cNvSpPr>
            <a:spLocks noChangeAspect="1"/>
          </p:cNvSpPr>
          <p:nvPr/>
        </p:nvSpPr>
        <p:spPr>
          <a:xfrm>
            <a:off x="3639865" y="2872714"/>
            <a:ext cx="275897" cy="2781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72477E-3FA4-0E4F-89CD-31DD2A6E631A}"/>
              </a:ext>
            </a:extLst>
          </p:cNvPr>
          <p:cNvSpPr>
            <a:spLocks noChangeAspect="1"/>
          </p:cNvSpPr>
          <p:nvPr/>
        </p:nvSpPr>
        <p:spPr>
          <a:xfrm>
            <a:off x="3558615" y="2782185"/>
            <a:ext cx="454376" cy="45805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73D488D-735A-F448-9DC2-B0B23CBF6349}"/>
              </a:ext>
            </a:extLst>
          </p:cNvPr>
          <p:cNvSpPr>
            <a:spLocks noChangeAspect="1"/>
          </p:cNvSpPr>
          <p:nvPr/>
        </p:nvSpPr>
        <p:spPr>
          <a:xfrm>
            <a:off x="3442296" y="2670975"/>
            <a:ext cx="670837" cy="6762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53843FF-0245-714B-8368-AD199BA9FDE9}"/>
              </a:ext>
            </a:extLst>
          </p:cNvPr>
          <p:cNvSpPr>
            <a:spLocks noChangeAspect="1"/>
          </p:cNvSpPr>
          <p:nvPr/>
        </p:nvSpPr>
        <p:spPr>
          <a:xfrm>
            <a:off x="3349041" y="2571069"/>
            <a:ext cx="853602" cy="8605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7804F31-359A-6F41-81F6-62D702C9AE72}"/>
              </a:ext>
            </a:extLst>
          </p:cNvPr>
          <p:cNvSpPr/>
          <p:nvPr/>
        </p:nvSpPr>
        <p:spPr>
          <a:xfrm>
            <a:off x="3838802" y="2514206"/>
            <a:ext cx="129257" cy="11993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3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 animBg="1"/>
      <p:bldP spid="27" grpId="0" animBg="1"/>
      <p:bldP spid="19" grpId="0" animBg="1"/>
      <p:bldP spid="20" grpId="0" animBg="1"/>
      <p:bldP spid="28" grpId="0" animBg="1"/>
      <p:bldP spid="29" grpId="0" animBg="1"/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7716-2ADA-3544-83F8-9BEB032A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LASSO vs. Ridge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C7F8708-1AE9-624B-8B92-45D8E96D50CF}"/>
              </a:ext>
            </a:extLst>
          </p:cNvPr>
          <p:cNvGraphicFramePr>
            <a:graphicFrameLocks noGrp="1"/>
          </p:cNvGraphicFramePr>
          <p:nvPr/>
        </p:nvGraphicFramePr>
        <p:xfrm>
          <a:off x="581025" y="1203872"/>
          <a:ext cx="7625444" cy="341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2722">
                  <a:extLst>
                    <a:ext uri="{9D8B030D-6E8A-4147-A177-3AD203B41FA5}">
                      <a16:colId xmlns:a16="http://schemas.microsoft.com/office/drawing/2014/main" val="61856104"/>
                    </a:ext>
                  </a:extLst>
                </a:gridCol>
                <a:gridCol w="3812722">
                  <a:extLst>
                    <a:ext uri="{9D8B030D-6E8A-4147-A177-3AD203B41FA5}">
                      <a16:colId xmlns:a16="http://schemas.microsoft.com/office/drawing/2014/main" val="3461301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53439"/>
                  </a:ext>
                </a:extLst>
              </a:tr>
              <a:tr h="161816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Minimizes SSE + sum of absolute value of 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Minimizes SSE + sum of coefficients squared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407769"/>
                  </a:ext>
                </a:extLst>
              </a:tr>
              <a:tr h="161816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Performs feature selection by forcing coefficients of irrelevant features to zero (rewards sparsity)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Retains all features but shrinks coefficients toward each other – can underestimate coefficients of most significant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493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Produces simpler models that are highly interpretable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Works better for more complex patterns in data influenced by many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800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In cases of collinearity, randomly picks one feature to keep out of the correlated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Performs better under collinearity – does not discard variables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75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020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8127793-8531-8A45-A3C8-F406D8B81D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Determining the optimal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8127793-8531-8A45-A3C8-F406D8B81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623" t="-16667" b="-40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F0AB1-B707-8B49-AB2F-429D215E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718957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Lambda is a </a:t>
            </a:r>
            <a:r>
              <a:rPr lang="en-US" sz="1800" b="1" dirty="0"/>
              <a:t>hyperparameter</a:t>
            </a:r>
            <a:r>
              <a:rPr lang="en-US" sz="1800" dirty="0"/>
              <a:t> that should be optimized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Low values of lambda result in more complex models (more variables with higher coefficients) and high lambdas result in simpler models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 optimal lambda that minimizes error (MSE/MAE) can be found using a validation set or cross-validation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88DDB-C1E6-C34A-BFA8-EF67533EA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245" y="1517242"/>
            <a:ext cx="3300555" cy="25471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641E7FB-EFC4-1743-8C59-AD2877A4122A}"/>
                  </a:ext>
                </a:extLst>
              </p:cNvPr>
              <p:cNvSpPr/>
              <p:nvPr/>
            </p:nvSpPr>
            <p:spPr>
              <a:xfrm>
                <a:off x="6897400" y="4078419"/>
                <a:ext cx="31072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641E7FB-EFC4-1743-8C59-AD2877A412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400" y="4078419"/>
                <a:ext cx="31072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8883AD3-EB7D-274D-8BCC-F1B5985E5BD5}"/>
              </a:ext>
            </a:extLst>
          </p:cNvPr>
          <p:cNvSpPr txBox="1"/>
          <p:nvPr/>
        </p:nvSpPr>
        <p:spPr>
          <a:xfrm>
            <a:off x="6016593" y="1280790"/>
            <a:ext cx="2432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LASSO regression</a:t>
            </a:r>
          </a:p>
        </p:txBody>
      </p:sp>
    </p:spTree>
    <p:extLst>
      <p:ext uri="{BB962C8B-B14F-4D97-AF65-F5344CB8AC3E}">
        <p14:creationId xmlns:p14="http://schemas.microsoft.com/office/powerpoint/2010/main" val="3928129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CB3A0-800C-A04C-BCB8-0E50AAEDD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 LASSO &amp; 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3807C-B72C-2C46-A622-36DD7EC12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Applying regularization will often give us a better model when we are dealing with complex data (many features)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You might have a reason to prefer one method or the other: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Desire a simpler, more interpretable model -&gt; LASSO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Complex relationship of target to many features with collinearity -&gt; Ridge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If not sure, default to Ridge regression or evaluate both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Whichever one you choose, be sure to:</a:t>
            </a:r>
          </a:p>
          <a:p>
            <a:pPr marL="800100" lvl="1" indent="-342900">
              <a:spcAft>
                <a:spcPts val="400"/>
              </a:spcAft>
              <a:buFont typeface="+mj-lt"/>
              <a:buAutoNum type="arabicPeriod"/>
            </a:pPr>
            <a:r>
              <a:rPr lang="en-US" sz="1600" b="1" dirty="0"/>
              <a:t>Scale the data before you begin</a:t>
            </a:r>
          </a:p>
          <a:p>
            <a:pPr marL="800100" lvl="1" indent="-342900">
              <a:spcAft>
                <a:spcPts val="400"/>
              </a:spcAft>
              <a:buFont typeface="+mj-lt"/>
              <a:buAutoNum type="arabicPeriod"/>
            </a:pPr>
            <a:r>
              <a:rPr lang="en-US" sz="1600" b="1" dirty="0"/>
              <a:t>Determine the optimal lambda using a validation set / 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36334097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791DD-2A43-ED46-B01C-A6798BEE9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Wrapping up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38B4-A3D2-DE4E-BD99-560365CEB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For regression problems, linear regression is a great place to start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Establish a baseline for model performance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Better understand relationships between features and target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Be sure to visualize your data and residuals to identify problems / opportunities to improve fit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Use polynomial regression and/or regularization to improve fit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Use cross-validation to adjust hyperparameters (polynomial degree or lambda)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Then, try more advanced algorithms and compare results</a:t>
            </a:r>
          </a:p>
        </p:txBody>
      </p:sp>
    </p:spTree>
    <p:extLst>
      <p:ext uri="{BB962C8B-B14F-4D97-AF65-F5344CB8AC3E}">
        <p14:creationId xmlns:p14="http://schemas.microsoft.com/office/powerpoint/2010/main" val="424476460"/>
      </p:ext>
    </p:extLst>
  </p:cSld>
  <p:clrMapOvr>
    <a:masterClrMapping/>
  </p:clrMapOvr>
</p:sld>
</file>

<file path=ppt/theme/theme1.xml><?xml version="1.0" encoding="utf-8"?>
<a:theme xmlns:a="http://schemas.openxmlformats.org/drawingml/2006/main" name="pratt-template-aerial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tt-template-photo-2019  -  Compatibility Mode" id="{D42B5714-30A2-CD4D-AF08-507A411B0D58}" vid="{297FEE61-2E36-AA47-ADC1-104B8049EC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66301</TotalTime>
  <Words>2798</Words>
  <Application>Microsoft Macintosh PowerPoint</Application>
  <PresentationFormat>On-screen Show (16:9)</PresentationFormat>
  <Paragraphs>352</Paragraphs>
  <Slides>43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Helvetica Neue</vt:lpstr>
      <vt:lpstr>Calibri</vt:lpstr>
      <vt:lpstr>Cambria Math</vt:lpstr>
      <vt:lpstr>KishoreFont Medium</vt:lpstr>
      <vt:lpstr>Open Sans</vt:lpstr>
      <vt:lpstr>system-ui</vt:lpstr>
      <vt:lpstr>Arial</vt:lpstr>
      <vt:lpstr>Times New Roman</vt:lpstr>
      <vt:lpstr>pratt-template-aerial-wide</vt:lpstr>
      <vt:lpstr>Mtb Graph</vt:lpstr>
      <vt:lpstr>PowerPoint Presentation</vt:lpstr>
      <vt:lpstr>Linear Regression</vt:lpstr>
      <vt:lpstr>Which are linear models?</vt:lpstr>
      <vt:lpstr>Linear regression</vt:lpstr>
      <vt:lpstr>Simple vs. multiple linear regression </vt:lpstr>
      <vt:lpstr>The Linear Regression Model</vt:lpstr>
      <vt:lpstr>Estimating the parameters</vt:lpstr>
      <vt:lpstr>Estimating the parameters</vt:lpstr>
      <vt:lpstr>Vectorized form</vt:lpstr>
      <vt:lpstr>Closed form solution</vt:lpstr>
      <vt:lpstr>Closed form solution</vt:lpstr>
      <vt:lpstr>Assumptions of linear regression</vt:lpstr>
      <vt:lpstr>Checking for problems</vt:lpstr>
      <vt:lpstr>Checking for problems</vt:lpstr>
      <vt:lpstr>Checking for problems</vt:lpstr>
      <vt:lpstr>Checking for problems</vt:lpstr>
      <vt:lpstr>Checking for problems</vt:lpstr>
      <vt:lpstr>What do we do if we violate an assumption?</vt:lpstr>
      <vt:lpstr>Handling Nonlinear Relationships</vt:lpstr>
      <vt:lpstr>Feature variable transformation</vt:lpstr>
      <vt:lpstr>Polynomial regression</vt:lpstr>
      <vt:lpstr>Polynomial transformation</vt:lpstr>
      <vt:lpstr>Interaction Terms</vt:lpstr>
      <vt:lpstr>Example – Power Outage Prediction</vt:lpstr>
      <vt:lpstr>Using Interaction Terms</vt:lpstr>
      <vt:lpstr>Regularization</vt:lpstr>
      <vt:lpstr>Motivation for Regularization</vt:lpstr>
      <vt:lpstr>Regularization</vt:lpstr>
      <vt:lpstr>Regularization: LASSO &amp; Ridge Regression</vt:lpstr>
      <vt:lpstr>LASSO (L1) Regression</vt:lpstr>
      <vt:lpstr>Ridge (L2) Regression</vt:lpstr>
      <vt:lpstr>LASSO vs. Ridge Regression</vt:lpstr>
      <vt:lpstr>Example: LASSO vs Ridge</vt:lpstr>
      <vt:lpstr>Example: LASSO vs Ridge</vt:lpstr>
      <vt:lpstr>A geometric perspective</vt:lpstr>
      <vt:lpstr>A geometric perspective - LASSO</vt:lpstr>
      <vt:lpstr>Now let’s add more training data</vt:lpstr>
      <vt:lpstr>A geometric perspective - Ridge</vt:lpstr>
      <vt:lpstr>Now let’s add more training data</vt:lpstr>
      <vt:lpstr>Summary: LASSO vs. Ridge</vt:lpstr>
      <vt:lpstr>Determining the optimal λ</vt:lpstr>
      <vt:lpstr>Conclusion: LASSO &amp; Ridge</vt:lpstr>
      <vt:lpstr>Wrapping up Linear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Sourcing Data for Analytics: Introduction  Week 1    </dc:title>
  <dc:creator>Jon Reifschneider</dc:creator>
  <cp:lastModifiedBy>Jon Reifschneider</cp:lastModifiedBy>
  <cp:revision>500</cp:revision>
  <cp:lastPrinted>2021-02-11T21:05:31Z</cp:lastPrinted>
  <dcterms:created xsi:type="dcterms:W3CDTF">2020-08-17T17:32:42Z</dcterms:created>
  <dcterms:modified xsi:type="dcterms:W3CDTF">2025-09-10T03:19:42Z</dcterms:modified>
</cp:coreProperties>
</file>