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1" r:id="rId1"/>
  </p:sldMasterIdLst>
  <p:notesMasterIdLst>
    <p:notesMasterId r:id="rId73"/>
  </p:notesMasterIdLst>
  <p:handoutMasterIdLst>
    <p:handoutMasterId r:id="rId74"/>
  </p:handoutMasterIdLst>
  <p:sldIdLst>
    <p:sldId id="271" r:id="rId2"/>
    <p:sldId id="457" r:id="rId3"/>
    <p:sldId id="603" r:id="rId4"/>
    <p:sldId id="602" r:id="rId5"/>
    <p:sldId id="395" r:id="rId6"/>
    <p:sldId id="437" r:id="rId7"/>
    <p:sldId id="604" r:id="rId8"/>
    <p:sldId id="562" r:id="rId9"/>
    <p:sldId id="564" r:id="rId10"/>
    <p:sldId id="601" r:id="rId11"/>
    <p:sldId id="435" r:id="rId12"/>
    <p:sldId id="436" r:id="rId13"/>
    <p:sldId id="448" r:id="rId14"/>
    <p:sldId id="449" r:id="rId15"/>
    <p:sldId id="462" r:id="rId16"/>
    <p:sldId id="577" r:id="rId17"/>
    <p:sldId id="578" r:id="rId18"/>
    <p:sldId id="582" r:id="rId19"/>
    <p:sldId id="579" r:id="rId20"/>
    <p:sldId id="585" r:id="rId21"/>
    <p:sldId id="605" r:id="rId22"/>
    <p:sldId id="418" r:id="rId23"/>
    <p:sldId id="507" r:id="rId24"/>
    <p:sldId id="419" r:id="rId25"/>
    <p:sldId id="508" r:id="rId26"/>
    <p:sldId id="513" r:id="rId27"/>
    <p:sldId id="514" r:id="rId28"/>
    <p:sldId id="420" r:id="rId29"/>
    <p:sldId id="400" r:id="rId30"/>
    <p:sldId id="431" r:id="rId31"/>
    <p:sldId id="509" r:id="rId32"/>
    <p:sldId id="510" r:id="rId33"/>
    <p:sldId id="512" r:id="rId34"/>
    <p:sldId id="511" r:id="rId35"/>
    <p:sldId id="502" r:id="rId36"/>
    <p:sldId id="497" r:id="rId37"/>
    <p:sldId id="505" r:id="rId38"/>
    <p:sldId id="506" r:id="rId39"/>
    <p:sldId id="516" r:id="rId40"/>
    <p:sldId id="430" r:id="rId41"/>
    <p:sldId id="408" r:id="rId42"/>
    <p:sldId id="410" r:id="rId43"/>
    <p:sldId id="401" r:id="rId44"/>
    <p:sldId id="498" r:id="rId45"/>
    <p:sldId id="499" r:id="rId46"/>
    <p:sldId id="416" r:id="rId47"/>
    <p:sldId id="412" r:id="rId48"/>
    <p:sldId id="413" r:id="rId49"/>
    <p:sldId id="429" r:id="rId50"/>
    <p:sldId id="517" r:id="rId51"/>
    <p:sldId id="492" r:id="rId52"/>
    <p:sldId id="493" r:id="rId53"/>
    <p:sldId id="427" r:id="rId54"/>
    <p:sldId id="504" r:id="rId55"/>
    <p:sldId id="490" r:id="rId56"/>
    <p:sldId id="494" r:id="rId57"/>
    <p:sldId id="518" r:id="rId58"/>
    <p:sldId id="519" r:id="rId59"/>
    <p:sldId id="454" r:id="rId60"/>
    <p:sldId id="520" r:id="rId61"/>
    <p:sldId id="467" r:id="rId62"/>
    <p:sldId id="466" r:id="rId63"/>
    <p:sldId id="524" r:id="rId64"/>
    <p:sldId id="423" r:id="rId65"/>
    <p:sldId id="525" r:id="rId66"/>
    <p:sldId id="606" r:id="rId67"/>
    <p:sldId id="526" r:id="rId68"/>
    <p:sldId id="433" r:id="rId69"/>
    <p:sldId id="434" r:id="rId70"/>
    <p:sldId id="581" r:id="rId71"/>
    <p:sldId id="584" r:id="rId72"/>
  </p:sldIdLst>
  <p:sldSz cx="9144000" cy="5143500" type="screen16x9"/>
  <p:notesSz cx="7010400" cy="9296400"/>
  <p:embeddedFontLst>
    <p:embeddedFont>
      <p:font typeface="Cambria Math" panose="02040503050406030204" pitchFamily="18" charset="0"/>
      <p:regular r:id="rId75"/>
    </p:embeddedFont>
    <p:embeddedFont>
      <p:font typeface="Open Sans" panose="020B0606030504020204" pitchFamily="34" charset="0"/>
      <p:regular r:id="rId76"/>
      <p:bold r:id="rId77"/>
      <p:italic r:id="rId78"/>
      <p:boldItalic r:id="rId79"/>
    </p:embeddedFont>
  </p:embeddedFont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n Reifschneider" initials="JR" lastIdx="1" clrIdx="0">
    <p:extLst>
      <p:ext uri="{19B8F6BF-5375-455C-9EA6-DF929625EA0E}">
        <p15:presenceInfo xmlns:p15="http://schemas.microsoft.com/office/powerpoint/2012/main" userId="S::jjr10@duke.edu::adf61fbf-732f-4512-928f-7bd2737fadf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clrMode="bw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89"/>
    <p:restoredTop sz="94681"/>
  </p:normalViewPr>
  <p:slideViewPr>
    <p:cSldViewPr snapToGrid="0" snapToObjects="1">
      <p:cViewPr varScale="1">
        <p:scale>
          <a:sx n="149" d="100"/>
          <a:sy n="149" d="100"/>
        </p:scale>
        <p:origin x="192" y="41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handoutMaster" Target="handoutMasters/handoutMaster1.xml"/><Relationship Id="rId79" Type="http://schemas.openxmlformats.org/officeDocument/2006/relationships/font" Target="fonts/font5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4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99A984-4A80-074F-88D1-7DA5B8EF27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12F1B4-ED44-504A-B219-D6CB7358A0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75CFD1-423F-6341-B9E6-7F0902AB8C58}" type="datetime1">
              <a:rPr lang="en-US" altLang="en-US"/>
              <a:pPr>
                <a:defRPr/>
              </a:pPr>
              <a:t>8/22/25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B7C091-A977-3646-82B8-4087D2EFD19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EE009-30F0-F04E-AB1E-3DEE7D93AB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D487C64-BAF2-3148-A83E-1853D83860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C5D1F0E-1220-9F46-BD67-AE740D2FEE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A8C05A-3D33-054F-A2E2-9865B3B386A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91D22EF-D2F6-C042-8C78-98305ECA2FBD}" type="datetime1">
              <a:rPr lang="en-US" altLang="en-US"/>
              <a:pPr>
                <a:defRPr/>
              </a:pPr>
              <a:t>8/22/25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CA60385-C3A2-E743-8F84-CF588485B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FC3C097-4388-5747-AB58-7F79793A41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E4066E-C0CE-C047-88E3-615BBBFE71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C7E83-6AF9-0A44-802E-291EF3E6D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417813C2-0D88-2B44-8D66-87A07275F6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9940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5232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It takes away data from training, which can be a problem if the dataset is small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model performance calculation is strongly influenced by selection of which points are in the validation 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7813C2-0D88-2B44-8D66-87A07275F6A6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9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Ae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14C1C88-EB41-0F4B-AAA8-143084A38A3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054D886C-A6B0-1D40-8E9F-DDF4C4693F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398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FCI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9BC785DC-496B-1E42-B5DC-69821FFDD74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3B8D600D-83A1-BE49-ADB0-3C1521F4A6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848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Sp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833BBE9F-A41D-7241-9E5A-ED29170B91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2">
            <a:extLst>
              <a:ext uri="{FF2B5EF4-FFF2-40B4-BE49-F238E27FC236}">
                <a16:creationId xmlns:a16="http://schemas.microsoft.com/office/drawing/2014/main" id="{ADC9F641-F081-5B4B-83CC-6ADAE2B98E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75638" y="161925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2826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8DBC914-62BC-3649-BEB4-BD91CBF055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D1687-5D3A-B547-974B-AD28DF7757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872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BD51B-ACAB-7042-8D52-94BF5946AC6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EC1DF3-8571-FF45-AF26-608241B756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 b="1" cap="all">
                <a:solidFill>
                  <a:srgbClr val="005587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4513F3E-18D7-354A-BA3C-C51343F3F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E94096B7-B609-AC41-9C13-3955C73145C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599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>
            <a:extLst>
              <a:ext uri="{FF2B5EF4-FFF2-40B4-BE49-F238E27FC236}">
                <a16:creationId xmlns:a16="http://schemas.microsoft.com/office/drawing/2014/main" id="{4D562D98-0CF7-F04F-BAA4-FC79A47000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54FB7BF6-55C6-A644-972F-BF0E1C3192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246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44688"/>
            <a:ext cx="4040188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391246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944688"/>
            <a:ext cx="4041775" cy="24368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216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>
            <a:extLst>
              <a:ext uri="{FF2B5EF4-FFF2-40B4-BE49-F238E27FC236}">
                <a16:creationId xmlns:a16="http://schemas.microsoft.com/office/drawing/2014/main" id="{450DDF2E-CCB6-0547-A5BF-367109A385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A99C66E-2C0B-5D47-8CAE-FE9A7CE88E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3418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0FCB922-04CA-B649-8B8C-F47E33B9D6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6E25ABF1-BE5E-B742-8B15-EAFE315704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383588" y="4537075"/>
            <a:ext cx="6064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130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 -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EEB7A28A-68F2-0348-9FB9-A55D579804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77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BBDB4B-434E-5841-8C55-1F2B08043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27963" y="4133850"/>
            <a:ext cx="8890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60430D-3485-7F49-8822-7405437E5C53}"/>
              </a:ext>
            </a:extLst>
          </p:cNvPr>
          <p:cNvCxnSpPr/>
          <p:nvPr userDrawn="1"/>
        </p:nvCxnSpPr>
        <p:spPr>
          <a:xfrm>
            <a:off x="0" y="309563"/>
            <a:ext cx="9144000" cy="0"/>
          </a:xfrm>
          <a:prstGeom prst="line">
            <a:avLst/>
          </a:prstGeom>
          <a:ln w="38100" cmpd="sng">
            <a:solidFill>
              <a:srgbClr val="E899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334FF0BE-0153-884F-8F35-C766CB9B5152}"/>
              </a:ext>
            </a:extLst>
          </p:cNvPr>
          <p:cNvSpPr/>
          <p:nvPr/>
        </p:nvSpPr>
        <p:spPr>
          <a:xfrm>
            <a:off x="7600950" y="298450"/>
            <a:ext cx="1543050" cy="517525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C831686F-FC2A-024E-A406-E0A7481F75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7950" y="4032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2"/>
          <p:cNvSpPr>
            <a:spLocks noGrp="1"/>
          </p:cNvSpPr>
          <p:nvPr>
            <p:ph type="title"/>
          </p:nvPr>
        </p:nvSpPr>
        <p:spPr>
          <a:xfrm>
            <a:off x="407722" y="1983028"/>
            <a:ext cx="8328557" cy="1173525"/>
          </a:xfrm>
        </p:spPr>
        <p:txBody>
          <a:bodyPr/>
          <a:lstStyle>
            <a:lvl1pPr algn="ctr">
              <a:defRPr sz="3600" b="1" spc="3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4"/>
          <p:cNvSpPr>
            <a:spLocks noGrp="1"/>
          </p:cNvSpPr>
          <p:nvPr>
            <p:ph sz="quarter" idx="10"/>
          </p:nvPr>
        </p:nvSpPr>
        <p:spPr>
          <a:xfrm>
            <a:off x="427397" y="3631634"/>
            <a:ext cx="7174159" cy="1215084"/>
          </a:xfrm>
        </p:spPr>
        <p:txBody>
          <a:bodyPr anchor="b"/>
          <a:lstStyle>
            <a:lvl1pPr marL="0" indent="0" algn="l">
              <a:buNone/>
              <a:defRPr sz="2100" baseline="0">
                <a:solidFill>
                  <a:schemeClr val="bg1"/>
                </a:solidFill>
              </a:defRPr>
            </a:lvl1pPr>
            <a:lvl2pPr marL="457178" indent="0">
              <a:buNone/>
              <a:defRPr>
                <a:solidFill>
                  <a:schemeClr val="bg1"/>
                </a:solidFill>
              </a:defRPr>
            </a:lvl2pPr>
            <a:lvl3pPr marL="914355" indent="0">
              <a:buNone/>
              <a:defRPr>
                <a:solidFill>
                  <a:schemeClr val="bg1"/>
                </a:solidFill>
              </a:defRPr>
            </a:lvl3pPr>
            <a:lvl4pPr marL="1371532" indent="0">
              <a:buNone/>
              <a:defRPr>
                <a:solidFill>
                  <a:schemeClr val="bg1"/>
                </a:solidFill>
              </a:defRPr>
            </a:lvl4pPr>
            <a:lvl5pPr marL="1828709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5487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822E64FD-81FF-D943-AFF5-681142E5B9D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387350"/>
            <a:ext cx="8229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E861207-7373-4344-BED4-311B44BEA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</p:sldLayoutIdLst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b="1" kern="1200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012169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rgbClr val="7F7F7F"/>
          </a:solidFill>
          <a:latin typeface="Arial" charset="0"/>
          <a:ea typeface="ＭＳ Ｐゴシック" pitchFamily="1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404040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7.08815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dl.acm.org/doi/10.1145/3383313.3412488" TargetMode="External"/><Relationship Id="rId5" Type="http://schemas.openxmlformats.org/officeDocument/2006/relationships/hyperlink" Target="https://www.sciencedirect.com/science/article/abs/pii/S014829631500140X" TargetMode="External"/><Relationship Id="rId4" Type="http://schemas.openxmlformats.org/officeDocument/2006/relationships/hyperlink" Target="https://arxiv.org/abs/2201.04122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0.png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NUL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hyperlink" Target="https://eugeneyan.com/writing/first-rule-of-ml/" TargetMode="External"/><Relationship Id="rId2" Type="http://schemas.openxmlformats.org/officeDocument/2006/relationships/hyperlink" Target="https://arxiv.org/pdf/1206.4656.pdf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evelopers.google.com/machine-learning/guides/rules-of-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619341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AIPI 520:</a:t>
            </a:r>
            <a:br>
              <a:rPr lang="en-US" dirty="0"/>
            </a:br>
            <a:r>
              <a:rPr lang="en-US" dirty="0"/>
              <a:t>Modeling Process &amp; Algorithms</a:t>
            </a:r>
            <a:br>
              <a:rPr lang="en-US" sz="3200" dirty="0"/>
            </a:br>
            <a:br>
              <a:rPr lang="en-US" sz="1600" dirty="0"/>
            </a:br>
            <a:br>
              <a:rPr lang="en-US" sz="1600" dirty="0"/>
            </a:b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96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26F6-DA2C-0B4F-BB83-FF4CFC343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7866"/>
            <a:ext cx="8229600" cy="311363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“It is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easy</a:t>
            </a:r>
            <a:r>
              <a:rPr lang="en-US" sz="1800" dirty="0">
                <a:solidFill>
                  <a:schemeClr val="tx2"/>
                </a:solidFill>
              </a:rPr>
              <a:t> </a:t>
            </a:r>
            <a:r>
              <a:rPr lang="en-US" sz="1800" dirty="0"/>
              <a:t>to sit in your office and run an algorithm on a data set you downloaded from the web.  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1800" dirty="0"/>
              <a:t>It is </a:t>
            </a:r>
            <a:r>
              <a:rPr lang="en-US" sz="1800" b="1" dirty="0">
                <a:solidFill>
                  <a:schemeClr val="tx1"/>
                </a:solidFill>
              </a:rPr>
              <a:t>very hard </a:t>
            </a:r>
            <a:r>
              <a:rPr lang="en-US" sz="1800" dirty="0">
                <a:solidFill>
                  <a:schemeClr val="tx1"/>
                </a:solidFill>
              </a:rPr>
              <a:t>to </a:t>
            </a:r>
            <a:r>
              <a:rPr lang="en-US" sz="1800" u="sng" dirty="0">
                <a:solidFill>
                  <a:schemeClr val="tx1"/>
                </a:solidFill>
              </a:rPr>
              <a:t>identify a problem for which machine learning may offer a solution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u="sng" dirty="0">
                <a:solidFill>
                  <a:schemeClr val="tx1"/>
                </a:solidFill>
              </a:rPr>
              <a:t>determine what data should be collected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u="sng" dirty="0">
                <a:solidFill>
                  <a:schemeClr val="tx1"/>
                </a:solidFill>
              </a:rPr>
              <a:t>select or extract relevant features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u="sng" dirty="0">
                <a:solidFill>
                  <a:schemeClr val="tx1"/>
                </a:solidFill>
              </a:rPr>
              <a:t>chose an appropriate learning method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u="sng" dirty="0">
                <a:solidFill>
                  <a:schemeClr val="tx1"/>
                </a:solidFill>
              </a:rPr>
              <a:t>select an evaluation method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u="sng" dirty="0">
                <a:solidFill>
                  <a:schemeClr val="tx1"/>
                </a:solidFill>
              </a:rPr>
              <a:t>interpret the results</a:t>
            </a:r>
            <a:r>
              <a:rPr lang="en-US" sz="1800" dirty="0">
                <a:solidFill>
                  <a:schemeClr val="tx1"/>
                </a:solidFill>
              </a:rPr>
              <a:t>, involve domain experts, publicize the results to the relevant </a:t>
            </a:r>
            <a:r>
              <a:rPr lang="en-US" sz="1800" dirty="0"/>
              <a:t>scientific community, persuade users to adopt the technique, and (only then) to truly have made a difference.”</a:t>
            </a:r>
          </a:p>
          <a:p>
            <a:pPr marL="0" indent="0">
              <a:buNone/>
            </a:pPr>
            <a:endParaRPr lang="en-US" sz="700" dirty="0"/>
          </a:p>
          <a:p>
            <a:pPr marL="0" indent="0">
              <a:buNone/>
            </a:pPr>
            <a:r>
              <a:rPr lang="en-US" sz="1800" i="1" dirty="0"/>
              <a:t>- </a:t>
            </a:r>
            <a:r>
              <a:rPr lang="en-US" sz="1600" i="1" dirty="0"/>
              <a:t>Wagstaff, “Machine Learning that Matters”</a:t>
            </a:r>
            <a:endParaRPr lang="en-US" sz="1800" i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E3E1BE4-6A27-2E46-8BE5-B56C8C533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/>
          <a:lstStyle/>
          <a:p>
            <a:r>
              <a:rPr lang="en-US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117959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0E06-A2D9-3E6A-3E85-DB9984BDC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will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6B3E-12F3-8DE6-DFC7-E732B460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000" dirty="0"/>
              <a:t>Modeling process best practices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Modeling, evaluation, interpretation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Key algorithms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How they work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Strengths and limitations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How to get the most from them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Applying ML to real-world structured data</a:t>
            </a:r>
          </a:p>
          <a:p>
            <a:pPr>
              <a:spcAft>
                <a:spcPts val="600"/>
              </a:spcAft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0504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D13A2-ED2F-7846-9F8A-51C80FD5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120809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Syllabus review</a:t>
            </a:r>
          </a:p>
        </p:txBody>
      </p:sp>
    </p:spTree>
    <p:extLst>
      <p:ext uri="{BB962C8B-B14F-4D97-AF65-F5344CB8AC3E}">
        <p14:creationId xmlns:p14="http://schemas.microsoft.com/office/powerpoint/2010/main" val="2198100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Introduction to Machine Learning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04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A6BF-4FCC-734E-9C98-B9B45CF78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What is Machine Learning?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699D4B-C6DA-3141-8F7F-A7874EA95A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200151"/>
            <a:ext cx="5273749" cy="3197224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“Field of study that gives computers the ability to learn </a:t>
            </a:r>
            <a:r>
              <a:rPr lang="en-US" sz="1800" b="1" dirty="0"/>
              <a:t>without being explicitly programmed</a:t>
            </a:r>
            <a:r>
              <a:rPr lang="en-US" sz="1800" dirty="0"/>
              <a:t>” – Arthur Samuel, IBM, 1959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Learning is usually defined as “gaining skill or knowledge through experience”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1800" dirty="0"/>
              <a:t>Two different types of learning: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Task-based – build expertise at a task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Generalization – transfer of learning from narrow situations to broader ones</a:t>
            </a:r>
          </a:p>
          <a:p>
            <a:pPr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3B0C327-83B2-AB92-46CD-FEE08688C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72" y="1273250"/>
            <a:ext cx="1905000" cy="264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71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E0CF-72AF-DA10-4153-3DF503212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D5F5E-6D19-8E67-49D4-B3046E78E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000" dirty="0"/>
              <a:t>There is some benefit to automating tasks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Perform better, faster and/or cheaper than humans</a:t>
            </a:r>
          </a:p>
          <a:p>
            <a:pPr lvl="1">
              <a:spcAft>
                <a:spcPts val="600"/>
              </a:spcAft>
            </a:pPr>
            <a:endParaRPr lang="en-US" sz="1600" dirty="0"/>
          </a:p>
          <a:p>
            <a:pPr>
              <a:spcAft>
                <a:spcPts val="600"/>
              </a:spcAft>
            </a:pPr>
            <a:r>
              <a:rPr lang="en-US" sz="2000" dirty="0"/>
              <a:t>It is unfeasible to do manually with traditional software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Specifying the rules may be too complex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We may not know the rules</a:t>
            </a:r>
          </a:p>
        </p:txBody>
      </p:sp>
    </p:spTree>
    <p:extLst>
      <p:ext uri="{BB962C8B-B14F-4D97-AF65-F5344CB8AC3E}">
        <p14:creationId xmlns:p14="http://schemas.microsoft.com/office/powerpoint/2010/main" val="219737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BBDC-B1CB-1C49-8349-C670AE711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C25B4-296F-614B-9B62-1BE68AF17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7981627" cy="493477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model is a </a:t>
            </a:r>
            <a:r>
              <a:rPr lang="en-US" sz="1800" b="1" dirty="0"/>
              <a:t>useful approximation </a:t>
            </a:r>
            <a:r>
              <a:rPr lang="en-US" sz="1800" dirty="0"/>
              <a:t>of a non-random phenomenon</a:t>
            </a:r>
            <a:endParaRPr lang="en-US" sz="1800" b="1" dirty="0"/>
          </a:p>
        </p:txBody>
      </p:sp>
      <p:pic>
        <p:nvPicPr>
          <p:cNvPr id="4" name="Picture 3" descr="difference between supervised and unsupervised learning">
            <a:extLst>
              <a:ext uri="{FF2B5EF4-FFF2-40B4-BE49-F238E27FC236}">
                <a16:creationId xmlns:a16="http://schemas.microsoft.com/office/drawing/2014/main" id="{EBF221F0-5040-5D49-8934-4897E4EEDE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56" t="67887" r="45399" b="7696"/>
          <a:stretch/>
        </p:blipFill>
        <p:spPr bwMode="auto">
          <a:xfrm>
            <a:off x="3394135" y="2072740"/>
            <a:ext cx="1127216" cy="128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162247-3C0D-C64A-B903-9EC277B7404D}"/>
              </a:ext>
            </a:extLst>
          </p:cNvPr>
          <p:cNvSpPr txBox="1"/>
          <p:nvPr/>
        </p:nvSpPr>
        <p:spPr>
          <a:xfrm>
            <a:off x="2987367" y="2016629"/>
            <a:ext cx="1712420" cy="338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u="sng" dirty="0"/>
              <a:t>Model</a:t>
            </a:r>
            <a:r>
              <a:rPr lang="en-US" sz="1600" b="1" dirty="0"/>
              <a:t> y=f(x)+𝛆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AD291D12-A1BC-1542-9DD2-51F75D24CF03}"/>
              </a:ext>
            </a:extLst>
          </p:cNvPr>
          <p:cNvSpPr/>
          <p:nvPr/>
        </p:nvSpPr>
        <p:spPr>
          <a:xfrm>
            <a:off x="2912362" y="2637087"/>
            <a:ext cx="446049" cy="38104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C85DC807-13F3-754B-A236-0AEDA0387B63}"/>
              </a:ext>
            </a:extLst>
          </p:cNvPr>
          <p:cNvSpPr/>
          <p:nvPr/>
        </p:nvSpPr>
        <p:spPr>
          <a:xfrm>
            <a:off x="4476763" y="2624058"/>
            <a:ext cx="446049" cy="38104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1E6F8E-24AE-3943-BD1F-22F100D858DD}"/>
              </a:ext>
            </a:extLst>
          </p:cNvPr>
          <p:cNvSpPr/>
          <p:nvPr/>
        </p:nvSpPr>
        <p:spPr>
          <a:xfrm>
            <a:off x="1667478" y="2323776"/>
            <a:ext cx="1127216" cy="98160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lang="en-US" sz="1600" dirty="0"/>
              <a:t>Input variable(s)</a:t>
            </a:r>
          </a:p>
          <a:p>
            <a:pPr algn="ctr"/>
            <a:r>
              <a:rPr lang="en-US" sz="1600" dirty="0"/>
              <a:t>x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7BBC59-6063-104E-996A-0F64E1180DBF}"/>
              </a:ext>
            </a:extLst>
          </p:cNvPr>
          <p:cNvSpPr/>
          <p:nvPr/>
        </p:nvSpPr>
        <p:spPr>
          <a:xfrm>
            <a:off x="5007288" y="2330016"/>
            <a:ext cx="1127216" cy="9816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36576" rIns="36576" rtlCol="0" anchor="ctr"/>
          <a:lstStyle/>
          <a:p>
            <a:pPr algn="ctr"/>
            <a:r>
              <a:rPr lang="en-US" sz="1600" dirty="0"/>
              <a:t>Output variable(s)</a:t>
            </a:r>
          </a:p>
          <a:p>
            <a:pPr algn="ctr"/>
            <a:r>
              <a:rPr lang="en-US" sz="1600" dirty="0"/>
              <a:t>y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BB26752-FD80-7977-7C05-0D81EBA5E016}"/>
              </a:ext>
            </a:extLst>
          </p:cNvPr>
          <p:cNvSpPr txBox="1">
            <a:spLocks/>
          </p:cNvSpPr>
          <p:nvPr/>
        </p:nvSpPr>
        <p:spPr bwMode="auto">
          <a:xfrm>
            <a:off x="457198" y="3804762"/>
            <a:ext cx="7981627" cy="493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/>
              <a:t>We might think of models as a method of compressing knowledge into a finite set of numbers (parameters)</a:t>
            </a:r>
          </a:p>
        </p:txBody>
      </p:sp>
    </p:spTree>
    <p:extLst>
      <p:ext uri="{BB962C8B-B14F-4D97-AF65-F5344CB8AC3E}">
        <p14:creationId xmlns:p14="http://schemas.microsoft.com/office/powerpoint/2010/main" val="245613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C99699-1E26-1C5A-AB7E-60CF57616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54" y="1475478"/>
            <a:ext cx="4176634" cy="32339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ED50E8D1-F0FD-99E7-67A0-19995D37CC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2621" y="1063625"/>
                <a:ext cx="212324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5pPr>
                <a:lvl6pPr marL="25146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6pPr>
                <a:lvl7pPr marL="29718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7pPr>
                <a:lvl8pPr marL="34290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8pPr>
                <a:lvl9pPr marL="3886200" indent="-228600" defTabSz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charset="0"/>
                    <a:ea typeface="MS PGothic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en-US" dirty="0">
                  <a:latin typeface="Times New Roman" charset="0"/>
                </a:endParaRPr>
              </a:p>
            </p:txBody>
          </p:sp>
        </mc:Choice>
        <mc:Fallback xmlns="">
          <p:sp>
            <p:nvSpPr>
              <p:cNvPr id="9" name="Text Box 3">
                <a:extLst>
                  <a:ext uri="{FF2B5EF4-FFF2-40B4-BE49-F238E27FC236}">
                    <a16:creationId xmlns:a16="http://schemas.microsoft.com/office/drawing/2014/main" id="{ED50E8D1-F0FD-99E7-67A0-19995D37C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2621" y="1063625"/>
                <a:ext cx="2123245" cy="369332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7666C415-9829-CF45-8F3D-1F5109BE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model?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63223D-BDC3-CB40-66A5-103B00EB3F52}"/>
              </a:ext>
            </a:extLst>
          </p:cNvPr>
          <p:cNvSpPr/>
          <p:nvPr/>
        </p:nvSpPr>
        <p:spPr>
          <a:xfrm>
            <a:off x="5859517" y="4318180"/>
            <a:ext cx="1127216" cy="59699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lang="en-US" sz="1600" dirty="0"/>
              <a:t>Input variable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396A36-C95A-7C5F-F58B-83DC6F61BEA1}"/>
              </a:ext>
            </a:extLst>
          </p:cNvPr>
          <p:cNvSpPr/>
          <p:nvPr/>
        </p:nvSpPr>
        <p:spPr>
          <a:xfrm>
            <a:off x="1501146" y="1176980"/>
            <a:ext cx="1127216" cy="59699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36576" rIns="36576" rtlCol="0" anchor="ctr"/>
          <a:lstStyle/>
          <a:p>
            <a:pPr algn="ctr"/>
            <a:r>
              <a:rPr lang="en-US" sz="1600" dirty="0"/>
              <a:t>Output variable</a:t>
            </a:r>
          </a:p>
        </p:txBody>
      </p:sp>
    </p:spTree>
    <p:extLst>
      <p:ext uri="{BB962C8B-B14F-4D97-AF65-F5344CB8AC3E}">
        <p14:creationId xmlns:p14="http://schemas.microsoft.com/office/powerpoint/2010/main" val="118930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George E. P. Box quote: All models are wrong, but some are useful.">
            <a:extLst>
              <a:ext uri="{FF2B5EF4-FFF2-40B4-BE49-F238E27FC236}">
                <a16:creationId xmlns:a16="http://schemas.microsoft.com/office/drawing/2014/main" id="{C75D7C4D-E3B4-0DB2-F982-787FCD3A9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9100"/>
            <a:ext cx="9144000" cy="430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75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3A49-1343-3B4A-946E-39A7A795D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data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9FDA052-D8A1-5241-A9D1-C50208DCE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887889"/>
              </p:ext>
            </p:extLst>
          </p:nvPr>
        </p:nvGraphicFramePr>
        <p:xfrm>
          <a:off x="1414551" y="1993726"/>
          <a:ext cx="7081060" cy="23780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80">
                  <a:extLst>
                    <a:ext uri="{9D8B030D-6E8A-4147-A177-3AD203B41FA5}">
                      <a16:colId xmlns:a16="http://schemas.microsoft.com/office/drawing/2014/main" val="1653296603"/>
                    </a:ext>
                  </a:extLst>
                </a:gridCol>
                <a:gridCol w="1011580">
                  <a:extLst>
                    <a:ext uri="{9D8B030D-6E8A-4147-A177-3AD203B41FA5}">
                      <a16:colId xmlns:a16="http://schemas.microsoft.com/office/drawing/2014/main" val="3664345186"/>
                    </a:ext>
                  </a:extLst>
                </a:gridCol>
                <a:gridCol w="1011580">
                  <a:extLst>
                    <a:ext uri="{9D8B030D-6E8A-4147-A177-3AD203B41FA5}">
                      <a16:colId xmlns:a16="http://schemas.microsoft.com/office/drawing/2014/main" val="2804791734"/>
                    </a:ext>
                  </a:extLst>
                </a:gridCol>
                <a:gridCol w="1011580">
                  <a:extLst>
                    <a:ext uri="{9D8B030D-6E8A-4147-A177-3AD203B41FA5}">
                      <a16:colId xmlns:a16="http://schemas.microsoft.com/office/drawing/2014/main" val="501560693"/>
                    </a:ext>
                  </a:extLst>
                </a:gridCol>
                <a:gridCol w="1011580">
                  <a:extLst>
                    <a:ext uri="{9D8B030D-6E8A-4147-A177-3AD203B41FA5}">
                      <a16:colId xmlns:a16="http://schemas.microsoft.com/office/drawing/2014/main" val="3656441998"/>
                    </a:ext>
                  </a:extLst>
                </a:gridCol>
                <a:gridCol w="1011580">
                  <a:extLst>
                    <a:ext uri="{9D8B030D-6E8A-4147-A177-3AD203B41FA5}">
                      <a16:colId xmlns:a16="http://schemas.microsoft.com/office/drawing/2014/main" val="2952897302"/>
                    </a:ext>
                  </a:extLst>
                </a:gridCol>
                <a:gridCol w="1011580">
                  <a:extLst>
                    <a:ext uri="{9D8B030D-6E8A-4147-A177-3AD203B41FA5}">
                      <a16:colId xmlns:a16="http://schemas.microsoft.com/office/drawing/2014/main" val="3857660086"/>
                    </a:ext>
                  </a:extLst>
                </a:gridCol>
              </a:tblGrid>
              <a:tr h="615636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Neighbor-hood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School 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Square footage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Number of bedrooms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Year built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Market sale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791253"/>
                  </a:ext>
                </a:extLst>
              </a:tr>
              <a:tr h="440602">
                <a:tc>
                  <a:txBody>
                    <a:bodyPr/>
                    <a:lstStyle/>
                    <a:p>
                      <a:r>
                        <a:rPr lang="en-US" sz="1200" dirty="0"/>
                        <a:t>House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Weycroft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$612,000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611410"/>
                  </a:ext>
                </a:extLst>
              </a:tr>
              <a:tr h="440602">
                <a:tc>
                  <a:txBody>
                    <a:bodyPr/>
                    <a:lstStyle/>
                    <a:p>
                      <a:r>
                        <a:rPr lang="en-US" sz="1200" dirty="0"/>
                        <a:t>House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Horton Creek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$675,000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2524895"/>
                  </a:ext>
                </a:extLst>
              </a:tr>
              <a:tr h="440602">
                <a:tc>
                  <a:txBody>
                    <a:bodyPr/>
                    <a:lstStyle/>
                    <a:p>
                      <a:r>
                        <a:rPr lang="en-US" sz="1200" dirty="0"/>
                        <a:t>House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Cary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Chatham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$520,000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600412"/>
                  </a:ext>
                </a:extLst>
              </a:tr>
              <a:tr h="440602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958957"/>
                  </a:ext>
                </a:extLst>
              </a:tr>
            </a:tbl>
          </a:graphicData>
        </a:graphic>
      </p:graphicFrame>
      <p:sp>
        <p:nvSpPr>
          <p:cNvPr id="8" name="Left Brace 7">
            <a:extLst>
              <a:ext uri="{FF2B5EF4-FFF2-40B4-BE49-F238E27FC236}">
                <a16:creationId xmlns:a16="http://schemas.microsoft.com/office/drawing/2014/main" id="{4A7B7A69-C780-CC47-9F0B-C6AD190F50C5}"/>
              </a:ext>
            </a:extLst>
          </p:cNvPr>
          <p:cNvSpPr/>
          <p:nvPr/>
        </p:nvSpPr>
        <p:spPr>
          <a:xfrm>
            <a:off x="1221971" y="2696441"/>
            <a:ext cx="108065" cy="1567988"/>
          </a:xfrm>
          <a:prstGeom prst="leftBrac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020039-18D7-724F-84E4-DE987C558882}"/>
              </a:ext>
            </a:extLst>
          </p:cNvPr>
          <p:cNvSpPr txBox="1"/>
          <p:nvPr/>
        </p:nvSpPr>
        <p:spPr>
          <a:xfrm>
            <a:off x="6925" y="3084022"/>
            <a:ext cx="1323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rgbClr val="00B050"/>
                </a:solidFill>
              </a:rPr>
              <a:t>Observations</a:t>
            </a:r>
            <a:r>
              <a:rPr lang="en-US" sz="1200" dirty="0">
                <a:solidFill>
                  <a:srgbClr val="00B050"/>
                </a:solidFill>
              </a:rPr>
              <a:t> / Instances /</a:t>
            </a:r>
          </a:p>
          <a:p>
            <a:r>
              <a:rPr lang="en-US" sz="1200" dirty="0">
                <a:solidFill>
                  <a:srgbClr val="00B050"/>
                </a:solidFill>
              </a:rPr>
              <a:t>Examples / Feature Vectors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E3B52AC-B165-B645-85D7-7B7B1F034225}"/>
              </a:ext>
            </a:extLst>
          </p:cNvPr>
          <p:cNvSpPr/>
          <p:nvPr/>
        </p:nvSpPr>
        <p:spPr>
          <a:xfrm rot="5400000">
            <a:off x="4778035" y="-669598"/>
            <a:ext cx="315883" cy="4908070"/>
          </a:xfrm>
          <a:prstGeom prst="leftBrace">
            <a:avLst/>
          </a:prstGeom>
          <a:ln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2994DFDE-A411-E84C-917F-3997841E2273}"/>
              </a:ext>
            </a:extLst>
          </p:cNvPr>
          <p:cNvSpPr/>
          <p:nvPr/>
        </p:nvSpPr>
        <p:spPr>
          <a:xfrm rot="5400000">
            <a:off x="7823662" y="1345246"/>
            <a:ext cx="315883" cy="87838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3F241D-3C44-BA46-9EB8-8E8ED5B64898}"/>
              </a:ext>
            </a:extLst>
          </p:cNvPr>
          <p:cNvSpPr txBox="1"/>
          <p:nvPr/>
        </p:nvSpPr>
        <p:spPr>
          <a:xfrm>
            <a:off x="3102030" y="1164829"/>
            <a:ext cx="3400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chemeClr val="accent6"/>
                </a:solidFill>
              </a:rPr>
              <a:t>Features</a:t>
            </a:r>
            <a:r>
              <a:rPr lang="en-US" sz="1200" dirty="0">
                <a:solidFill>
                  <a:schemeClr val="accent6"/>
                </a:solidFill>
              </a:rPr>
              <a:t> / Factors / Predictors / X Variables / Independent Variables / Attributes / Dimensions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3D2431-DD17-9147-A3C1-D3E4662ACDDD}"/>
              </a:ext>
            </a:extLst>
          </p:cNvPr>
          <p:cNvSpPr txBox="1"/>
          <p:nvPr/>
        </p:nvSpPr>
        <p:spPr>
          <a:xfrm>
            <a:off x="7450973" y="463460"/>
            <a:ext cx="1543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rgbClr val="FF0000"/>
                </a:solidFill>
              </a:rPr>
              <a:t>Targets</a:t>
            </a:r>
            <a:r>
              <a:rPr lang="en-US" sz="1200" dirty="0">
                <a:solidFill>
                  <a:srgbClr val="FF0000"/>
                </a:solidFill>
              </a:rPr>
              <a:t> / </a:t>
            </a:r>
          </a:p>
          <a:p>
            <a:r>
              <a:rPr lang="en-US" sz="1200" dirty="0">
                <a:solidFill>
                  <a:srgbClr val="FF0000"/>
                </a:solidFill>
              </a:rPr>
              <a:t>Labels / </a:t>
            </a:r>
          </a:p>
          <a:p>
            <a:r>
              <a:rPr lang="en-US" sz="1200" dirty="0">
                <a:solidFill>
                  <a:srgbClr val="FF0000"/>
                </a:solidFill>
              </a:rPr>
              <a:t>Annotations /</a:t>
            </a:r>
          </a:p>
          <a:p>
            <a:r>
              <a:rPr lang="en-US" sz="1200" dirty="0">
                <a:solidFill>
                  <a:srgbClr val="FF0000"/>
                </a:solidFill>
              </a:rPr>
              <a:t>Response /</a:t>
            </a:r>
          </a:p>
          <a:p>
            <a:r>
              <a:rPr lang="en-US" sz="1200" dirty="0">
                <a:solidFill>
                  <a:srgbClr val="FF0000"/>
                </a:solidFill>
              </a:rPr>
              <a:t>Y Variable / Dependent Variable</a:t>
            </a:r>
          </a:p>
        </p:txBody>
      </p:sp>
    </p:spTree>
    <p:extLst>
      <p:ext uri="{BB962C8B-B14F-4D97-AF65-F5344CB8AC3E}">
        <p14:creationId xmlns:p14="http://schemas.microsoft.com/office/powerpoint/2010/main" val="197683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31A43-A6F0-974E-B7A5-BC2E7C08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Supervised vs. unsupervised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0BCA87-6CA0-FF44-A601-9AE451F2EFB5}"/>
              </a:ext>
            </a:extLst>
          </p:cNvPr>
          <p:cNvSpPr/>
          <p:nvPr/>
        </p:nvSpPr>
        <p:spPr>
          <a:xfrm>
            <a:off x="457200" y="4556095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i="1" dirty="0"/>
              <a:t>https://</a:t>
            </a:r>
            <a:r>
              <a:rPr lang="en-US" sz="800" i="1" dirty="0" err="1"/>
              <a:t>www.researchgate.net</a:t>
            </a:r>
            <a:r>
              <a:rPr lang="en-US" sz="800" i="1" dirty="0"/>
              <a:t>/figure/Supervised-learning-and-unsupervised-learning-Supervised-learning-uses-annotation_fig1_329533120</a:t>
            </a:r>
          </a:p>
        </p:txBody>
      </p:sp>
      <p:pic>
        <p:nvPicPr>
          <p:cNvPr id="2052" name="Picture 4" descr="difference between supervised and unsupervised learning">
            <a:extLst>
              <a:ext uri="{FF2B5EF4-FFF2-40B4-BE49-F238E27FC236}">
                <a16:creationId xmlns:a16="http://schemas.microsoft.com/office/drawing/2014/main" id="{CB08CB41-1D6C-8B46-9876-907F7CC718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68" r="6784" b="37815"/>
          <a:stretch/>
        </p:blipFill>
        <p:spPr bwMode="auto">
          <a:xfrm>
            <a:off x="457199" y="2398573"/>
            <a:ext cx="3768290" cy="17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difference between supervised and unsupervised learning">
            <a:extLst>
              <a:ext uri="{FF2B5EF4-FFF2-40B4-BE49-F238E27FC236}">
                <a16:creationId xmlns:a16="http://schemas.microsoft.com/office/drawing/2014/main" id="{38D7FDE0-B5DF-974A-8D18-D01F22521E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50"/>
          <a:stretch/>
        </p:blipFill>
        <p:spPr bwMode="auto">
          <a:xfrm>
            <a:off x="4781380" y="2735019"/>
            <a:ext cx="3905418" cy="115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830B22-E824-C94B-8A15-F3DB1999E2D9}"/>
              </a:ext>
            </a:extLst>
          </p:cNvPr>
          <p:cNvSpPr/>
          <p:nvPr/>
        </p:nvSpPr>
        <p:spPr>
          <a:xfrm>
            <a:off x="457199" y="1135358"/>
            <a:ext cx="3768291" cy="3850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Supervised learning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0379C9-DC7D-BE47-8B03-DD435BF89398}"/>
              </a:ext>
            </a:extLst>
          </p:cNvPr>
          <p:cNvSpPr/>
          <p:nvPr/>
        </p:nvSpPr>
        <p:spPr>
          <a:xfrm>
            <a:off x="4781382" y="1135357"/>
            <a:ext cx="3768291" cy="3850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Unsupervised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BB57BD-5BC6-3748-89B2-E7CD877692E7}"/>
              </a:ext>
            </a:extLst>
          </p:cNvPr>
          <p:cNvSpPr txBox="1"/>
          <p:nvPr/>
        </p:nvSpPr>
        <p:spPr>
          <a:xfrm>
            <a:off x="457199" y="1650640"/>
            <a:ext cx="37682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 least some observations of the features (X</a:t>
            </a:r>
            <a:r>
              <a:rPr lang="en-US" sz="1400" baseline="-25000" dirty="0"/>
              <a:t>i</a:t>
            </a:r>
            <a:r>
              <a:rPr lang="en-US" sz="1400" dirty="0"/>
              <a:t>) and targets (Y</a:t>
            </a:r>
            <a:r>
              <a:rPr lang="en-US" sz="1400" baseline="-25000" dirty="0"/>
              <a:t>i</a:t>
            </a:r>
            <a:r>
              <a:rPr lang="en-US" sz="1400" dirty="0"/>
              <a:t>) are known and used to build a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9328E-A5A2-1A49-BB22-9A4CABD7AE18}"/>
              </a:ext>
            </a:extLst>
          </p:cNvPr>
          <p:cNvSpPr txBox="1"/>
          <p:nvPr/>
        </p:nvSpPr>
        <p:spPr>
          <a:xfrm>
            <a:off x="4781380" y="1650640"/>
            <a:ext cx="3768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We only have observations of the features (X</a:t>
            </a:r>
            <a:r>
              <a:rPr lang="en-US" sz="1400" baseline="-25000" dirty="0"/>
              <a:t>i</a:t>
            </a:r>
            <a:r>
              <a:rPr lang="en-US" sz="1400" dirty="0"/>
              <a:t>).  We need to use the observations to guess what the targets (Y</a:t>
            </a:r>
            <a:r>
              <a:rPr lang="en-US" sz="1400" baseline="-25000" dirty="0"/>
              <a:t>i</a:t>
            </a:r>
            <a:r>
              <a:rPr lang="en-US" sz="1400" dirty="0"/>
              <a:t>) would have been and build a model from there</a:t>
            </a:r>
          </a:p>
        </p:txBody>
      </p:sp>
    </p:spTree>
    <p:extLst>
      <p:ext uri="{BB962C8B-B14F-4D97-AF65-F5344CB8AC3E}">
        <p14:creationId xmlns:p14="http://schemas.microsoft.com/office/powerpoint/2010/main" val="2265112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B558E-140A-7C4D-BAE8-0AD736A7F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types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1C36463-8003-5B42-87EE-56DD622E9A4B}"/>
              </a:ext>
            </a:extLst>
          </p:cNvPr>
          <p:cNvSpPr/>
          <p:nvPr/>
        </p:nvSpPr>
        <p:spPr>
          <a:xfrm>
            <a:off x="542882" y="1123400"/>
            <a:ext cx="3768291" cy="3378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Regression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6F2730-91DB-3D4B-BE9B-8168F0BD00BB}"/>
              </a:ext>
            </a:extLst>
          </p:cNvPr>
          <p:cNvSpPr/>
          <p:nvPr/>
        </p:nvSpPr>
        <p:spPr>
          <a:xfrm>
            <a:off x="4867065" y="1123399"/>
            <a:ext cx="3768291" cy="33780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Classification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A2B171A-991A-934C-A855-D91A97D7E17D}"/>
              </a:ext>
            </a:extLst>
          </p:cNvPr>
          <p:cNvSpPr txBox="1">
            <a:spLocks/>
          </p:cNvSpPr>
          <p:nvPr/>
        </p:nvSpPr>
        <p:spPr>
          <a:xfrm>
            <a:off x="542883" y="1544084"/>
            <a:ext cx="3768290" cy="243681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Predict one or more </a:t>
            </a:r>
            <a:r>
              <a:rPr lang="en-US" sz="1400" b="1" dirty="0"/>
              <a:t>numerical</a:t>
            </a:r>
            <a:r>
              <a:rPr lang="en-US" sz="1400" dirty="0"/>
              <a:t> target variables</a:t>
            </a:r>
          </a:p>
          <a:p>
            <a:r>
              <a:rPr lang="en-US" sz="1400" dirty="0"/>
              <a:t>E.g. home price, number of power outages, product demand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D2D9C04-79CE-9943-857C-AF14EED65B95}"/>
              </a:ext>
            </a:extLst>
          </p:cNvPr>
          <p:cNvSpPr txBox="1">
            <a:spLocks/>
          </p:cNvSpPr>
          <p:nvPr/>
        </p:nvSpPr>
        <p:spPr>
          <a:xfrm>
            <a:off x="4867065" y="1544084"/>
            <a:ext cx="3769770" cy="243681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Predicts a </a:t>
            </a:r>
            <a:r>
              <a:rPr lang="en-US" sz="1400" b="1" dirty="0"/>
              <a:t>class / category </a:t>
            </a:r>
            <a:r>
              <a:rPr lang="en-US" sz="1400" dirty="0"/>
              <a:t>– either binary or out of a set</a:t>
            </a:r>
          </a:p>
          <a:p>
            <a:r>
              <a:rPr lang="en-US" sz="1400" dirty="0"/>
              <a:t>E.g. lung disease detection, identifying types of plants, sentiment analysis, detecting spam</a:t>
            </a:r>
          </a:p>
          <a:p>
            <a:endParaRPr lang="en-US" sz="1400" dirty="0"/>
          </a:p>
        </p:txBody>
      </p:sp>
      <p:pic>
        <p:nvPicPr>
          <p:cNvPr id="1026" name="Picture 2" descr="Alt text">
            <a:extLst>
              <a:ext uri="{FF2B5EF4-FFF2-40B4-BE49-F238E27FC236}">
                <a16:creationId xmlns:a16="http://schemas.microsoft.com/office/drawing/2014/main" id="{4B9ACF3C-92D7-764A-8CEF-9C3A9B212B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762"/>
          <a:stretch/>
        </p:blipFill>
        <p:spPr bwMode="auto">
          <a:xfrm>
            <a:off x="5746120" y="2745324"/>
            <a:ext cx="2168433" cy="2163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lt text">
            <a:extLst>
              <a:ext uri="{FF2B5EF4-FFF2-40B4-BE49-F238E27FC236}">
                <a16:creationId xmlns:a16="http://schemas.microsoft.com/office/drawing/2014/main" id="{E29480DF-07B7-6B44-A826-91CCA29947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7"/>
          <a:stretch/>
        </p:blipFill>
        <p:spPr bwMode="auto">
          <a:xfrm>
            <a:off x="1174120" y="2732422"/>
            <a:ext cx="2168433" cy="2167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808DFCE-4BEB-1A41-8451-7004F9C2FBFD}"/>
              </a:ext>
            </a:extLst>
          </p:cNvPr>
          <p:cNvSpPr/>
          <p:nvPr/>
        </p:nvSpPr>
        <p:spPr>
          <a:xfrm>
            <a:off x="26127" y="4917792"/>
            <a:ext cx="4572000" cy="20005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700" i="1" dirty="0"/>
              <a:t>Image source: https://aldro61.github.io/microbiome-summer-school-2017/sections/basics/</a:t>
            </a:r>
          </a:p>
        </p:txBody>
      </p:sp>
    </p:spTree>
    <p:extLst>
      <p:ext uri="{BB962C8B-B14F-4D97-AF65-F5344CB8AC3E}">
        <p14:creationId xmlns:p14="http://schemas.microsoft.com/office/powerpoint/2010/main" val="11021613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F480-093F-4C48-912B-90BFC919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Practice: Regression or classification?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A5CD0-E06A-A34C-8DC1-C4963E6B1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Detecting “fake news”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2000" dirty="0"/>
              <a:t>Predicting a stock price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2000" dirty="0"/>
              <a:t>Determining a new driver’s risk level for insurance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2000" dirty="0"/>
              <a:t>Finding a certain object in camera images – e.g. a self-driving car identifying a pedestrian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5398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228642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ML vs Heuristics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981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AFBFE-2721-8349-A3B6-E68C5DAD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43C616-8B0F-EB42-92BF-17B0B6529EE2}"/>
              </a:ext>
            </a:extLst>
          </p:cNvPr>
          <p:cNvSpPr txBox="1">
            <a:spLocks/>
          </p:cNvSpPr>
          <p:nvPr/>
        </p:nvSpPr>
        <p:spPr bwMode="auto">
          <a:xfrm>
            <a:off x="457200" y="1200151"/>
            <a:ext cx="7849891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dirty="0"/>
              <a:t>Methods of solving problems using a simplified set of rules based on past experience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Hard-coded business rules rather than machine learning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Examples: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Demand prediction: Predicting the mean value for sub-groups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Product classifier: Classifying based on title (e.g. Walmart)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Product recommender: recommend the highest rated</a:t>
            </a:r>
          </a:p>
          <a:p>
            <a:pPr lvl="1">
              <a:spcAft>
                <a:spcPts val="600"/>
              </a:spcAft>
            </a:pPr>
            <a:r>
              <a:rPr lang="en-US" sz="1600" dirty="0"/>
              <a:t>App recommender: recommend the most popular (# installs)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 lvl="1">
              <a:spcAft>
                <a:spcPts val="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14333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71C76-288C-C946-BC03-028748EC0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 versus ML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86C89A-03E6-3142-9E30-3473C4EF7BDF}"/>
              </a:ext>
            </a:extLst>
          </p:cNvPr>
          <p:cNvSpPr/>
          <p:nvPr/>
        </p:nvSpPr>
        <p:spPr>
          <a:xfrm>
            <a:off x="613458" y="1516283"/>
            <a:ext cx="3541853" cy="57873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Benefits of Heuristics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866FEC8-02EF-3442-A43E-CBDB3C764BE1}"/>
              </a:ext>
            </a:extLst>
          </p:cNvPr>
          <p:cNvSpPr/>
          <p:nvPr/>
        </p:nvSpPr>
        <p:spPr>
          <a:xfrm>
            <a:off x="4572000" y="1516283"/>
            <a:ext cx="3541853" cy="57873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Benefits of ML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F5F0C9-652C-AE4C-A9C7-0FB1DA68644A}"/>
              </a:ext>
            </a:extLst>
          </p:cNvPr>
          <p:cNvSpPr txBox="1">
            <a:spLocks/>
          </p:cNvSpPr>
          <p:nvPr/>
        </p:nvSpPr>
        <p:spPr bwMode="auto">
          <a:xfrm>
            <a:off x="613458" y="2322895"/>
            <a:ext cx="3541853" cy="206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dirty="0"/>
              <a:t>Easier to create and maintain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Minimal computational cost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High interpretability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>
              <a:spcAft>
                <a:spcPts val="600"/>
              </a:spcAft>
            </a:pPr>
            <a:endParaRPr lang="en-US" sz="1800" dirty="0"/>
          </a:p>
          <a:p>
            <a:pPr lvl="1">
              <a:spcAft>
                <a:spcPts val="600"/>
              </a:spcAft>
            </a:pPr>
            <a:endParaRPr lang="en-US" sz="1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676ECE-5CAF-4146-BB32-AA44D8F8FACF}"/>
              </a:ext>
            </a:extLst>
          </p:cNvPr>
          <p:cNvSpPr txBox="1">
            <a:spLocks/>
          </p:cNvSpPr>
          <p:nvPr/>
        </p:nvSpPr>
        <p:spPr bwMode="auto">
          <a:xfrm>
            <a:off x="4572000" y="2322895"/>
            <a:ext cx="3541853" cy="2063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800" dirty="0"/>
              <a:t>Often better performing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Can evolve with re-training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Suitable for a wider range of problems (e.g. big data, computer vision)</a:t>
            </a:r>
          </a:p>
          <a:p>
            <a:pPr>
              <a:spcAft>
                <a:spcPts val="600"/>
              </a:spcAft>
            </a:pPr>
            <a:endParaRPr lang="en-US" sz="1800" dirty="0"/>
          </a:p>
          <a:p>
            <a:pPr lvl="1">
              <a:spcAft>
                <a:spcPts val="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40261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86594-EF5A-BE45-B0DC-6BD96581B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using heuristics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A36C-A57F-F343-8D09-FED4D43AA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3813048" cy="3181350"/>
          </a:xfrm>
        </p:spPr>
        <p:txBody>
          <a:bodyPr/>
          <a:lstStyle/>
          <a:p>
            <a:r>
              <a:rPr lang="en-US" sz="1800" dirty="0"/>
              <a:t>How might we predict the daily sales at the University Store using heuristics, rather than building a model?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17EC1-750D-394B-AB79-0D10F4177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38323"/>
            <a:ext cx="3735728" cy="272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979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29BD7-19B2-4F4F-91B9-2EBE3C86A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Establishing a 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AC870C-61CD-5545-97DE-5F1BFCC61D78}"/>
              </a:ext>
            </a:extLst>
          </p:cNvPr>
          <p:cNvSpPr/>
          <p:nvPr/>
        </p:nvSpPr>
        <p:spPr>
          <a:xfrm>
            <a:off x="2751041" y="3325700"/>
            <a:ext cx="743589" cy="857807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39A628-EA7F-E140-A7AC-35163071FAB0}"/>
              </a:ext>
            </a:extLst>
          </p:cNvPr>
          <p:cNvSpPr/>
          <p:nvPr/>
        </p:nvSpPr>
        <p:spPr>
          <a:xfrm>
            <a:off x="3820900" y="2724959"/>
            <a:ext cx="743589" cy="145854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6ADB3F-A449-8D47-9C0E-2ADEF6D104AA}"/>
              </a:ext>
            </a:extLst>
          </p:cNvPr>
          <p:cNvSpPr/>
          <p:nvPr/>
        </p:nvSpPr>
        <p:spPr>
          <a:xfrm>
            <a:off x="4924904" y="2518331"/>
            <a:ext cx="743589" cy="166517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8DEB88-5E5D-3341-9F12-FF320B6F0931}"/>
              </a:ext>
            </a:extLst>
          </p:cNvPr>
          <p:cNvSpPr/>
          <p:nvPr/>
        </p:nvSpPr>
        <p:spPr>
          <a:xfrm>
            <a:off x="6013732" y="2399064"/>
            <a:ext cx="743589" cy="178444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6CFDE7-DB29-5846-9CE6-D1D40D30333F}"/>
              </a:ext>
            </a:extLst>
          </p:cNvPr>
          <p:cNvSpPr txBox="1"/>
          <p:nvPr/>
        </p:nvSpPr>
        <p:spPr>
          <a:xfrm>
            <a:off x="1494164" y="4183506"/>
            <a:ext cx="1033818" cy="54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Project Start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A7DD9B-7DDC-0640-9E15-D4544A8AE6ED}"/>
              </a:ext>
            </a:extLst>
          </p:cNvPr>
          <p:cNvSpPr txBox="1"/>
          <p:nvPr/>
        </p:nvSpPr>
        <p:spPr>
          <a:xfrm>
            <a:off x="2506339" y="4190681"/>
            <a:ext cx="1232991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Heuristic Baseline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7645A0-7BC9-FB4B-B35F-C9DC98278988}"/>
              </a:ext>
            </a:extLst>
          </p:cNvPr>
          <p:cNvSpPr txBox="1"/>
          <p:nvPr/>
        </p:nvSpPr>
        <p:spPr>
          <a:xfrm>
            <a:off x="3576198" y="4206717"/>
            <a:ext cx="1232991" cy="523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ML </a:t>
            </a:r>
          </a:p>
          <a:p>
            <a:pPr algn="ctr"/>
            <a:r>
              <a:rPr lang="en-US" sz="1400" dirty="0"/>
              <a:t>Baseline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C39BB853-BCE3-C149-B863-412806E3EA93}"/>
              </a:ext>
            </a:extLst>
          </p:cNvPr>
          <p:cNvSpPr/>
          <p:nvPr/>
        </p:nvSpPr>
        <p:spPr>
          <a:xfrm rot="19227907">
            <a:off x="3102366" y="2720473"/>
            <a:ext cx="662221" cy="484679"/>
          </a:xfrm>
          <a:prstGeom prst="rightArrow">
            <a:avLst/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10593B-5EB7-E849-994A-2735AA8EF426}"/>
              </a:ext>
            </a:extLst>
          </p:cNvPr>
          <p:cNvSpPr txBox="1"/>
          <p:nvPr/>
        </p:nvSpPr>
        <p:spPr>
          <a:xfrm>
            <a:off x="1046527" y="1893976"/>
            <a:ext cx="2143277" cy="882293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Is ML necessary to reach a satisfactory level?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Is ML worth the boost in performance?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1E97B4-4A36-4542-8BE4-3A9FF4B2CD5D}"/>
              </a:ext>
            </a:extLst>
          </p:cNvPr>
          <p:cNvSpPr txBox="1"/>
          <p:nvPr/>
        </p:nvSpPr>
        <p:spPr>
          <a:xfrm>
            <a:off x="4680202" y="4231028"/>
            <a:ext cx="1232991" cy="3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ML v2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BD9282-DEA5-4B4D-9F24-5C3811BA667A}"/>
              </a:ext>
            </a:extLst>
          </p:cNvPr>
          <p:cNvSpPr txBox="1"/>
          <p:nvPr/>
        </p:nvSpPr>
        <p:spPr>
          <a:xfrm>
            <a:off x="5780412" y="4231028"/>
            <a:ext cx="1232991" cy="323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ML v3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733F3-4CB8-4241-89D4-9FE5E0B227D1}"/>
              </a:ext>
            </a:extLst>
          </p:cNvPr>
          <p:cNvSpPr txBox="1"/>
          <p:nvPr/>
        </p:nvSpPr>
        <p:spPr>
          <a:xfrm>
            <a:off x="2118166" y="1467629"/>
            <a:ext cx="4450407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Performance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292B14-F665-F441-ADF6-F4B0C101B70D}"/>
              </a:ext>
            </a:extLst>
          </p:cNvPr>
          <p:cNvCxnSpPr/>
          <p:nvPr/>
        </p:nvCxnSpPr>
        <p:spPr>
          <a:xfrm>
            <a:off x="1582541" y="4183507"/>
            <a:ext cx="572108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999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3EAEF-9972-EC4B-AD5F-1686D801B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 as a 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0918-E1D7-B445-AA45-75C5D5432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2868804" cy="79138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Question: </a:t>
            </a:r>
          </a:p>
          <a:p>
            <a:pPr marL="0" indent="0">
              <a:buNone/>
            </a:pPr>
            <a:r>
              <a:rPr lang="en-US" sz="2000" dirty="0"/>
              <a:t>”Imagine you’re given a new, unfamiliar problem to solve with machine learning.  How would you approach it?”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B417FE-548B-0543-A22A-3928EA925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753" y="1360786"/>
            <a:ext cx="5628415" cy="2929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BCD90C-A8FE-DF44-BAC2-6A1AC35443F6}"/>
              </a:ext>
            </a:extLst>
          </p:cNvPr>
          <p:cNvSpPr txBox="1"/>
          <p:nvPr/>
        </p:nvSpPr>
        <p:spPr>
          <a:xfrm>
            <a:off x="457200" y="4756150"/>
            <a:ext cx="45720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i="1" dirty="0"/>
              <a:t>https://</a:t>
            </a:r>
            <a:r>
              <a:rPr lang="en-US" sz="700" i="1" dirty="0" err="1"/>
              <a:t>eugeneyan.com</a:t>
            </a:r>
            <a:r>
              <a:rPr lang="en-US" sz="700" i="1" dirty="0"/>
              <a:t>/writing/first-rule-of-ml/</a:t>
            </a:r>
          </a:p>
        </p:txBody>
      </p:sp>
    </p:spTree>
    <p:extLst>
      <p:ext uri="{BB962C8B-B14F-4D97-AF65-F5344CB8AC3E}">
        <p14:creationId xmlns:p14="http://schemas.microsoft.com/office/powerpoint/2010/main" val="803869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Modeling Process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297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D6BB-6BB0-6542-87CA-35F2F097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E4624-E917-EB4B-AFA7-0DE68DC46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lang="en-US" sz="1800" dirty="0"/>
              <a:t>Depending on our task, we have a variety of algorithms to choose from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No one algorithm is always better (“no free lunch theorem”)</a:t>
            </a:r>
          </a:p>
          <a:p>
            <a:pPr>
              <a:spcAft>
                <a:spcPts val="200"/>
              </a:spcAft>
            </a:pPr>
            <a:r>
              <a:rPr lang="en-US" sz="1800" dirty="0"/>
              <a:t>Our selection will depend on three criteria:</a:t>
            </a:r>
          </a:p>
          <a:p>
            <a:pPr>
              <a:spcAft>
                <a:spcPts val="200"/>
              </a:spcAft>
            </a:pPr>
            <a:endParaRPr lang="en-US" sz="2000" dirty="0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684D95B1-1E77-BE45-9357-D6D11EE2C3AE}"/>
              </a:ext>
            </a:extLst>
          </p:cNvPr>
          <p:cNvSpPr/>
          <p:nvPr/>
        </p:nvSpPr>
        <p:spPr>
          <a:xfrm>
            <a:off x="2761149" y="2794676"/>
            <a:ext cx="3234267" cy="1970617"/>
          </a:xfrm>
          <a:prstGeom prst="triangle">
            <a:avLst/>
          </a:prstGeom>
          <a:noFill/>
          <a:ln w="571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5096C2-B0E0-8246-B11E-DD616C7CBB16}"/>
              </a:ext>
            </a:extLst>
          </p:cNvPr>
          <p:cNvSpPr txBox="1"/>
          <p:nvPr/>
        </p:nvSpPr>
        <p:spPr>
          <a:xfrm>
            <a:off x="3451181" y="2438182"/>
            <a:ext cx="1913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Interpretability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6F867-A113-974D-8778-68CF9B2E9E94}"/>
              </a:ext>
            </a:extLst>
          </p:cNvPr>
          <p:cNvSpPr txBox="1"/>
          <p:nvPr/>
        </p:nvSpPr>
        <p:spPr>
          <a:xfrm>
            <a:off x="1017015" y="4381501"/>
            <a:ext cx="1913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F9FC4-0FA1-544E-BFF2-AA56E83C5B56}"/>
              </a:ext>
            </a:extLst>
          </p:cNvPr>
          <p:cNvSpPr txBox="1"/>
          <p:nvPr/>
        </p:nvSpPr>
        <p:spPr>
          <a:xfrm>
            <a:off x="5826083" y="4209423"/>
            <a:ext cx="1913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Computational Cost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CD9D5-B4A9-CC48-83E6-1A99B2E95495}"/>
              </a:ext>
            </a:extLst>
          </p:cNvPr>
          <p:cNvSpPr txBox="1"/>
          <p:nvPr/>
        </p:nvSpPr>
        <p:spPr>
          <a:xfrm>
            <a:off x="3451181" y="3769242"/>
            <a:ext cx="19134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Algorithm Selection</a:t>
            </a:r>
          </a:p>
        </p:txBody>
      </p:sp>
    </p:spTree>
    <p:extLst>
      <p:ext uri="{BB962C8B-B14F-4D97-AF65-F5344CB8AC3E}">
        <p14:creationId xmlns:p14="http://schemas.microsoft.com/office/powerpoint/2010/main" val="9397767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3FE2A-EF48-72A0-E676-CB77ADD84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vs Interpretability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BC454-33E9-5BC7-A62B-7324DA13E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435813" cy="318135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“Suppose you have cancer and you have to choose between a </a:t>
            </a:r>
            <a:r>
              <a:rPr lang="en-US" sz="2000" dirty="0">
                <a:solidFill>
                  <a:schemeClr val="tx2"/>
                </a:solidFill>
              </a:rPr>
              <a:t>black-box AI surgeon that cannot explain how it works but has a 90% cure rate</a:t>
            </a:r>
            <a:r>
              <a:rPr lang="en-US" sz="2000" dirty="0"/>
              <a:t> and a human surgeon with an 80% cure rate.  </a:t>
            </a:r>
            <a:r>
              <a:rPr lang="en-US" sz="2000" b="1" dirty="0"/>
              <a:t>Do you want the AI surgeon to be illegal</a:t>
            </a:r>
            <a:r>
              <a:rPr lang="en-US" sz="2000" dirty="0"/>
              <a:t>?”</a:t>
            </a:r>
          </a:p>
          <a:p>
            <a:pPr marL="0" indent="0">
              <a:buNone/>
            </a:pPr>
            <a:r>
              <a:rPr lang="en-US" sz="2000" dirty="0"/>
              <a:t>- Geoffrey Hinton</a:t>
            </a:r>
          </a:p>
        </p:txBody>
      </p:sp>
      <p:pic>
        <p:nvPicPr>
          <p:cNvPr id="1026" name="Picture 2" descr="How Robots and AI are Creating the 21st-Century Surgeon">
            <a:extLst>
              <a:ext uri="{FF2B5EF4-FFF2-40B4-BE49-F238E27FC236}">
                <a16:creationId xmlns:a16="http://schemas.microsoft.com/office/drawing/2014/main" id="{9CAE39E1-5661-1F38-C836-B41F7C663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5673" y="1409700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980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0BAF-0270-A648-AC5E-8A20CFDC6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Occam’s Razor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2E1F-C919-5545-8909-902AB39B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1693333"/>
            <a:ext cx="4013200" cy="268816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All else being equal, choose the simpler solution.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A5C9D7-0920-7F41-93CE-ECAACCB09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725487"/>
            <a:ext cx="3877733" cy="361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734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F13F5B-6FDC-BF6C-69A2-69366BF10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794" y="724108"/>
            <a:ext cx="5732411" cy="3824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2913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619167-99BE-D7D5-4CD4-91075546C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87" y="656328"/>
            <a:ext cx="6903025" cy="405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84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9545E-4CC6-845E-0073-23AF4E97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simpler systems better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2124D-7E3B-8851-A5BA-0D0D5E416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756826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Easier to build, scale and maintain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Lower operational costs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Generalize better and are more robust to data drift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Do not necessarily perform worse than complex models</a:t>
            </a:r>
          </a:p>
          <a:p>
            <a:pPr lvl="1"/>
            <a:r>
              <a:rPr lang="en-US" sz="1100" dirty="0">
                <a:hlinkClick r:id="rId3"/>
              </a:rPr>
              <a:t>Tree-based models &gt; deep neural networks</a:t>
            </a:r>
            <a:r>
              <a:rPr lang="en-US" sz="1100" dirty="0"/>
              <a:t> on 45 mid-sized tabular datasets</a:t>
            </a:r>
          </a:p>
          <a:p>
            <a:pPr lvl="1"/>
            <a:r>
              <a:rPr lang="en-US" sz="1100" dirty="0">
                <a:hlinkClick r:id="rId4"/>
              </a:rPr>
              <a:t>Simple averaging ≥ complex optimizers</a:t>
            </a:r>
            <a:r>
              <a:rPr lang="en-US" sz="1100" dirty="0"/>
              <a:t> on multi-task learning problems</a:t>
            </a:r>
          </a:p>
          <a:p>
            <a:pPr lvl="1"/>
            <a:r>
              <a:rPr lang="en-US" sz="1100" dirty="0">
                <a:hlinkClick r:id="rId5"/>
              </a:rPr>
              <a:t>Simple methods &gt; complex methods</a:t>
            </a:r>
            <a:r>
              <a:rPr lang="en-US" sz="1100" dirty="0"/>
              <a:t> in forecasting accuracy across 32 papers</a:t>
            </a:r>
          </a:p>
          <a:p>
            <a:pPr lvl="1"/>
            <a:r>
              <a:rPr lang="en-US" sz="1100" dirty="0">
                <a:hlinkClick r:id="rId6"/>
              </a:rPr>
              <a:t>Dot product &gt; neural collaborative filtering</a:t>
            </a:r>
            <a:r>
              <a:rPr lang="en-US" sz="1100" dirty="0"/>
              <a:t> in item recommendation and retrieval</a:t>
            </a:r>
          </a:p>
          <a:p>
            <a:pPr lvl="1"/>
            <a:endParaRPr lang="en-US" sz="1100" dirty="0"/>
          </a:p>
          <a:p>
            <a:pPr>
              <a:spcAft>
                <a:spcPts val="600"/>
              </a:spcAft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0D75C8-E71E-C336-7315-30F58CA8BE8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5327"/>
          <a:stretch/>
        </p:blipFill>
        <p:spPr>
          <a:xfrm>
            <a:off x="5476672" y="1200151"/>
            <a:ext cx="3083668" cy="1739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3F77FD-6F93-EA20-91B9-72A0E7208F48}"/>
              </a:ext>
            </a:extLst>
          </p:cNvPr>
          <p:cNvSpPr txBox="1"/>
          <p:nvPr/>
        </p:nvSpPr>
        <p:spPr>
          <a:xfrm>
            <a:off x="5369668" y="3076240"/>
            <a:ext cx="35019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i="1" dirty="0"/>
              <a:t>Recommended article: https://</a:t>
            </a:r>
            <a:r>
              <a:rPr lang="en-US" sz="900" i="1" dirty="0" err="1"/>
              <a:t>eugeneyan.com</a:t>
            </a:r>
            <a:r>
              <a:rPr lang="en-US" sz="900" i="1" dirty="0"/>
              <a:t>/writing/simplicity/</a:t>
            </a:r>
          </a:p>
        </p:txBody>
      </p:sp>
    </p:spTree>
    <p:extLst>
      <p:ext uri="{BB962C8B-B14F-4D97-AF65-F5344CB8AC3E}">
        <p14:creationId xmlns:p14="http://schemas.microsoft.com/office/powerpoint/2010/main" val="1184619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CFB7F-3AA5-234F-95E5-16824700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Algorithm selection best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930FD-18E1-EA42-841C-B57619A33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Start with developing a simple but reasonable heuristic, and measure the performance using your heuristic to make predictions 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Next, apply a simple ML algorithm (e.g. linear regression, or KNN for classification) and evaluate performance to get a baseline</a:t>
            </a:r>
          </a:p>
          <a:p>
            <a:pPr>
              <a:spcAft>
                <a:spcPts val="600"/>
              </a:spcAft>
              <a:buFont typeface="+mj-lt"/>
              <a:buAutoNum type="arabicPeriod"/>
            </a:pPr>
            <a:r>
              <a:rPr lang="en-US" sz="1800" dirty="0"/>
              <a:t>Now, experiment with different algorithms, keeping in mind the right balance between your three goals:</a:t>
            </a:r>
          </a:p>
          <a:p>
            <a:pPr lvl="1">
              <a:spcAft>
                <a:spcPts val="600"/>
              </a:spcAft>
            </a:pPr>
            <a:r>
              <a:rPr lang="en-US" sz="1800" dirty="0"/>
              <a:t>Performance</a:t>
            </a:r>
          </a:p>
          <a:p>
            <a:pPr lvl="1">
              <a:spcAft>
                <a:spcPts val="600"/>
              </a:spcAft>
            </a:pPr>
            <a:r>
              <a:rPr lang="en-US" sz="1800" dirty="0"/>
              <a:t>Interpretability</a:t>
            </a:r>
          </a:p>
          <a:p>
            <a:pPr lvl="1">
              <a:spcAft>
                <a:spcPts val="600"/>
              </a:spcAft>
            </a:pPr>
            <a:r>
              <a:rPr lang="en-US" sz="1800" dirty="0"/>
              <a:t>Computational efficiency</a:t>
            </a:r>
          </a:p>
          <a:p>
            <a:pPr lvl="1">
              <a:spcAft>
                <a:spcPts val="6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96318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Model Evaluation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8612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F5893-D406-9C42-849A-24F730314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&amp; Test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BD11F-32AD-144C-9D16-DE47CFA50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Goal of predictive modeling is to create a model that makes accurate predictions on new unseen data</a:t>
            </a:r>
          </a:p>
          <a:p>
            <a:pPr>
              <a:spcAft>
                <a:spcPts val="400"/>
              </a:spcAft>
            </a:pPr>
            <a:r>
              <a:rPr lang="en-US" sz="1800" dirty="0"/>
              <a:t>We cannot estimate performance on data we do not have, so instead we split our data into two sets</a:t>
            </a:r>
          </a:p>
          <a:p>
            <a:pPr lvl="1">
              <a:spcAft>
                <a:spcPts val="400"/>
              </a:spcAft>
            </a:pPr>
            <a:r>
              <a:rPr lang="en-US" sz="1400" b="1" dirty="0"/>
              <a:t>Training set  </a:t>
            </a:r>
            <a:r>
              <a:rPr lang="en-US" sz="1400" dirty="0"/>
              <a:t>- build and train the model</a:t>
            </a:r>
          </a:p>
          <a:p>
            <a:pPr lvl="1">
              <a:spcAft>
                <a:spcPts val="400"/>
              </a:spcAft>
            </a:pPr>
            <a:r>
              <a:rPr lang="en-US" sz="1400" b="1" dirty="0"/>
              <a:t>Test set </a:t>
            </a:r>
            <a:r>
              <a:rPr lang="en-US" sz="1400" dirty="0"/>
              <a:t>– Evaluate model performance performance</a:t>
            </a:r>
          </a:p>
          <a:p>
            <a:pPr>
              <a:spcAft>
                <a:spcPts val="400"/>
              </a:spcAft>
            </a:pPr>
            <a:endParaRPr lang="en-US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44A344-3EDA-AA4F-B592-BA5668B22224}"/>
              </a:ext>
            </a:extLst>
          </p:cNvPr>
          <p:cNvSpPr/>
          <p:nvPr/>
        </p:nvSpPr>
        <p:spPr>
          <a:xfrm>
            <a:off x="1192564" y="3663263"/>
            <a:ext cx="4443282" cy="5601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CB8433-B8B3-EE40-9D92-E7ECDF95AE85}"/>
              </a:ext>
            </a:extLst>
          </p:cNvPr>
          <p:cNvSpPr/>
          <p:nvPr/>
        </p:nvSpPr>
        <p:spPr>
          <a:xfrm>
            <a:off x="6349451" y="3663262"/>
            <a:ext cx="972065" cy="560173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88BC5-B96B-3346-A4A6-98DE5A9BE686}"/>
              </a:ext>
            </a:extLst>
          </p:cNvPr>
          <p:cNvSpPr txBox="1"/>
          <p:nvPr/>
        </p:nvSpPr>
        <p:spPr>
          <a:xfrm>
            <a:off x="1773331" y="3270629"/>
            <a:ext cx="3210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 (~80-90%)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061596-F189-6E4F-8500-6AB3F8A5F380}"/>
              </a:ext>
            </a:extLst>
          </p:cNvPr>
          <p:cNvSpPr txBox="1"/>
          <p:nvPr/>
        </p:nvSpPr>
        <p:spPr>
          <a:xfrm>
            <a:off x="6236180" y="3066679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4A6AB8C-B7AF-5146-A0DC-C83A61C72B3F}"/>
              </a:ext>
            </a:extLst>
          </p:cNvPr>
          <p:cNvSpPr/>
          <p:nvPr/>
        </p:nvSpPr>
        <p:spPr>
          <a:xfrm rot="5400000">
            <a:off x="3390761" y="2221271"/>
            <a:ext cx="136472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460A8-8E0D-9345-A49D-A223FD00A3DC}"/>
              </a:ext>
            </a:extLst>
          </p:cNvPr>
          <p:cNvSpPr txBox="1"/>
          <p:nvPr/>
        </p:nvSpPr>
        <p:spPr>
          <a:xfrm>
            <a:off x="1589007" y="4512536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building &amp; training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5F67D3-EBD7-CA4C-B018-FBADC5334A1A}"/>
              </a:ext>
            </a:extLst>
          </p:cNvPr>
          <p:cNvSpPr txBox="1"/>
          <p:nvPr/>
        </p:nvSpPr>
        <p:spPr>
          <a:xfrm>
            <a:off x="6032290" y="4507022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BAC7FC7B-0ED6-2744-B4A6-82B5AEAD9286}"/>
              </a:ext>
            </a:extLst>
          </p:cNvPr>
          <p:cNvSpPr/>
          <p:nvPr/>
        </p:nvSpPr>
        <p:spPr>
          <a:xfrm rot="5400000">
            <a:off x="6737280" y="3944504"/>
            <a:ext cx="155214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354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D3908-4E14-6B35-EE1C-C5767C3AB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6B7A-50E2-20E2-597C-B00608E05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Why do we sample?</a:t>
            </a:r>
          </a:p>
          <a:p>
            <a:pPr lvl="1"/>
            <a:r>
              <a:rPr lang="en-US" sz="1400" dirty="0"/>
              <a:t>We don’t have access to all possible data</a:t>
            </a:r>
          </a:p>
          <a:p>
            <a:pPr lvl="1"/>
            <a:r>
              <a:rPr lang="en-US" sz="1400" dirty="0"/>
              <a:t>It is infeasible to process all the data we have access to</a:t>
            </a:r>
          </a:p>
          <a:p>
            <a:pPr lvl="1"/>
            <a:endParaRPr lang="en-US" sz="1400" dirty="0"/>
          </a:p>
          <a:p>
            <a:r>
              <a:rPr lang="en-US" sz="1800" dirty="0"/>
              <a:t>Sampling occurs at multiple points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Sampling from the entire population to create training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Sampling from the training data to create a test set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400" dirty="0"/>
              <a:t>Sampling from the training data to do quick experiments</a:t>
            </a:r>
          </a:p>
          <a:p>
            <a:pPr marL="800100" lvl="1"/>
            <a:endParaRPr lang="en-US" sz="1400" dirty="0"/>
          </a:p>
          <a:p>
            <a:pPr marL="400050"/>
            <a:r>
              <a:rPr lang="en-US" sz="1800" dirty="0"/>
              <a:t>Two main types of sampling: </a:t>
            </a:r>
            <a:r>
              <a:rPr lang="en-US" sz="1800" b="1" dirty="0"/>
              <a:t>nonprobability sampling </a:t>
            </a:r>
            <a:r>
              <a:rPr lang="en-US" sz="1800" dirty="0"/>
              <a:t>and </a:t>
            </a:r>
            <a:r>
              <a:rPr lang="en-US" sz="1800" b="1" dirty="0"/>
              <a:t>random sampling</a:t>
            </a:r>
          </a:p>
        </p:txBody>
      </p:sp>
    </p:spTree>
    <p:extLst>
      <p:ext uri="{BB962C8B-B14F-4D97-AF65-F5344CB8AC3E}">
        <p14:creationId xmlns:p14="http://schemas.microsoft.com/office/powerpoint/2010/main" val="2011590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2B6D-84FB-B474-F5C2-AE77C5D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Nonprobability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93BC-727C-A2C3-DFF9-A339B0A5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Nonprobability sampling is when the selection of data is not based on any probability criteria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Types of nonprobability sampling: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Convenience sampling </a:t>
            </a:r>
            <a:r>
              <a:rPr lang="en-US" sz="1400" dirty="0"/>
              <a:t>– samples selected based on their availability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E.g. Use Google Image Search for pictures of flowers to train on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Snowball sampling </a:t>
            </a:r>
            <a:r>
              <a:rPr lang="en-US" sz="1400" dirty="0"/>
              <a:t>– Future samples selected based on existing samples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E.g. scraping Twitter accounts based on users you follow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Judgment sampling </a:t>
            </a:r>
            <a:r>
              <a:rPr lang="en-US" sz="1400" dirty="0"/>
              <a:t>– Domain experts decide what samples to use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Quota sampling </a:t>
            </a:r>
            <a:r>
              <a:rPr lang="en-US" sz="1400" dirty="0"/>
              <a:t>– Select samples based on quotas for sub-groups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E.g. a survey where you collect 100 responses from users of each age group</a:t>
            </a:r>
          </a:p>
        </p:txBody>
      </p:sp>
    </p:spTree>
    <p:extLst>
      <p:ext uri="{BB962C8B-B14F-4D97-AF65-F5344CB8AC3E}">
        <p14:creationId xmlns:p14="http://schemas.microsoft.com/office/powerpoint/2010/main" val="650813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92B6D-84FB-B474-F5C2-AE77C5D1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Nonprobability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A93BC-727C-A2C3-DFF9-A339B0A5E3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Samples are not representative of real-world data and thus are highly likely to cause bias in your model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However, this is a very common approach in practice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Examples: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Large language models are trained on easily collected data – Wikipedia, Reddit, Common Crawl </a:t>
            </a:r>
            <a:r>
              <a:rPr lang="en-US" sz="1400" dirty="0" err="1"/>
              <a:t>etc</a:t>
            </a:r>
            <a:endParaRPr lang="en-US" sz="1400" dirty="0"/>
          </a:p>
          <a:p>
            <a:pPr lvl="1">
              <a:spcAft>
                <a:spcPts val="600"/>
              </a:spcAft>
            </a:pPr>
            <a:r>
              <a:rPr lang="en-US" sz="1400" dirty="0"/>
              <a:t>Sentiment analysis models often trained on IMDB movie reviews or Amazon reviews – biased towards people who leave reviews online</a:t>
            </a:r>
          </a:p>
          <a:p>
            <a:pPr lvl="1">
              <a:spcAft>
                <a:spcPts val="600"/>
              </a:spcAft>
            </a:pPr>
            <a:r>
              <a:rPr lang="en-US" sz="1400" dirty="0"/>
              <a:t>Self-driving cars – initially trained only on Phoenix, AZ and Bay Area.  Waymo later expanded to include Kirkland, WA for rainy weather</a:t>
            </a:r>
          </a:p>
        </p:txBody>
      </p:sp>
    </p:spTree>
    <p:extLst>
      <p:ext uri="{BB962C8B-B14F-4D97-AF65-F5344CB8AC3E}">
        <p14:creationId xmlns:p14="http://schemas.microsoft.com/office/powerpoint/2010/main" val="3682719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BE4C2-26E2-0EF5-3684-4C789ADD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1BAF4-6D14-3225-659F-596728204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Random sampling involves randomly choosing samples from population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Several types: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Simple random sampling </a:t>
            </a:r>
            <a:r>
              <a:rPr lang="en-US" sz="1400" dirty="0"/>
              <a:t>– all samples have equal probability of being selected</a:t>
            </a:r>
          </a:p>
          <a:p>
            <a:pPr lvl="2">
              <a:spcAft>
                <a:spcPts val="600"/>
              </a:spcAft>
            </a:pPr>
            <a:r>
              <a:rPr lang="en-US" sz="1400" dirty="0"/>
              <a:t>Downside – certain rare categories may not appear in the sampled data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Stratified sampling </a:t>
            </a:r>
            <a:r>
              <a:rPr lang="en-US" sz="1400" dirty="0"/>
              <a:t>– divide population into groups you care about and sample a % randomly from each group</a:t>
            </a:r>
          </a:p>
          <a:p>
            <a:pPr lvl="2">
              <a:spcAft>
                <a:spcPts val="600"/>
              </a:spcAft>
            </a:pPr>
            <a:r>
              <a:rPr lang="en-US" sz="1400" dirty="0"/>
              <a:t>One challenge is that some observations may fall into multiple groups</a:t>
            </a:r>
          </a:p>
          <a:p>
            <a:pPr lvl="1">
              <a:spcAft>
                <a:spcPts val="600"/>
              </a:spcAft>
            </a:pPr>
            <a:r>
              <a:rPr lang="en-US" sz="1400" b="1" dirty="0">
                <a:solidFill>
                  <a:schemeClr val="tx2"/>
                </a:solidFill>
              </a:rPr>
              <a:t>Weighted sampling </a:t>
            </a:r>
            <a:r>
              <a:rPr lang="en-US" sz="1400" dirty="0"/>
              <a:t>– each sample is given a weight which determines the probability of being selected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Allows you to apply domain expertise in selection e.g. weight recent data higher</a:t>
            </a:r>
          </a:p>
          <a:p>
            <a:pPr lvl="2">
              <a:spcAft>
                <a:spcPts val="600"/>
              </a:spcAft>
            </a:pPr>
            <a:r>
              <a:rPr lang="en-US" sz="1200" dirty="0"/>
              <a:t>Helps when your available data has a different distribution than the true data</a:t>
            </a:r>
          </a:p>
        </p:txBody>
      </p:sp>
    </p:spTree>
    <p:extLst>
      <p:ext uri="{BB962C8B-B14F-4D97-AF65-F5344CB8AC3E}">
        <p14:creationId xmlns:p14="http://schemas.microsoft.com/office/powerpoint/2010/main" val="3978083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ED00-57F8-C24D-BF02-F8DF2344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for test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CB2C5-B34C-2A4D-BB96-450B7CA4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Take a random sample of indices to use for test set, use remainder for training</a:t>
            </a:r>
          </a:p>
          <a:p>
            <a:r>
              <a:rPr lang="en-US" sz="1800" dirty="0"/>
              <a:t>Use Scikit-</a:t>
            </a:r>
            <a:r>
              <a:rPr lang="en-US" sz="1800" dirty="0" err="1"/>
              <a:t>learn’s</a:t>
            </a:r>
            <a:r>
              <a:rPr lang="en-US" sz="1800" dirty="0"/>
              <a:t> </a:t>
            </a:r>
            <a:r>
              <a:rPr lang="en-US" sz="1800" dirty="0" err="1"/>
              <a:t>train_test_split</a:t>
            </a:r>
            <a:r>
              <a:rPr lang="en-US" sz="1800" dirty="0"/>
              <a:t> method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If we want to do stratified sampling we use the ‘stratify’ parameter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0A8D4A-CDFD-E141-8E78-897A2E50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4" y="2415111"/>
            <a:ext cx="6689558" cy="3757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AD74E4-7B49-F479-75FC-EC5D7D602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08538"/>
            <a:ext cx="7772400" cy="25428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7FAB563F-4F7A-04FC-3C97-D23E69C7E913}"/>
              </a:ext>
            </a:extLst>
          </p:cNvPr>
          <p:cNvSpPr/>
          <p:nvPr/>
        </p:nvSpPr>
        <p:spPr>
          <a:xfrm>
            <a:off x="7208196" y="3770762"/>
            <a:ext cx="1021404" cy="3451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8982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B298-4C54-0348-95B8-A96A09A8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7BF94-8873-9E44-9313-31E913CB1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18135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800" b="1" dirty="0"/>
              <a:t>“Data leakage” </a:t>
            </a:r>
            <a:r>
              <a:rPr lang="en-US" sz="1800" dirty="0"/>
              <a:t>occurs when some of our test set data “leaks” into model building and influences the development of the model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For example, if we use all of our data to select our features, or compare algorithms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This </a:t>
            </a:r>
            <a:r>
              <a:rPr lang="en-US" sz="1800" b="1" dirty="0"/>
              <a:t>invalidates the estimated performance </a:t>
            </a:r>
            <a:r>
              <a:rPr lang="en-US" sz="1800" dirty="0"/>
              <a:t>of the model and causes it to be overoptimistic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In severe cases, it can cause our model to be worthless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87833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C892-9EC4-E10B-C9E1-2D419E51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Data Leakage</a:t>
            </a:r>
            <a:endParaRPr lang="en-US"/>
          </a:p>
        </p:txBody>
      </p:sp>
      <p:pic>
        <p:nvPicPr>
          <p:cNvPr id="2050" name="Picture 2" descr="CPT Codes - How Medical Management Companies Use Them to Reduce Medical  Costs">
            <a:extLst>
              <a:ext uri="{FF2B5EF4-FFF2-40B4-BE49-F238E27FC236}">
                <a16:creationId xmlns:a16="http://schemas.microsoft.com/office/drawing/2014/main" id="{3D3A0D01-C978-697B-53CD-62825F9909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4" r="3" b="3"/>
          <a:stretch/>
        </p:blipFill>
        <p:spPr bwMode="auto">
          <a:xfrm>
            <a:off x="457200" y="1200151"/>
            <a:ext cx="4038600" cy="319722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0171-BEE5-6938-535C-A0B932DC1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19722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Data from the future is accidentally used within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6239608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1C892-9EC4-E10B-C9E1-2D419E51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229600" cy="676275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Data Leakage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E0171-BEE5-6938-535C-A0B932DC1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19722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A variable within the training data is an indicator of the target</a:t>
            </a:r>
          </a:p>
        </p:txBody>
      </p:sp>
      <p:pic>
        <p:nvPicPr>
          <p:cNvPr id="4" name="Picture 4" descr="Chest radiograph | Radiology Reference Article | Radiopaedia.org">
            <a:extLst>
              <a:ext uri="{FF2B5EF4-FFF2-40B4-BE49-F238E27FC236}">
                <a16:creationId xmlns:a16="http://schemas.microsoft.com/office/drawing/2014/main" id="{34CF7F53-EEF3-9025-C32B-24D0758B4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5" b="21428"/>
          <a:stretch/>
        </p:blipFill>
        <p:spPr bwMode="auto">
          <a:xfrm>
            <a:off x="4648200" y="1200151"/>
            <a:ext cx="4038600" cy="3197224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867684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8021F-4BFF-D234-A0F1-04802AD21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7350"/>
            <a:ext cx="8336604" cy="676275"/>
          </a:xfrm>
        </p:spPr>
        <p:txBody>
          <a:bodyPr/>
          <a:lstStyle/>
          <a:p>
            <a:r>
              <a:rPr lang="en-US" dirty="0"/>
              <a:t>Common causes of data leakage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466A0-BA1F-BE55-1FCC-C0C66FD01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386" y="1750979"/>
            <a:ext cx="3724172" cy="263052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Selecting features before splitting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Scaling before splitting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Filling missing values before splitting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Grouped observations are separated into different splits</a:t>
            </a:r>
          </a:p>
          <a:p>
            <a:pPr lvl="1">
              <a:spcAft>
                <a:spcPts val="600"/>
              </a:spcAft>
            </a:pPr>
            <a:r>
              <a:rPr lang="en-US" sz="1200" dirty="0"/>
              <a:t>E.g. two CT scans from the same patient taken a week apart</a:t>
            </a:r>
          </a:p>
          <a:p>
            <a:pPr>
              <a:spcAft>
                <a:spcPts val="600"/>
              </a:spcAft>
            </a:pPr>
            <a:endParaRPr lang="en-US" sz="16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A36059-1543-D73C-E98E-1013A5FA319E}"/>
              </a:ext>
            </a:extLst>
          </p:cNvPr>
          <p:cNvSpPr/>
          <p:nvPr/>
        </p:nvSpPr>
        <p:spPr>
          <a:xfrm>
            <a:off x="593388" y="1232204"/>
            <a:ext cx="3788924" cy="447473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Not great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23569E9-EA9E-6207-CB8A-DAFB1FB9B0CC}"/>
              </a:ext>
            </a:extLst>
          </p:cNvPr>
          <p:cNvSpPr/>
          <p:nvPr/>
        </p:nvSpPr>
        <p:spPr>
          <a:xfrm>
            <a:off x="4625502" y="1241932"/>
            <a:ext cx="3788924" cy="4474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Bad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06992FC-244C-3250-AE4C-2C8BD4D0F838}"/>
              </a:ext>
            </a:extLst>
          </p:cNvPr>
          <p:cNvSpPr txBox="1">
            <a:spLocks/>
          </p:cNvSpPr>
          <p:nvPr/>
        </p:nvSpPr>
        <p:spPr bwMode="auto">
          <a:xfrm>
            <a:off x="4625502" y="1750979"/>
            <a:ext cx="3788924" cy="274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/>
              <a:t>Splitting time series data randomly instead of by time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Failure to remove duplicate observations</a:t>
            </a:r>
            <a:endParaRPr lang="en-US" sz="1200" dirty="0"/>
          </a:p>
          <a:p>
            <a:pPr lvl="1">
              <a:spcAft>
                <a:spcPts val="600"/>
              </a:spcAft>
            </a:pPr>
            <a:r>
              <a:rPr lang="en-US" sz="1200" dirty="0"/>
              <a:t>Particularly dangerous when merging multiple datasets together</a:t>
            </a:r>
          </a:p>
          <a:p>
            <a:pPr lvl="1">
              <a:spcAft>
                <a:spcPts val="600"/>
              </a:spcAft>
            </a:pPr>
            <a:r>
              <a:rPr lang="en-US" sz="1200" dirty="0"/>
              <a:t>Common issue in several studies using ML to detect COVID-19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Different data generation processes for different classes</a:t>
            </a:r>
            <a:endParaRPr lang="en-US" sz="1200" dirty="0"/>
          </a:p>
          <a:p>
            <a:pPr>
              <a:spcAft>
                <a:spcPts val="600"/>
              </a:spcAft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27108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Comparing Models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025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277C8-B384-6242-86CB-34E3DEE5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Comparing models- validation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F67DE-BE0E-7148-83A4-68C2DAC93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Often we want to compare models to select the optimal model</a:t>
            </a:r>
          </a:p>
          <a:p>
            <a:r>
              <a:rPr lang="en-US" sz="1800" dirty="0"/>
              <a:t>If we use the test set to compare model performance, it is not longer an unbiased indicator of performance</a:t>
            </a:r>
          </a:p>
          <a:p>
            <a:r>
              <a:rPr lang="en-US" sz="1800" dirty="0"/>
              <a:t>Instead, we split the data 3 ways into training, validation and test sets</a:t>
            </a:r>
          </a:p>
          <a:p>
            <a:r>
              <a:rPr lang="en-US" sz="1800" dirty="0"/>
              <a:t>We use the validation set for model selection, and report performance on the test 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819E5-14CD-8745-8671-4655F218DC6D}"/>
              </a:ext>
            </a:extLst>
          </p:cNvPr>
          <p:cNvSpPr/>
          <p:nvPr/>
        </p:nvSpPr>
        <p:spPr>
          <a:xfrm>
            <a:off x="1192564" y="3663263"/>
            <a:ext cx="3534033" cy="5601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7DFC98-7791-F646-8784-8DBFB59E3561}"/>
              </a:ext>
            </a:extLst>
          </p:cNvPr>
          <p:cNvSpPr/>
          <p:nvPr/>
        </p:nvSpPr>
        <p:spPr>
          <a:xfrm>
            <a:off x="4726597" y="3663261"/>
            <a:ext cx="972065" cy="5601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27E041-ABF1-304B-9673-53AD51C2A101}"/>
              </a:ext>
            </a:extLst>
          </p:cNvPr>
          <p:cNvSpPr/>
          <p:nvPr/>
        </p:nvSpPr>
        <p:spPr>
          <a:xfrm>
            <a:off x="6349451" y="3663262"/>
            <a:ext cx="972065" cy="560173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DCBBC1-DE1E-A944-9FDE-1FE859067BB1}"/>
              </a:ext>
            </a:extLst>
          </p:cNvPr>
          <p:cNvSpPr txBox="1"/>
          <p:nvPr/>
        </p:nvSpPr>
        <p:spPr>
          <a:xfrm>
            <a:off x="1773331" y="3071780"/>
            <a:ext cx="24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</a:t>
            </a:r>
          </a:p>
          <a:p>
            <a:pPr algn="ctr"/>
            <a:r>
              <a:rPr lang="en-US" sz="1400" dirty="0"/>
              <a:t>(~60-80%)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897AE-0138-9A48-BFE4-8A091A409729}"/>
              </a:ext>
            </a:extLst>
          </p:cNvPr>
          <p:cNvSpPr txBox="1"/>
          <p:nvPr/>
        </p:nvSpPr>
        <p:spPr>
          <a:xfrm>
            <a:off x="4608177" y="3077119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Validation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FE1863-796A-7F47-8314-A313B7F32C42}"/>
              </a:ext>
            </a:extLst>
          </p:cNvPr>
          <p:cNvSpPr txBox="1"/>
          <p:nvPr/>
        </p:nvSpPr>
        <p:spPr>
          <a:xfrm>
            <a:off x="6236180" y="3066679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22926B35-7931-1B47-AC37-6FC77940FB5E}"/>
              </a:ext>
            </a:extLst>
          </p:cNvPr>
          <p:cNvSpPr/>
          <p:nvPr/>
        </p:nvSpPr>
        <p:spPr>
          <a:xfrm rot="5400000">
            <a:off x="3390761" y="2221271"/>
            <a:ext cx="136472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CEDE34-235D-EA4B-8A13-D9541818F9A7}"/>
              </a:ext>
            </a:extLst>
          </p:cNvPr>
          <p:cNvSpPr txBox="1"/>
          <p:nvPr/>
        </p:nvSpPr>
        <p:spPr>
          <a:xfrm>
            <a:off x="1589007" y="4512536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0CE9C0-9743-C64F-AB9B-53DE8BC0503B}"/>
              </a:ext>
            </a:extLst>
          </p:cNvPr>
          <p:cNvSpPr txBox="1"/>
          <p:nvPr/>
        </p:nvSpPr>
        <p:spPr>
          <a:xfrm>
            <a:off x="6032290" y="4507022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43280570-D363-E249-B162-027DF7FC33A2}"/>
              </a:ext>
            </a:extLst>
          </p:cNvPr>
          <p:cNvSpPr/>
          <p:nvPr/>
        </p:nvSpPr>
        <p:spPr>
          <a:xfrm rot="5400000">
            <a:off x="6737280" y="3944504"/>
            <a:ext cx="155214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547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855C-292A-334B-BC9D-7343134E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5E130-1BDE-2C45-82B1-9EDFDA399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What might be some potential problems with using a validation set to do your model selection?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47781-2920-5C4F-8E5C-CF17D0DE266D}"/>
              </a:ext>
            </a:extLst>
          </p:cNvPr>
          <p:cNvSpPr/>
          <p:nvPr/>
        </p:nvSpPr>
        <p:spPr>
          <a:xfrm>
            <a:off x="1194487" y="2990209"/>
            <a:ext cx="3534033" cy="560173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3FA0F-9752-D745-85FB-15D38108134D}"/>
              </a:ext>
            </a:extLst>
          </p:cNvPr>
          <p:cNvSpPr/>
          <p:nvPr/>
        </p:nvSpPr>
        <p:spPr>
          <a:xfrm>
            <a:off x="4728520" y="2990207"/>
            <a:ext cx="972065" cy="5601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5E97FF-68EE-9348-97DC-836C4BC90112}"/>
              </a:ext>
            </a:extLst>
          </p:cNvPr>
          <p:cNvSpPr/>
          <p:nvPr/>
        </p:nvSpPr>
        <p:spPr>
          <a:xfrm>
            <a:off x="6351374" y="2990208"/>
            <a:ext cx="972065" cy="560173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727B3-D6FF-4742-8006-8C547FF92C12}"/>
              </a:ext>
            </a:extLst>
          </p:cNvPr>
          <p:cNvSpPr txBox="1"/>
          <p:nvPr/>
        </p:nvSpPr>
        <p:spPr>
          <a:xfrm>
            <a:off x="1775254" y="2398726"/>
            <a:ext cx="2487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</a:t>
            </a:r>
          </a:p>
          <a:p>
            <a:pPr algn="ctr"/>
            <a:r>
              <a:rPr lang="en-US" sz="1400" dirty="0"/>
              <a:t>(~70-80%)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00FB89-CCDC-F74C-879F-BBE9B8DB12E6}"/>
              </a:ext>
            </a:extLst>
          </p:cNvPr>
          <p:cNvSpPr txBox="1"/>
          <p:nvPr/>
        </p:nvSpPr>
        <p:spPr>
          <a:xfrm>
            <a:off x="4610100" y="2404065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Validation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AE19D6-2A72-A140-B57F-ABDA4CF5165D}"/>
              </a:ext>
            </a:extLst>
          </p:cNvPr>
          <p:cNvSpPr txBox="1"/>
          <p:nvPr/>
        </p:nvSpPr>
        <p:spPr>
          <a:xfrm>
            <a:off x="6238103" y="2393625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2C5CEEB-80EA-B843-8D77-5D3DAFA622AF}"/>
              </a:ext>
            </a:extLst>
          </p:cNvPr>
          <p:cNvSpPr/>
          <p:nvPr/>
        </p:nvSpPr>
        <p:spPr>
          <a:xfrm rot="5400000">
            <a:off x="3319721" y="1616938"/>
            <a:ext cx="259748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735E13-BC35-254E-8EE0-42D22C1CB3EC}"/>
              </a:ext>
            </a:extLst>
          </p:cNvPr>
          <p:cNvSpPr txBox="1"/>
          <p:nvPr/>
        </p:nvSpPr>
        <p:spPr>
          <a:xfrm>
            <a:off x="1579605" y="3969841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3E141-5B74-2748-A7A4-6A4E0DE90737}"/>
              </a:ext>
            </a:extLst>
          </p:cNvPr>
          <p:cNvSpPr txBox="1"/>
          <p:nvPr/>
        </p:nvSpPr>
        <p:spPr>
          <a:xfrm>
            <a:off x="6022888" y="3994807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28A10109-A1CA-9442-8E5A-0E79AFF61E93}"/>
              </a:ext>
            </a:extLst>
          </p:cNvPr>
          <p:cNvSpPr/>
          <p:nvPr/>
        </p:nvSpPr>
        <p:spPr>
          <a:xfrm rot="5400000">
            <a:off x="6657774" y="3362185"/>
            <a:ext cx="295422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633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Cross-Validation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5780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43671724-8FEC-2B46-AA46-2F7B523888F3}"/>
              </a:ext>
            </a:extLst>
          </p:cNvPr>
          <p:cNvSpPr/>
          <p:nvPr/>
        </p:nvSpPr>
        <p:spPr>
          <a:xfrm>
            <a:off x="1468933" y="3472733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9A9CB6D-E22A-D04E-9CB8-F249FCB1ABE6}"/>
              </a:ext>
            </a:extLst>
          </p:cNvPr>
          <p:cNvSpPr/>
          <p:nvPr/>
        </p:nvSpPr>
        <p:spPr>
          <a:xfrm>
            <a:off x="1468933" y="3290534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6E3294-5E87-3345-84E8-922A4F391EED}"/>
              </a:ext>
            </a:extLst>
          </p:cNvPr>
          <p:cNvSpPr/>
          <p:nvPr/>
        </p:nvSpPr>
        <p:spPr>
          <a:xfrm>
            <a:off x="1471273" y="3116078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C23968-687A-904B-8EC6-AAE25238595F}"/>
              </a:ext>
            </a:extLst>
          </p:cNvPr>
          <p:cNvSpPr/>
          <p:nvPr/>
        </p:nvSpPr>
        <p:spPr>
          <a:xfrm>
            <a:off x="1471273" y="2932293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461078-B728-2149-B8CC-B8DBAA984AD6}"/>
              </a:ext>
            </a:extLst>
          </p:cNvPr>
          <p:cNvSpPr/>
          <p:nvPr/>
        </p:nvSpPr>
        <p:spPr>
          <a:xfrm>
            <a:off x="1471273" y="2755674"/>
            <a:ext cx="4823673" cy="175249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BABF7-664B-664E-BD21-9328984EB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K-Folds Cross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5F4BA-B43D-2B4F-A1DF-B04E9229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425313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/>
              <a:t>Rather than using a fixed validation set, we train and run the model(s) multiple times, each time using a different subset (“fold”) as the validation set</a:t>
            </a:r>
          </a:p>
          <a:p>
            <a:endParaRPr lang="en-US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B703A-BB37-5646-9A4F-872D078D1B1C}"/>
              </a:ext>
            </a:extLst>
          </p:cNvPr>
          <p:cNvSpPr/>
          <p:nvPr/>
        </p:nvSpPr>
        <p:spPr>
          <a:xfrm>
            <a:off x="6794361" y="2761990"/>
            <a:ext cx="972065" cy="862159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F99B6D-3888-F645-89CC-0EBAF9BF7460}"/>
              </a:ext>
            </a:extLst>
          </p:cNvPr>
          <p:cNvSpPr txBox="1"/>
          <p:nvPr/>
        </p:nvSpPr>
        <p:spPr>
          <a:xfrm>
            <a:off x="2231631" y="2272798"/>
            <a:ext cx="369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+ cross-validation </a:t>
            </a:r>
          </a:p>
          <a:p>
            <a:pPr algn="ctr"/>
            <a:r>
              <a:rPr lang="en-US" sz="1400" dirty="0"/>
              <a:t>(~80-90%)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66ECF-CEF5-2F4D-9546-DCA511F5C3F0}"/>
              </a:ext>
            </a:extLst>
          </p:cNvPr>
          <p:cNvSpPr txBox="1"/>
          <p:nvPr/>
        </p:nvSpPr>
        <p:spPr>
          <a:xfrm>
            <a:off x="6694480" y="2267697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8DAB584-054E-D642-BDD2-C02C3CD9CA73}"/>
              </a:ext>
            </a:extLst>
          </p:cNvPr>
          <p:cNvSpPr/>
          <p:nvPr/>
        </p:nvSpPr>
        <p:spPr>
          <a:xfrm rot="5400000">
            <a:off x="3776098" y="1664008"/>
            <a:ext cx="259748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3A9CA-56C6-CE4D-B4FC-4FCABFF4656E}"/>
              </a:ext>
            </a:extLst>
          </p:cNvPr>
          <p:cNvSpPr txBox="1"/>
          <p:nvPr/>
        </p:nvSpPr>
        <p:spPr>
          <a:xfrm>
            <a:off x="2035982" y="4016911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A90514-D6C3-884E-B57C-C125E782A594}"/>
              </a:ext>
            </a:extLst>
          </p:cNvPr>
          <p:cNvSpPr txBox="1"/>
          <p:nvPr/>
        </p:nvSpPr>
        <p:spPr>
          <a:xfrm>
            <a:off x="6479265" y="4041877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E3C1D3C-F429-8548-A11E-329E40E451CC}"/>
              </a:ext>
            </a:extLst>
          </p:cNvPr>
          <p:cNvSpPr/>
          <p:nvPr/>
        </p:nvSpPr>
        <p:spPr>
          <a:xfrm rot="5400000">
            <a:off x="7114151" y="3409255"/>
            <a:ext cx="295422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0B0ED-2EA5-0747-B7EA-BD688CF8BA3F}"/>
              </a:ext>
            </a:extLst>
          </p:cNvPr>
          <p:cNvSpPr/>
          <p:nvPr/>
        </p:nvSpPr>
        <p:spPr>
          <a:xfrm>
            <a:off x="1481990" y="2761992"/>
            <a:ext cx="972065" cy="1689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377CFC-478D-B241-B10B-842396BA99FB}"/>
              </a:ext>
            </a:extLst>
          </p:cNvPr>
          <p:cNvSpPr/>
          <p:nvPr/>
        </p:nvSpPr>
        <p:spPr>
          <a:xfrm>
            <a:off x="2454055" y="2940829"/>
            <a:ext cx="972065" cy="1667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EAC7EC-AC65-564D-8CB9-E7D48DA9A365}"/>
              </a:ext>
            </a:extLst>
          </p:cNvPr>
          <p:cNvSpPr/>
          <p:nvPr/>
        </p:nvSpPr>
        <p:spPr>
          <a:xfrm>
            <a:off x="3424059" y="3096123"/>
            <a:ext cx="972065" cy="2037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F8A0BC-7537-3242-9208-EEA9C920AFB3}"/>
              </a:ext>
            </a:extLst>
          </p:cNvPr>
          <p:cNvSpPr/>
          <p:nvPr/>
        </p:nvSpPr>
        <p:spPr>
          <a:xfrm>
            <a:off x="4386518" y="3286587"/>
            <a:ext cx="972065" cy="1685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265DD8-789B-CA43-BD5B-D713E5D0AB73}"/>
              </a:ext>
            </a:extLst>
          </p:cNvPr>
          <p:cNvSpPr/>
          <p:nvPr/>
        </p:nvSpPr>
        <p:spPr>
          <a:xfrm>
            <a:off x="5320541" y="3482213"/>
            <a:ext cx="972065" cy="165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903B41-4C2A-544E-BBD3-134D8703E88B}"/>
              </a:ext>
            </a:extLst>
          </p:cNvPr>
          <p:cNvSpPr txBox="1"/>
          <p:nvPr/>
        </p:nvSpPr>
        <p:spPr>
          <a:xfrm>
            <a:off x="590694" y="2346492"/>
            <a:ext cx="1138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K=5 Folds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95F03C-E9D4-9342-9B2E-28623B6DD562}"/>
              </a:ext>
            </a:extLst>
          </p:cNvPr>
          <p:cNvSpPr txBox="1"/>
          <p:nvPr/>
        </p:nvSpPr>
        <p:spPr>
          <a:xfrm>
            <a:off x="474690" y="2719727"/>
            <a:ext cx="9720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00EC29-DB8A-6C49-9028-C0328F0E6C94}"/>
              </a:ext>
            </a:extLst>
          </p:cNvPr>
          <p:cNvSpPr txBox="1"/>
          <p:nvPr/>
        </p:nvSpPr>
        <p:spPr>
          <a:xfrm>
            <a:off x="474690" y="2888730"/>
            <a:ext cx="96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A562E-0D1E-2044-983B-E3500A6BCBCC}"/>
              </a:ext>
            </a:extLst>
          </p:cNvPr>
          <p:cNvSpPr txBox="1"/>
          <p:nvPr/>
        </p:nvSpPr>
        <p:spPr>
          <a:xfrm>
            <a:off x="474690" y="3070687"/>
            <a:ext cx="9744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92B493-1C23-6B43-B41F-306C524B3F00}"/>
              </a:ext>
            </a:extLst>
          </p:cNvPr>
          <p:cNvSpPr txBox="1"/>
          <p:nvPr/>
        </p:nvSpPr>
        <p:spPr>
          <a:xfrm>
            <a:off x="482522" y="3250914"/>
            <a:ext cx="96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5577ED-1A50-6444-9232-3B3B88401661}"/>
              </a:ext>
            </a:extLst>
          </p:cNvPr>
          <p:cNvSpPr txBox="1"/>
          <p:nvPr/>
        </p:nvSpPr>
        <p:spPr>
          <a:xfrm>
            <a:off x="482522" y="3440785"/>
            <a:ext cx="964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Iteration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4F3240-7C46-0F4C-A3CC-3D9986579E3B}"/>
              </a:ext>
            </a:extLst>
          </p:cNvPr>
          <p:cNvSpPr/>
          <p:nvPr/>
        </p:nvSpPr>
        <p:spPr>
          <a:xfrm>
            <a:off x="698158" y="4787255"/>
            <a:ext cx="353807" cy="181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6008C7-D6C2-1848-8BBD-3A5CEE5C6D59}"/>
              </a:ext>
            </a:extLst>
          </p:cNvPr>
          <p:cNvSpPr txBox="1"/>
          <p:nvPr/>
        </p:nvSpPr>
        <p:spPr>
          <a:xfrm>
            <a:off x="1003413" y="4756641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Validation fold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965C88-3094-5F4B-A517-CA7E77ACDD9F}"/>
              </a:ext>
            </a:extLst>
          </p:cNvPr>
          <p:cNvSpPr/>
          <p:nvPr/>
        </p:nvSpPr>
        <p:spPr>
          <a:xfrm>
            <a:off x="2881396" y="4780068"/>
            <a:ext cx="353807" cy="181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4480CA-9BD2-BA41-A509-E74F483506E9}"/>
              </a:ext>
            </a:extLst>
          </p:cNvPr>
          <p:cNvSpPr txBox="1"/>
          <p:nvPr/>
        </p:nvSpPr>
        <p:spPr>
          <a:xfrm>
            <a:off x="3251387" y="4746253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folds</a:t>
            </a:r>
          </a:p>
        </p:txBody>
      </p:sp>
    </p:spTree>
    <p:extLst>
      <p:ext uri="{BB962C8B-B14F-4D97-AF65-F5344CB8AC3E}">
        <p14:creationId xmlns:p14="http://schemas.microsoft.com/office/powerpoint/2010/main" val="2033785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193B-DF75-D44D-83B2-77C224824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K-Folds Cross Validation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C48F37-C87C-5948-9843-322BE6DAB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749517"/>
          </a:xfrm>
        </p:spPr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/>
              <a:t>We calculate the error on the validation fold for each iteration, and then average them together to get the average error</a:t>
            </a:r>
          </a:p>
          <a:p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7DB24A-981B-954C-8FE1-B22767107EE8}"/>
              </a:ext>
            </a:extLst>
          </p:cNvPr>
          <p:cNvSpPr txBox="1"/>
          <p:nvPr/>
        </p:nvSpPr>
        <p:spPr>
          <a:xfrm>
            <a:off x="615632" y="2086194"/>
            <a:ext cx="1138429" cy="38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K=5 Folds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793531-B1FB-FA4B-A009-A2C33AC5AD9E}"/>
              </a:ext>
            </a:extLst>
          </p:cNvPr>
          <p:cNvGrpSpPr/>
          <p:nvPr/>
        </p:nvGrpSpPr>
        <p:grpSpPr>
          <a:xfrm>
            <a:off x="557168" y="2554312"/>
            <a:ext cx="8021834" cy="1694302"/>
            <a:chOff x="557168" y="2554313"/>
            <a:chExt cx="8021834" cy="118271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47AD98-6784-4640-B292-650F47551E83}"/>
                </a:ext>
              </a:extLst>
            </p:cNvPr>
            <p:cNvSpPr/>
            <p:nvPr/>
          </p:nvSpPr>
          <p:spPr>
            <a:xfrm>
              <a:off x="1493871" y="3498748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381E290-947D-9148-9CBD-A1C93D595248}"/>
                </a:ext>
              </a:extLst>
            </p:cNvPr>
            <p:cNvSpPr/>
            <p:nvPr/>
          </p:nvSpPr>
          <p:spPr>
            <a:xfrm>
              <a:off x="1493871" y="3270230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63ACE9-FE84-1A4B-99E7-306894A816F3}"/>
                </a:ext>
              </a:extLst>
            </p:cNvPr>
            <p:cNvSpPr/>
            <p:nvPr/>
          </p:nvSpPr>
          <p:spPr>
            <a:xfrm>
              <a:off x="1496211" y="3051424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0A73EDA-DF62-EC48-82E4-BBEDB4A38587}"/>
                </a:ext>
              </a:extLst>
            </p:cNvPr>
            <p:cNvSpPr/>
            <p:nvPr/>
          </p:nvSpPr>
          <p:spPr>
            <a:xfrm>
              <a:off x="1496211" y="2820917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6974E1-481D-1140-9AEE-F987FD3C90E9}"/>
                </a:ext>
              </a:extLst>
            </p:cNvPr>
            <p:cNvSpPr/>
            <p:nvPr/>
          </p:nvSpPr>
          <p:spPr>
            <a:xfrm>
              <a:off x="1496211" y="2599398"/>
              <a:ext cx="4823673" cy="219801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6DEE473-7AD1-224A-8FF9-0B675D841C29}"/>
                </a:ext>
              </a:extLst>
            </p:cNvPr>
            <p:cNvSpPr/>
            <p:nvPr/>
          </p:nvSpPr>
          <p:spPr>
            <a:xfrm>
              <a:off x="1506928" y="2607322"/>
              <a:ext cx="972065" cy="21187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DF05BC5-C715-1648-A3F3-A5F5EF73A790}"/>
                </a:ext>
              </a:extLst>
            </p:cNvPr>
            <p:cNvSpPr/>
            <p:nvPr/>
          </p:nvSpPr>
          <p:spPr>
            <a:xfrm>
              <a:off x="2478993" y="2831623"/>
              <a:ext cx="972065" cy="20909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41782C1-530A-8740-8236-60ED4A08D004}"/>
                </a:ext>
              </a:extLst>
            </p:cNvPr>
            <p:cNvSpPr/>
            <p:nvPr/>
          </p:nvSpPr>
          <p:spPr>
            <a:xfrm>
              <a:off x="3448997" y="3026396"/>
              <a:ext cx="972065" cy="24876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AB8935-342A-E14E-A0F2-A88A47EF3031}"/>
                </a:ext>
              </a:extLst>
            </p:cNvPr>
            <p:cNvSpPr/>
            <p:nvPr/>
          </p:nvSpPr>
          <p:spPr>
            <a:xfrm>
              <a:off x="4411456" y="3276886"/>
              <a:ext cx="972065" cy="2114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F271F4-3624-1C4F-A5DF-F15BBA3E3EFC}"/>
                </a:ext>
              </a:extLst>
            </p:cNvPr>
            <p:cNvSpPr/>
            <p:nvPr/>
          </p:nvSpPr>
          <p:spPr>
            <a:xfrm>
              <a:off x="5345479" y="3504692"/>
              <a:ext cx="972065" cy="20791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Val set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E4842ED-BEDF-4444-B4DD-08F92836EBB8}"/>
                </a:ext>
              </a:extLst>
            </p:cNvPr>
            <p:cNvSpPr txBox="1"/>
            <p:nvPr/>
          </p:nvSpPr>
          <p:spPr>
            <a:xfrm>
              <a:off x="564998" y="2554313"/>
              <a:ext cx="90669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4B00E4-838B-BC4C-996A-EEAEA64D3D9E}"/>
                </a:ext>
              </a:extLst>
            </p:cNvPr>
            <p:cNvSpPr txBox="1"/>
            <p:nvPr/>
          </p:nvSpPr>
          <p:spPr>
            <a:xfrm>
              <a:off x="557168" y="2766280"/>
              <a:ext cx="906692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BE5E25-5EA2-D445-A287-A20F66617D3F}"/>
                </a:ext>
              </a:extLst>
            </p:cNvPr>
            <p:cNvSpPr txBox="1"/>
            <p:nvPr/>
          </p:nvSpPr>
          <p:spPr>
            <a:xfrm>
              <a:off x="564998" y="2994494"/>
              <a:ext cx="90903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99BC867-89CA-F149-B9D5-E6F800135C2E}"/>
                </a:ext>
              </a:extLst>
            </p:cNvPr>
            <p:cNvSpPr txBox="1"/>
            <p:nvPr/>
          </p:nvSpPr>
          <p:spPr>
            <a:xfrm>
              <a:off x="564998" y="3220538"/>
              <a:ext cx="90669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4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66F3B0F-1550-F447-992C-99FA21643172}"/>
                </a:ext>
              </a:extLst>
            </p:cNvPr>
            <p:cNvSpPr txBox="1"/>
            <p:nvPr/>
          </p:nvSpPr>
          <p:spPr>
            <a:xfrm>
              <a:off x="564998" y="3458678"/>
              <a:ext cx="906693" cy="1933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Iteration 5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CAAB2F9-169D-1C45-979F-36299CB5098A}"/>
                    </a:ext>
                  </a:extLst>
                </p:cNvPr>
                <p:cNvSpPr txBox="1"/>
                <p:nvPr/>
              </p:nvSpPr>
              <p:spPr>
                <a:xfrm>
                  <a:off x="6944198" y="2599398"/>
                  <a:ext cx="230897" cy="2702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CAAB2F9-169D-1C45-979F-36299CB509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198" y="2599398"/>
                  <a:ext cx="230897" cy="270214"/>
                </a:xfrm>
                <a:prstGeom prst="rect">
                  <a:avLst/>
                </a:prstGeom>
                <a:blipFill>
                  <a:blip r:embed="rId2"/>
                  <a:stretch>
                    <a:fillRect l="-15789" r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Right Arrow 29">
              <a:extLst>
                <a:ext uri="{FF2B5EF4-FFF2-40B4-BE49-F238E27FC236}">
                  <a16:creationId xmlns:a16="http://schemas.microsoft.com/office/drawing/2014/main" id="{A37B5D95-09A1-E441-8C04-533519B4F799}"/>
                </a:ext>
              </a:extLst>
            </p:cNvPr>
            <p:cNvSpPr/>
            <p:nvPr/>
          </p:nvSpPr>
          <p:spPr>
            <a:xfrm>
              <a:off x="6503194" y="2629819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50B0EF-EC5A-CE4E-94CB-1A4D5BD7D6D5}"/>
                    </a:ext>
                  </a:extLst>
                </p:cNvPr>
                <p:cNvSpPr txBox="1"/>
                <p:nvPr/>
              </p:nvSpPr>
              <p:spPr>
                <a:xfrm>
                  <a:off x="6944198" y="2826400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50B0EF-EC5A-CE4E-94CB-1A4D5BD7D6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4198" y="2826400"/>
                  <a:ext cx="235064" cy="215444"/>
                </a:xfrm>
                <a:prstGeom prst="rect">
                  <a:avLst/>
                </a:prstGeom>
                <a:blipFill>
                  <a:blip r:embed="rId3"/>
                  <a:stretch>
                    <a:fillRect l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Right Arrow 31">
              <a:extLst>
                <a:ext uri="{FF2B5EF4-FFF2-40B4-BE49-F238E27FC236}">
                  <a16:creationId xmlns:a16="http://schemas.microsoft.com/office/drawing/2014/main" id="{3F2A2749-19AF-2F47-B275-DC6361F9BCF4}"/>
                </a:ext>
              </a:extLst>
            </p:cNvPr>
            <p:cNvSpPr/>
            <p:nvPr/>
          </p:nvSpPr>
          <p:spPr>
            <a:xfrm>
              <a:off x="6503194" y="2856821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05AD99E-C94C-2F44-8FDB-4E63E161735D}"/>
                    </a:ext>
                  </a:extLst>
                </p:cNvPr>
                <p:cNvSpPr txBox="1"/>
                <p:nvPr/>
              </p:nvSpPr>
              <p:spPr>
                <a:xfrm>
                  <a:off x="6942991" y="3060881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05AD99E-C94C-2F44-8FDB-4E63E1617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991" y="3060881"/>
                  <a:ext cx="235064" cy="215444"/>
                </a:xfrm>
                <a:prstGeom prst="rect">
                  <a:avLst/>
                </a:prstGeom>
                <a:blipFill>
                  <a:blip r:embed="rId4"/>
                  <a:stretch>
                    <a:fillRect l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Right Arrow 33">
              <a:extLst>
                <a:ext uri="{FF2B5EF4-FFF2-40B4-BE49-F238E27FC236}">
                  <a16:creationId xmlns:a16="http://schemas.microsoft.com/office/drawing/2014/main" id="{15D21BA9-FD42-E843-B400-B56495E717B2}"/>
                </a:ext>
              </a:extLst>
            </p:cNvPr>
            <p:cNvSpPr/>
            <p:nvPr/>
          </p:nvSpPr>
          <p:spPr>
            <a:xfrm>
              <a:off x="6501987" y="3091302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1C4338-6BD0-A841-BD88-EED5966C7CFD}"/>
                    </a:ext>
                  </a:extLst>
                </p:cNvPr>
                <p:cNvSpPr txBox="1"/>
                <p:nvPr/>
              </p:nvSpPr>
              <p:spPr>
                <a:xfrm>
                  <a:off x="6942991" y="3302253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B61C4338-6BD0-A841-BD88-EED5966C7C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991" y="3302253"/>
                  <a:ext cx="235064" cy="215444"/>
                </a:xfrm>
                <a:prstGeom prst="rect">
                  <a:avLst/>
                </a:prstGeom>
                <a:blipFill>
                  <a:blip r:embed="rId5"/>
                  <a:stretch>
                    <a:fillRect l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8386D9BD-F4AD-2240-8C19-39FC9B70D283}"/>
                </a:ext>
              </a:extLst>
            </p:cNvPr>
            <p:cNvSpPr/>
            <p:nvPr/>
          </p:nvSpPr>
          <p:spPr>
            <a:xfrm>
              <a:off x="6501987" y="3332674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5B1C7F7-9CDF-ED4B-9371-E07C22AE319A}"/>
                    </a:ext>
                  </a:extLst>
                </p:cNvPr>
                <p:cNvSpPr txBox="1"/>
                <p:nvPr/>
              </p:nvSpPr>
              <p:spPr>
                <a:xfrm>
                  <a:off x="6942991" y="3521586"/>
                  <a:ext cx="23506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C5B1C7F7-9CDF-ED4B-9371-E07C22AE3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2991" y="3521586"/>
                  <a:ext cx="235064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15000" r="-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21BE7BCD-8E9B-0745-823F-8A54FD47875B}"/>
                </a:ext>
              </a:extLst>
            </p:cNvPr>
            <p:cNvSpPr/>
            <p:nvPr/>
          </p:nvSpPr>
          <p:spPr>
            <a:xfrm>
              <a:off x="6501987" y="3552007"/>
              <a:ext cx="257694" cy="158958"/>
            </a:xfrm>
            <a:prstGeom prst="rightArrow">
              <a:avLst/>
            </a:pr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6F48D2DB-F31D-4E48-8B93-FBC02D2E26DF}"/>
                </a:ext>
              </a:extLst>
            </p:cNvPr>
            <p:cNvSpPr/>
            <p:nvPr/>
          </p:nvSpPr>
          <p:spPr>
            <a:xfrm>
              <a:off x="7273636" y="2629819"/>
              <a:ext cx="249382" cy="1088730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8AE2EDF-D336-0243-9FA0-5515DFA749EC}"/>
                    </a:ext>
                  </a:extLst>
                </p:cNvPr>
                <p:cNvSpPr txBox="1"/>
                <p:nvPr/>
              </p:nvSpPr>
              <p:spPr>
                <a:xfrm>
                  <a:off x="7617392" y="2874571"/>
                  <a:ext cx="961610" cy="6087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8AE2EDF-D336-0243-9FA0-5515DFA749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392" y="2874571"/>
                  <a:ext cx="961610" cy="608756"/>
                </a:xfrm>
                <a:prstGeom prst="rect">
                  <a:avLst/>
                </a:prstGeom>
                <a:blipFill>
                  <a:blip r:embed="rId7"/>
                  <a:stretch>
                    <a:fillRect l="-19737" t="-79710" r="-25000" b="-9710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73469AC4-E4AD-B744-AE39-4AA8F6644ABE}"/>
              </a:ext>
            </a:extLst>
          </p:cNvPr>
          <p:cNvSpPr/>
          <p:nvPr/>
        </p:nvSpPr>
        <p:spPr>
          <a:xfrm>
            <a:off x="698158" y="4787255"/>
            <a:ext cx="353807" cy="181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1423B0-EBFB-B540-8725-672B7621C04A}"/>
              </a:ext>
            </a:extLst>
          </p:cNvPr>
          <p:cNvSpPr txBox="1"/>
          <p:nvPr/>
        </p:nvSpPr>
        <p:spPr>
          <a:xfrm>
            <a:off x="1003413" y="4756641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Validation fold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B51D843-F212-9345-8005-CEE2E39D8FCA}"/>
              </a:ext>
            </a:extLst>
          </p:cNvPr>
          <p:cNvSpPr/>
          <p:nvPr/>
        </p:nvSpPr>
        <p:spPr>
          <a:xfrm>
            <a:off x="2881396" y="4780068"/>
            <a:ext cx="353807" cy="181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1BEB86-5E25-1844-B7E1-8010AB592AB6}"/>
              </a:ext>
            </a:extLst>
          </p:cNvPr>
          <p:cNvSpPr txBox="1"/>
          <p:nvPr/>
        </p:nvSpPr>
        <p:spPr>
          <a:xfrm>
            <a:off x="3251387" y="4746253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folds</a:t>
            </a:r>
          </a:p>
        </p:txBody>
      </p:sp>
    </p:spTree>
    <p:extLst>
      <p:ext uri="{BB962C8B-B14F-4D97-AF65-F5344CB8AC3E}">
        <p14:creationId xmlns:p14="http://schemas.microsoft.com/office/powerpoint/2010/main" val="42558396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1E8C-47C0-2240-8AC6-A884DB33E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types of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3207F-6FF1-6740-BC54-DFA8D12B0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 err="1"/>
              <a:t>ShuffleSplit</a:t>
            </a:r>
            <a:r>
              <a:rPr lang="en-US" sz="1800" b="1" dirty="0"/>
              <a:t> cross-validation</a:t>
            </a:r>
          </a:p>
          <a:p>
            <a:pPr lvl="1"/>
            <a:r>
              <a:rPr lang="en-US" sz="1600" dirty="0"/>
              <a:t>For each fold, we randomly select a % of observations to use for validation and use the rest for training</a:t>
            </a:r>
          </a:p>
          <a:p>
            <a:pPr lvl="1"/>
            <a:r>
              <a:rPr lang="en-US" sz="1600" dirty="0"/>
              <a:t>E.g. we can set K=4 and validation % = 10%. Each fold, we randomly select 10% of observations for validation</a:t>
            </a:r>
          </a:p>
          <a:p>
            <a:pPr lvl="1"/>
            <a:r>
              <a:rPr lang="en-US" sz="1600" dirty="0"/>
              <a:t>This can cut down on compute time, but the tradeoff is we may use observations multiple times, or not use some observations, introducing bias</a:t>
            </a:r>
          </a:p>
          <a:p>
            <a:endParaRPr lang="en-US" sz="1200" b="1" dirty="0"/>
          </a:p>
          <a:p>
            <a:r>
              <a:rPr lang="en-US" sz="1800" b="1" dirty="0"/>
              <a:t>Leave-one-out cross-validation</a:t>
            </a:r>
          </a:p>
          <a:p>
            <a:pPr lvl="1"/>
            <a:r>
              <a:rPr lang="en-US" sz="1600" dirty="0"/>
              <a:t>Set K = number of points</a:t>
            </a:r>
          </a:p>
          <a:p>
            <a:pPr lvl="1"/>
            <a:r>
              <a:rPr lang="en-US" sz="1600" dirty="0"/>
              <a:t>Each observation becomes a validation set one time, and all other observations are used for training</a:t>
            </a:r>
          </a:p>
          <a:p>
            <a:pPr lvl="1"/>
            <a:r>
              <a:rPr lang="en-US" sz="1600" dirty="0"/>
              <a:t>Average your performance over all K folds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437735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8C6D-0692-6648-AFB9-71020C88F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cross-validation?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1EC7C-BB76-E94F-9CD9-F10417EEA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2000" dirty="0"/>
              <a:t>Maximizes the data available for training the model – important for small datasets</a:t>
            </a:r>
          </a:p>
          <a:p>
            <a:pPr>
              <a:spcAft>
                <a:spcPts val="600"/>
              </a:spcAft>
            </a:pPr>
            <a:r>
              <a:rPr lang="en-US" sz="2000" dirty="0"/>
              <a:t>Provides a better evaluation of how well the model can generalize to new data – validation performance is not accidentally biased by choice of datapoints to use for validation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4FEA39-27D5-4448-81A6-606F9A469099}"/>
              </a:ext>
            </a:extLst>
          </p:cNvPr>
          <p:cNvSpPr/>
          <p:nvPr/>
        </p:nvSpPr>
        <p:spPr>
          <a:xfrm>
            <a:off x="1030014" y="3405352"/>
            <a:ext cx="6747641" cy="78827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Cross-validation is the typical approach used in industry for model selection and tuning, except in cases of very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18833883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A9517-02D2-644F-9ED2-6C6E0A59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 and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0326-485A-5F49-BD78-3B5BC31D5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Remember, when you complete your cross-validation and do your model selection, you still need to evaluate your model on the test set for a fair approximation of performance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15163-AC88-F440-8D0A-7A5352FB1178}"/>
              </a:ext>
            </a:extLst>
          </p:cNvPr>
          <p:cNvSpPr/>
          <p:nvPr/>
        </p:nvSpPr>
        <p:spPr>
          <a:xfrm>
            <a:off x="1116230" y="2945587"/>
            <a:ext cx="4828401" cy="8798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1DC3C-5487-1442-809C-A04EAEFA42D0}"/>
              </a:ext>
            </a:extLst>
          </p:cNvPr>
          <p:cNvSpPr/>
          <p:nvPr/>
        </p:nvSpPr>
        <p:spPr>
          <a:xfrm>
            <a:off x="6428602" y="2945584"/>
            <a:ext cx="972065" cy="862159"/>
          </a:xfrm>
          <a:prstGeom prst="rect">
            <a:avLst/>
          </a:prstGeom>
          <a:solidFill>
            <a:schemeClr val="accent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49732-4915-4042-8152-ECA017133FCA}"/>
              </a:ext>
            </a:extLst>
          </p:cNvPr>
          <p:cNvSpPr txBox="1"/>
          <p:nvPr/>
        </p:nvSpPr>
        <p:spPr>
          <a:xfrm>
            <a:off x="1865872" y="2456392"/>
            <a:ext cx="36946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Training + cross-validation </a:t>
            </a:r>
          </a:p>
          <a:p>
            <a:pPr algn="ctr"/>
            <a:r>
              <a:rPr lang="en-US" sz="1400" dirty="0"/>
              <a:t>(~80-90%)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D5C417-8D62-524F-A0D5-4178D463DCC1}"/>
              </a:ext>
            </a:extLst>
          </p:cNvPr>
          <p:cNvSpPr txBox="1"/>
          <p:nvPr/>
        </p:nvSpPr>
        <p:spPr>
          <a:xfrm>
            <a:off x="6328721" y="2451291"/>
            <a:ext cx="11986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Test</a:t>
            </a:r>
          </a:p>
          <a:p>
            <a:pPr algn="ctr"/>
            <a:r>
              <a:rPr lang="en-US" sz="1400" dirty="0"/>
              <a:t>(~10-20%)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C192E004-0FD5-FA45-98F3-98223D4A43F0}"/>
              </a:ext>
            </a:extLst>
          </p:cNvPr>
          <p:cNvSpPr/>
          <p:nvPr/>
        </p:nvSpPr>
        <p:spPr>
          <a:xfrm rot="5400000">
            <a:off x="3410339" y="1847602"/>
            <a:ext cx="259748" cy="435369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88FA9-3E21-8344-852F-37BD7D152F9F}"/>
              </a:ext>
            </a:extLst>
          </p:cNvPr>
          <p:cNvSpPr txBox="1"/>
          <p:nvPr/>
        </p:nvSpPr>
        <p:spPr>
          <a:xfrm>
            <a:off x="1670223" y="4200505"/>
            <a:ext cx="3739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for model comparison/selection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D533D9-F3E3-0C4E-BB7E-185CFE239AC2}"/>
              </a:ext>
            </a:extLst>
          </p:cNvPr>
          <p:cNvSpPr txBox="1"/>
          <p:nvPr/>
        </p:nvSpPr>
        <p:spPr>
          <a:xfrm>
            <a:off x="6113506" y="4225471"/>
            <a:ext cx="1629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 to evaluate final model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6D879FCC-E851-3445-9742-B4CAC8AA86EF}"/>
              </a:ext>
            </a:extLst>
          </p:cNvPr>
          <p:cNvSpPr/>
          <p:nvPr/>
        </p:nvSpPr>
        <p:spPr>
          <a:xfrm rot="5400000">
            <a:off x="6748392" y="3592849"/>
            <a:ext cx="295422" cy="93087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0C26DC-2537-3F48-A284-45C9A7729CE5}"/>
              </a:ext>
            </a:extLst>
          </p:cNvPr>
          <p:cNvSpPr/>
          <p:nvPr/>
        </p:nvSpPr>
        <p:spPr>
          <a:xfrm>
            <a:off x="1116231" y="2945585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746584-5897-5C43-B11F-D34F31FE10FC}"/>
              </a:ext>
            </a:extLst>
          </p:cNvPr>
          <p:cNvSpPr/>
          <p:nvPr/>
        </p:nvSpPr>
        <p:spPr>
          <a:xfrm>
            <a:off x="2088296" y="3106825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1FCD7B-2594-FF4B-98D9-B17CF0123257}"/>
              </a:ext>
            </a:extLst>
          </p:cNvPr>
          <p:cNvSpPr/>
          <p:nvPr/>
        </p:nvSpPr>
        <p:spPr>
          <a:xfrm>
            <a:off x="3058300" y="3279717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FB65F-469D-1A4E-B78A-E5884391768C}"/>
              </a:ext>
            </a:extLst>
          </p:cNvPr>
          <p:cNvSpPr/>
          <p:nvPr/>
        </p:nvSpPr>
        <p:spPr>
          <a:xfrm>
            <a:off x="4007711" y="3444917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BF68F2-297C-894E-8226-83BA9776E182}"/>
              </a:ext>
            </a:extLst>
          </p:cNvPr>
          <p:cNvSpPr/>
          <p:nvPr/>
        </p:nvSpPr>
        <p:spPr>
          <a:xfrm>
            <a:off x="4957122" y="3615271"/>
            <a:ext cx="972065" cy="19247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Val set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39419A-4809-8A41-BECD-C409409EB8C3}"/>
              </a:ext>
            </a:extLst>
          </p:cNvPr>
          <p:cNvSpPr txBox="1"/>
          <p:nvPr/>
        </p:nvSpPr>
        <p:spPr>
          <a:xfrm>
            <a:off x="438669" y="2712901"/>
            <a:ext cx="841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Iteration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D9FC82-5D12-3C47-B2E8-38FA619B562B}"/>
              </a:ext>
            </a:extLst>
          </p:cNvPr>
          <p:cNvSpPr/>
          <p:nvPr/>
        </p:nvSpPr>
        <p:spPr>
          <a:xfrm>
            <a:off x="698158" y="4787255"/>
            <a:ext cx="353807" cy="18125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09AD1B-D741-AA4D-B279-D1F9B6C980D8}"/>
              </a:ext>
            </a:extLst>
          </p:cNvPr>
          <p:cNvSpPr txBox="1"/>
          <p:nvPr/>
        </p:nvSpPr>
        <p:spPr>
          <a:xfrm>
            <a:off x="1003413" y="4756641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Validation fold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697B22-5CBC-BA42-AC40-BEA2CFF7EB81}"/>
              </a:ext>
            </a:extLst>
          </p:cNvPr>
          <p:cNvSpPr/>
          <p:nvPr/>
        </p:nvSpPr>
        <p:spPr>
          <a:xfrm>
            <a:off x="2881396" y="4780068"/>
            <a:ext cx="353807" cy="18125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3D2E4C-FF1B-1E4C-92BA-06CD63A0BD30}"/>
              </a:ext>
            </a:extLst>
          </p:cNvPr>
          <p:cNvSpPr txBox="1"/>
          <p:nvPr/>
        </p:nvSpPr>
        <p:spPr>
          <a:xfrm>
            <a:off x="3251387" y="4746253"/>
            <a:ext cx="1233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Training folds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26815-ACB7-5575-D2E1-E2598376432E}"/>
              </a:ext>
            </a:extLst>
          </p:cNvPr>
          <p:cNvSpPr txBox="1"/>
          <p:nvPr/>
        </p:nvSpPr>
        <p:spPr>
          <a:xfrm>
            <a:off x="795983" y="2945584"/>
            <a:ext cx="3753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  <a:p>
            <a:r>
              <a:rPr lang="en-US" sz="1100" dirty="0"/>
              <a:t>2</a:t>
            </a:r>
          </a:p>
          <a:p>
            <a:r>
              <a:rPr lang="en-US" sz="1100" dirty="0"/>
              <a:t>3</a:t>
            </a:r>
          </a:p>
          <a:p>
            <a:r>
              <a:rPr lang="en-US" sz="1100" dirty="0"/>
              <a:t>4</a:t>
            </a:r>
          </a:p>
          <a:p>
            <a:r>
              <a:rPr lang="en-US" sz="1100" dirty="0"/>
              <a:t>5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303841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5923-ED14-F649-A4B9-1FCA059D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CV using Scikit-learn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CDA31-1266-1447-A5B0-6C53A5C20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114800" cy="3181350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600" dirty="0"/>
              <a:t>Divide data into ”k” folds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For each model you want to compare: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For each of “k” iterations:</a:t>
            </a:r>
          </a:p>
          <a:p>
            <a:pPr lvl="2">
              <a:spcAft>
                <a:spcPts val="400"/>
              </a:spcAft>
            </a:pPr>
            <a:r>
              <a:rPr lang="en-US" sz="1200" dirty="0"/>
              <a:t>Get the training folds and the validation fold for the iteration</a:t>
            </a:r>
          </a:p>
          <a:p>
            <a:pPr lvl="2">
              <a:spcAft>
                <a:spcPts val="400"/>
              </a:spcAft>
            </a:pPr>
            <a:r>
              <a:rPr lang="en-US" sz="1200" dirty="0"/>
              <a:t>Fit the model on the training data</a:t>
            </a:r>
          </a:p>
          <a:p>
            <a:pPr lvl="2">
              <a:spcAft>
                <a:spcPts val="400"/>
              </a:spcAft>
            </a:pPr>
            <a:r>
              <a:rPr lang="en-US" sz="1200" dirty="0"/>
              <a:t>Get predictions for the validation fold, calculate performance and store it</a:t>
            </a:r>
          </a:p>
          <a:p>
            <a:pPr lvl="1">
              <a:spcAft>
                <a:spcPts val="400"/>
              </a:spcAft>
            </a:pPr>
            <a:r>
              <a:rPr lang="en-US" sz="1400" dirty="0"/>
              <a:t>Calculate mean validation performance across all iterations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Compare CV average performance and select model </a:t>
            </a:r>
          </a:p>
          <a:p>
            <a:pPr lvl="2">
              <a:spcAft>
                <a:spcPts val="400"/>
              </a:spcAft>
            </a:pPr>
            <a:endParaRPr lang="en-US" sz="1100" dirty="0"/>
          </a:p>
          <a:p>
            <a:pPr lvl="1">
              <a:spcAft>
                <a:spcPts val="400"/>
              </a:spcAft>
            </a:pPr>
            <a:endParaRPr lang="en-US" sz="1200" dirty="0"/>
          </a:p>
          <a:p>
            <a:pPr>
              <a:spcAft>
                <a:spcPts val="400"/>
              </a:spcAft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AEE5F0-EDCC-E74E-83AF-5DC9C3EBF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245" y="1297255"/>
            <a:ext cx="2478467" cy="2746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643947-C2AF-5D4C-93D7-E9E362B6B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245" y="1708403"/>
            <a:ext cx="1785586" cy="151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2429E2-A287-3749-B6E8-C3C6DCB5B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258" y="1964105"/>
            <a:ext cx="3527060" cy="164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6C57C9-CAFF-264D-9D4F-DDBA5A562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469" y="2309150"/>
            <a:ext cx="3645310" cy="252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6AD4BC-A642-8049-A097-417127DD5C6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9412"/>
          <a:stretch/>
        </p:blipFill>
        <p:spPr>
          <a:xfrm>
            <a:off x="5216467" y="2690241"/>
            <a:ext cx="2112021" cy="161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971CC2-D9BA-EF4D-AB5A-D514999138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5469" y="2956801"/>
            <a:ext cx="2482625" cy="24885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C6EC93-78F7-7946-8A21-25104DB9297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2258" y="3458362"/>
            <a:ext cx="1788340" cy="150741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77C1F1-3403-5349-9D1B-2C3886EA0D2E}"/>
              </a:ext>
            </a:extLst>
          </p:cNvPr>
          <p:cNvCxnSpPr/>
          <p:nvPr/>
        </p:nvCxnSpPr>
        <p:spPr>
          <a:xfrm>
            <a:off x="3358195" y="1367554"/>
            <a:ext cx="1553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BB34AA-0A99-0949-AC60-F83AE0966E97}"/>
              </a:ext>
            </a:extLst>
          </p:cNvPr>
          <p:cNvCxnSpPr>
            <a:cxnSpLocks/>
          </p:cNvCxnSpPr>
          <p:nvPr/>
        </p:nvCxnSpPr>
        <p:spPr>
          <a:xfrm>
            <a:off x="4572000" y="1755607"/>
            <a:ext cx="3398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C1D5E6-A47B-C444-A69F-5A8DEFA26325}"/>
              </a:ext>
            </a:extLst>
          </p:cNvPr>
          <p:cNvCxnSpPr>
            <a:cxnSpLocks/>
          </p:cNvCxnSpPr>
          <p:nvPr/>
        </p:nvCxnSpPr>
        <p:spPr>
          <a:xfrm>
            <a:off x="3486319" y="2020390"/>
            <a:ext cx="15469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417EC8-BF0B-3D47-B443-0CC5C297B7C4}"/>
              </a:ext>
            </a:extLst>
          </p:cNvPr>
          <p:cNvCxnSpPr>
            <a:cxnSpLocks/>
          </p:cNvCxnSpPr>
          <p:nvPr/>
        </p:nvCxnSpPr>
        <p:spPr>
          <a:xfrm>
            <a:off x="3905756" y="2361827"/>
            <a:ext cx="12165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C59F70-2513-2543-932B-EE2992C7E9D5}"/>
              </a:ext>
            </a:extLst>
          </p:cNvPr>
          <p:cNvCxnSpPr>
            <a:cxnSpLocks/>
          </p:cNvCxnSpPr>
          <p:nvPr/>
        </p:nvCxnSpPr>
        <p:spPr>
          <a:xfrm>
            <a:off x="4133681" y="2768813"/>
            <a:ext cx="98857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5061C8-B64A-ED45-B41F-DF46A7A67A44}"/>
              </a:ext>
            </a:extLst>
          </p:cNvPr>
          <p:cNvCxnSpPr>
            <a:cxnSpLocks/>
          </p:cNvCxnSpPr>
          <p:nvPr/>
        </p:nvCxnSpPr>
        <p:spPr>
          <a:xfrm>
            <a:off x="4465454" y="3038372"/>
            <a:ext cx="6082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2ABBA8C-F624-A042-88AB-5E7F44579179}"/>
              </a:ext>
            </a:extLst>
          </p:cNvPr>
          <p:cNvCxnSpPr>
            <a:cxnSpLocks/>
          </p:cNvCxnSpPr>
          <p:nvPr/>
        </p:nvCxnSpPr>
        <p:spPr>
          <a:xfrm>
            <a:off x="4019718" y="3533732"/>
            <a:ext cx="10135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43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Model Selection: </a:t>
            </a:r>
            <a:br>
              <a:rPr lang="en-US" dirty="0"/>
            </a:br>
            <a:r>
              <a:rPr lang="en-US" dirty="0"/>
              <a:t>The Bias-Variance Tradeoff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1400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4911-6223-8C42-9416-00C396CF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Complexity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26A5533-4CE9-214D-A92B-7F1287E9F27F}"/>
              </a:ext>
            </a:extLst>
          </p:cNvPr>
          <p:cNvSpPr/>
          <p:nvPr/>
        </p:nvSpPr>
        <p:spPr>
          <a:xfrm>
            <a:off x="2098964" y="1316920"/>
            <a:ext cx="4946072" cy="90054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Model Complexity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83375F2-5C50-594B-9B65-BB18EF1A2407}"/>
              </a:ext>
            </a:extLst>
          </p:cNvPr>
          <p:cNvSpPr/>
          <p:nvPr/>
        </p:nvSpPr>
        <p:spPr>
          <a:xfrm>
            <a:off x="2098964" y="2967202"/>
            <a:ext cx="1521868" cy="15378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Number of Features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A56F61-2356-9447-AACA-934B2C99BD26}"/>
              </a:ext>
            </a:extLst>
          </p:cNvPr>
          <p:cNvSpPr/>
          <p:nvPr/>
        </p:nvSpPr>
        <p:spPr>
          <a:xfrm>
            <a:off x="3811065" y="2967202"/>
            <a:ext cx="1521868" cy="15378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Algorithm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E64C80B-79C1-3B43-948A-233900756989}"/>
              </a:ext>
            </a:extLst>
          </p:cNvPr>
          <p:cNvSpPr/>
          <p:nvPr/>
        </p:nvSpPr>
        <p:spPr>
          <a:xfrm>
            <a:off x="5523168" y="2967202"/>
            <a:ext cx="1521868" cy="153785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Hyper-parameter Values</a:t>
            </a:r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C2ECC500-17E1-CB48-A755-60F4554516F0}"/>
              </a:ext>
            </a:extLst>
          </p:cNvPr>
          <p:cNvSpPr/>
          <p:nvPr/>
        </p:nvSpPr>
        <p:spPr>
          <a:xfrm>
            <a:off x="2523819" y="2391443"/>
            <a:ext cx="672157" cy="41563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Up Arrow 9">
            <a:extLst>
              <a:ext uri="{FF2B5EF4-FFF2-40B4-BE49-F238E27FC236}">
                <a16:creationId xmlns:a16="http://schemas.microsoft.com/office/drawing/2014/main" id="{6128E048-6178-1646-8A1B-1226DE7E94AB}"/>
              </a:ext>
            </a:extLst>
          </p:cNvPr>
          <p:cNvSpPr/>
          <p:nvPr/>
        </p:nvSpPr>
        <p:spPr>
          <a:xfrm>
            <a:off x="4235921" y="2391443"/>
            <a:ext cx="672157" cy="41563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6E96E253-FF54-E44E-A3DA-8FC6852EA06F}"/>
              </a:ext>
            </a:extLst>
          </p:cNvPr>
          <p:cNvSpPr/>
          <p:nvPr/>
        </p:nvSpPr>
        <p:spPr>
          <a:xfrm>
            <a:off x="5948023" y="2391443"/>
            <a:ext cx="672157" cy="415636"/>
          </a:xfrm>
          <a:prstGeom prst="up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4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3C42-FAB3-E140-A29D-7F82B388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00F57-B7B5-6041-8E55-F85323CC6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00151"/>
            <a:ext cx="4397605" cy="3181350"/>
          </a:xfrm>
        </p:spPr>
        <p:txBody>
          <a:bodyPr/>
          <a:lstStyle/>
          <a:p>
            <a:r>
              <a:rPr lang="en-US" sz="1800" b="1" dirty="0"/>
              <a:t>Bias</a:t>
            </a:r>
            <a:r>
              <a:rPr lang="en-US" sz="1800" dirty="0"/>
              <a:t> is error from incorrect assumptions within the model</a:t>
            </a:r>
          </a:p>
          <a:p>
            <a:pPr lvl="1"/>
            <a:r>
              <a:rPr lang="en-US" sz="1400" dirty="0"/>
              <a:t>Often introduced by modeling a real-life problem using a simpler model that is unable to fully capture the underlying patterns in data</a:t>
            </a:r>
          </a:p>
          <a:p>
            <a:endParaRPr lang="en-US" sz="1400" dirty="0"/>
          </a:p>
          <a:p>
            <a:r>
              <a:rPr lang="en-US" sz="1800" b="1" dirty="0"/>
              <a:t>Variance </a:t>
            </a:r>
            <a:r>
              <a:rPr lang="en-US" sz="1800" dirty="0"/>
              <a:t>refers to the sensitivity of the model to fluctuations in the training data</a:t>
            </a:r>
          </a:p>
          <a:p>
            <a:pPr lvl="1"/>
            <a:r>
              <a:rPr lang="en-US" sz="1400" dirty="0"/>
              <a:t>Usually due to model fitting itself to fine patterns which may just be noise</a:t>
            </a:r>
          </a:p>
          <a:p>
            <a:endParaRPr lang="en-US" sz="1800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7EF860-DED5-5447-9F43-81C321F287F4}"/>
              </a:ext>
            </a:extLst>
          </p:cNvPr>
          <p:cNvSpPr/>
          <p:nvPr/>
        </p:nvSpPr>
        <p:spPr>
          <a:xfrm>
            <a:off x="575846" y="4617650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i="1" dirty="0"/>
              <a:t>See: http://</a:t>
            </a:r>
            <a:r>
              <a:rPr lang="en-US" sz="1200" i="1" dirty="0" err="1"/>
              <a:t>scott.fortmann-roe.com</a:t>
            </a:r>
            <a:r>
              <a:rPr lang="en-US" sz="1200" i="1" dirty="0"/>
              <a:t>/docs/</a:t>
            </a:r>
            <a:r>
              <a:rPr lang="en-US" sz="1200" i="1" dirty="0" err="1"/>
              <a:t>BiasVariance.html</a:t>
            </a:r>
            <a:endParaRPr lang="en-US" sz="12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3D83A-844C-04CB-BA77-5A381A6358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470" y="1200151"/>
            <a:ext cx="3654330" cy="32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443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39E56-3ED6-F744-BB0C-B12B3FBB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Bias – Variance Tradeoff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D9301-8595-D743-9AF1-0A6AAEA861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02990" y="1684417"/>
                <a:ext cx="7157573" cy="225948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600" i="1" dirty="0"/>
                  <a:t>Expected Squared Error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FD9301-8595-D743-9AF1-0A6AAEA861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02990" y="1684417"/>
                <a:ext cx="7157573" cy="2259486"/>
              </a:xfrm>
              <a:blipFill>
                <a:blip r:embed="rId2"/>
                <a:stretch>
                  <a:fillRect l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5A74CF1-06F5-9444-98F6-5380A09E140D}"/>
              </a:ext>
            </a:extLst>
          </p:cNvPr>
          <p:cNvSpPr txBox="1"/>
          <p:nvPr/>
        </p:nvSpPr>
        <p:spPr>
          <a:xfrm>
            <a:off x="2129635" y="4161379"/>
            <a:ext cx="13062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Irreducible error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662EC28-FB24-1044-AF2B-47C78E5E4832}"/>
              </a:ext>
            </a:extLst>
          </p:cNvPr>
          <p:cNvSpPr/>
          <p:nvPr/>
        </p:nvSpPr>
        <p:spPr>
          <a:xfrm rot="16200000">
            <a:off x="2644074" y="3970691"/>
            <a:ext cx="87357" cy="189979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1B6573-BC67-3B46-9CF1-22C45C946CF4}"/>
              </a:ext>
            </a:extLst>
          </p:cNvPr>
          <p:cNvSpPr/>
          <p:nvPr/>
        </p:nvSpPr>
        <p:spPr>
          <a:xfrm>
            <a:off x="935429" y="2347874"/>
            <a:ext cx="1364105" cy="607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8C9D6F-BD08-C14F-9BDD-8957072CB4FE}"/>
              </a:ext>
            </a:extLst>
          </p:cNvPr>
          <p:cNvSpPr/>
          <p:nvPr/>
        </p:nvSpPr>
        <p:spPr>
          <a:xfrm>
            <a:off x="2490816" y="2347874"/>
            <a:ext cx="1913510" cy="6071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BC646-141C-0348-9051-4CC0B1D59A2C}"/>
              </a:ext>
            </a:extLst>
          </p:cNvPr>
          <p:cNvSpPr txBox="1"/>
          <p:nvPr/>
        </p:nvSpPr>
        <p:spPr>
          <a:xfrm>
            <a:off x="774389" y="2955184"/>
            <a:ext cx="811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Bias</a:t>
            </a:r>
            <a:r>
              <a:rPr lang="en-US" sz="1200" b="1" baseline="30000" dirty="0">
                <a:solidFill>
                  <a:srgbClr val="C00000"/>
                </a:solidFill>
              </a:rPr>
              <a:t>2</a:t>
            </a:r>
            <a:endParaRPr lang="en-US" sz="1200" b="1" dirty="0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25C3D5-C1D8-8D4A-B533-34E2C9510ABB}"/>
              </a:ext>
            </a:extLst>
          </p:cNvPr>
          <p:cNvSpPr txBox="1"/>
          <p:nvPr/>
        </p:nvSpPr>
        <p:spPr>
          <a:xfrm>
            <a:off x="2463725" y="2959940"/>
            <a:ext cx="8116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E4C95432-D023-E94B-A073-2624E026ACC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0466" y="1115705"/>
                <a:ext cx="5609823" cy="4471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32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1pPr>
                <a:lvl2pPr marL="742950" indent="-28575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8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2pPr>
                <a:lvl3pPr marL="11430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sz="24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3pPr>
                <a:lvl4pPr marL="16002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–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4pPr>
                <a:lvl5pPr marL="2057400" indent="-228600" algn="l" defTabSz="457200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 kern="1200">
                    <a:solidFill>
                      <a:srgbClr val="404040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7150" indent="0">
                  <a:buNone/>
                </a:pPr>
                <a:r>
                  <a:rPr lang="en-US" sz="1800" dirty="0"/>
                  <a:t>For a model y=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800" dirty="0"/>
                  <a:t>, at any point (</a:t>
                </a:r>
                <a:r>
                  <a:rPr lang="en-US" sz="1800" i="1" dirty="0" err="1"/>
                  <a:t>x,y</a:t>
                </a:r>
                <a:r>
                  <a:rPr lang="en-US" sz="1800" dirty="0"/>
                  <a:t>):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E4C95432-D023-E94B-A073-2624E026AC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466" y="1115705"/>
                <a:ext cx="5609823" cy="447118"/>
              </a:xfrm>
              <a:prstGeom prst="rect">
                <a:avLst/>
              </a:prstGeom>
              <a:blipFill>
                <a:blip r:embed="rId3"/>
                <a:stretch>
                  <a:fillRect t="-2778" b="-83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A18AA4-D38A-074D-832F-400FF6D81352}"/>
                  </a:ext>
                </a:extLst>
              </p:cNvPr>
              <p:cNvSpPr/>
              <p:nvPr/>
            </p:nvSpPr>
            <p:spPr>
              <a:xfrm>
                <a:off x="774389" y="3618433"/>
                <a:ext cx="21585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4A18AA4-D38A-074D-832F-400FF6D813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389" y="3618433"/>
                <a:ext cx="2158540" cy="369332"/>
              </a:xfrm>
              <a:prstGeom prst="rect">
                <a:avLst/>
              </a:prstGeom>
              <a:blipFill>
                <a:blip r:embed="rId4"/>
                <a:stretch>
                  <a:fillRect l="-1754" t="-10345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24CBF4B6-82C3-6E41-903A-2D171D4A9493}"/>
              </a:ext>
            </a:extLst>
          </p:cNvPr>
          <p:cNvSpPr txBox="1"/>
          <p:nvPr/>
        </p:nvSpPr>
        <p:spPr>
          <a:xfrm>
            <a:off x="5302811" y="1199597"/>
            <a:ext cx="120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Bias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7060F6-875C-AD4B-ACC0-0A19333DBABE}"/>
              </a:ext>
            </a:extLst>
          </p:cNvPr>
          <p:cNvSpPr txBox="1"/>
          <p:nvPr/>
        </p:nvSpPr>
        <p:spPr>
          <a:xfrm>
            <a:off x="7620320" y="3194218"/>
            <a:ext cx="1204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Deviation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4F39FAB-943F-5747-9F05-77B55F8AE708}"/>
              </a:ext>
            </a:extLst>
          </p:cNvPr>
          <p:cNvSpPr/>
          <p:nvPr/>
        </p:nvSpPr>
        <p:spPr>
          <a:xfrm>
            <a:off x="6085869" y="2474385"/>
            <a:ext cx="208001" cy="202921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6E8A29-25F2-9A4E-9F88-F2DC5BF0FBFF}"/>
              </a:ext>
            </a:extLst>
          </p:cNvPr>
          <p:cNvSpPr>
            <a:spLocks noChangeAspect="1"/>
          </p:cNvSpPr>
          <p:nvPr/>
        </p:nvSpPr>
        <p:spPr>
          <a:xfrm>
            <a:off x="7512070" y="1989600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573A038-1EF2-D34D-BE88-568C530BBDCE}"/>
              </a:ext>
            </a:extLst>
          </p:cNvPr>
          <p:cNvSpPr>
            <a:spLocks noChangeAspect="1"/>
          </p:cNvSpPr>
          <p:nvPr/>
        </p:nvSpPr>
        <p:spPr>
          <a:xfrm>
            <a:off x="7517781" y="2850368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62FDF33-6405-B549-AE68-33C7610ED395}"/>
              </a:ext>
            </a:extLst>
          </p:cNvPr>
          <p:cNvSpPr>
            <a:spLocks noChangeAspect="1"/>
          </p:cNvSpPr>
          <p:nvPr/>
        </p:nvSpPr>
        <p:spPr>
          <a:xfrm>
            <a:off x="7522581" y="3387223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B8FFBC8-AD33-C547-95EB-13BBCE3C1163}"/>
              </a:ext>
            </a:extLst>
          </p:cNvPr>
          <p:cNvSpPr>
            <a:spLocks noChangeAspect="1"/>
          </p:cNvSpPr>
          <p:nvPr/>
        </p:nvSpPr>
        <p:spPr>
          <a:xfrm>
            <a:off x="7506733" y="2210923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4EBA952-171B-7641-879E-F44B0E950661}"/>
              </a:ext>
            </a:extLst>
          </p:cNvPr>
          <p:cNvSpPr>
            <a:spLocks noChangeAspect="1"/>
          </p:cNvSpPr>
          <p:nvPr/>
        </p:nvSpPr>
        <p:spPr>
          <a:xfrm>
            <a:off x="7509097" y="2690702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E3E6097-B217-8D42-B1E6-DDB04DD4E918}"/>
              </a:ext>
            </a:extLst>
          </p:cNvPr>
          <p:cNvSpPr>
            <a:spLocks noChangeAspect="1"/>
          </p:cNvSpPr>
          <p:nvPr/>
        </p:nvSpPr>
        <p:spPr>
          <a:xfrm>
            <a:off x="7524663" y="3091021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76DB0C7-561A-3849-9996-0B65939E3DD5}"/>
              </a:ext>
            </a:extLst>
          </p:cNvPr>
          <p:cNvSpPr>
            <a:spLocks noChangeAspect="1"/>
          </p:cNvSpPr>
          <p:nvPr/>
        </p:nvSpPr>
        <p:spPr>
          <a:xfrm>
            <a:off x="7502675" y="1699480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4C1D12B-E067-B743-B679-CB34F95A8B9F}"/>
              </a:ext>
            </a:extLst>
          </p:cNvPr>
          <p:cNvCxnSpPr>
            <a:cxnSpLocks/>
          </p:cNvCxnSpPr>
          <p:nvPr/>
        </p:nvCxnSpPr>
        <p:spPr>
          <a:xfrm>
            <a:off x="6215698" y="2566347"/>
            <a:ext cx="13531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6C89C3-2DE5-6B45-92D5-934E680CE33F}"/>
                  </a:ext>
                </a:extLst>
              </p:cNvPr>
              <p:cNvSpPr/>
              <p:nvPr/>
            </p:nvSpPr>
            <p:spPr>
              <a:xfrm>
                <a:off x="5273408" y="1523632"/>
                <a:ext cx="1158907" cy="302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6C89C3-2DE5-6B45-92D5-934E680CE3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408" y="1523632"/>
                <a:ext cx="1158907" cy="302199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9C12D0-C493-AC44-B314-7F3712AE5EAD}"/>
                  </a:ext>
                </a:extLst>
              </p:cNvPr>
              <p:cNvSpPr/>
              <p:nvPr/>
            </p:nvSpPr>
            <p:spPr>
              <a:xfrm>
                <a:off x="6930207" y="1414635"/>
                <a:ext cx="1368773" cy="2873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/>
                  <a:t>Predictions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acc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9C12D0-C493-AC44-B314-7F3712AE5E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0207" y="1414635"/>
                <a:ext cx="1368773" cy="287323"/>
              </a:xfrm>
              <a:prstGeom prst="rect">
                <a:avLst/>
              </a:prstGeom>
              <a:blipFill>
                <a:blip r:embed="rId6"/>
                <a:stretch>
                  <a:fillRect t="-4348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32AC572-5B95-B949-8924-843484BA6076}"/>
                  </a:ext>
                </a:extLst>
              </p:cNvPr>
              <p:cNvSpPr/>
              <p:nvPr/>
            </p:nvSpPr>
            <p:spPr>
              <a:xfrm>
                <a:off x="5650601" y="2174434"/>
                <a:ext cx="777585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b="1" dirty="0"/>
                  <a:t>Target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32AC572-5B95-B949-8924-843484BA60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601" y="2174434"/>
                <a:ext cx="777585" cy="276999"/>
              </a:xfrm>
              <a:prstGeom prst="rect">
                <a:avLst/>
              </a:prstGeom>
              <a:blipFill>
                <a:blip r:embed="rId7"/>
                <a:stretch>
                  <a:fillRect t="-4545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4C73EE7-5D68-8E4D-BEEA-82F67F802604}"/>
              </a:ext>
            </a:extLst>
          </p:cNvPr>
          <p:cNvCxnSpPr/>
          <p:nvPr/>
        </p:nvCxnSpPr>
        <p:spPr>
          <a:xfrm flipH="1" flipV="1">
            <a:off x="6215698" y="1825831"/>
            <a:ext cx="536599" cy="751383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C4BF1E0-D955-D14A-80D7-25AFEA14032A}"/>
              </a:ext>
            </a:extLst>
          </p:cNvPr>
          <p:cNvCxnSpPr>
            <a:cxnSpLocks/>
          </p:cNvCxnSpPr>
          <p:nvPr/>
        </p:nvCxnSpPr>
        <p:spPr>
          <a:xfrm>
            <a:off x="7573356" y="2577726"/>
            <a:ext cx="0" cy="428705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7061855-E53F-AB4B-854B-BB9D0CC5EE52}"/>
                  </a:ext>
                </a:extLst>
              </p:cNvPr>
              <p:cNvSpPr/>
              <p:nvPr/>
            </p:nvSpPr>
            <p:spPr>
              <a:xfrm>
                <a:off x="7414195" y="3481124"/>
                <a:ext cx="1470980" cy="3674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27061855-E53F-AB4B-854B-BB9D0CC5E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195" y="3481124"/>
                <a:ext cx="1470980" cy="3674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7494D5-79A8-3746-B67E-76A15E4C0D94}"/>
              </a:ext>
            </a:extLst>
          </p:cNvPr>
          <p:cNvCxnSpPr>
            <a:cxnSpLocks/>
          </p:cNvCxnSpPr>
          <p:nvPr/>
        </p:nvCxnSpPr>
        <p:spPr>
          <a:xfrm>
            <a:off x="7577880" y="2809984"/>
            <a:ext cx="556843" cy="415139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A7FF68-16D4-50AA-9136-04549F33C027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7592516" y="2426015"/>
            <a:ext cx="612945" cy="13935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9C31B4-FF99-53C5-CFC4-FF9D6911E62A}"/>
                  </a:ext>
                </a:extLst>
              </p:cNvPr>
              <p:cNvSpPr txBox="1"/>
              <p:nvPr/>
            </p:nvSpPr>
            <p:spPr>
              <a:xfrm>
                <a:off x="8205461" y="2274915"/>
                <a:ext cx="679714" cy="3021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  <m:d>
                            <m:d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49C31B4-FF99-53C5-CFC4-FF9D6911E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5461" y="2274915"/>
                <a:ext cx="679714" cy="302199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3BD2E73-0D8E-C313-CF77-C2F900088E7F}"/>
              </a:ext>
            </a:extLst>
          </p:cNvPr>
          <p:cNvCxnSpPr>
            <a:cxnSpLocks/>
          </p:cNvCxnSpPr>
          <p:nvPr/>
        </p:nvCxnSpPr>
        <p:spPr>
          <a:xfrm>
            <a:off x="6242230" y="2632959"/>
            <a:ext cx="1275551" cy="37347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223B18-3187-D65E-B710-0DE113559B30}"/>
              </a:ext>
            </a:extLst>
          </p:cNvPr>
          <p:cNvCxnSpPr>
            <a:cxnSpLocks/>
          </p:cNvCxnSpPr>
          <p:nvPr/>
        </p:nvCxnSpPr>
        <p:spPr>
          <a:xfrm flipH="1">
            <a:off x="6173600" y="2821462"/>
            <a:ext cx="739758" cy="3184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A315D2-1CB1-0F68-ECF2-38E86D7E9BE9}"/>
              </a:ext>
            </a:extLst>
          </p:cNvPr>
          <p:cNvSpPr txBox="1"/>
          <p:nvPr/>
        </p:nvSpPr>
        <p:spPr>
          <a:xfrm>
            <a:off x="5295722" y="3072593"/>
            <a:ext cx="1204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/>
              <a:t>Expected Error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A0BF53B-8822-4339-5AB2-FB893684C517}"/>
              </a:ext>
            </a:extLst>
          </p:cNvPr>
          <p:cNvSpPr>
            <a:spLocks noChangeAspect="1"/>
          </p:cNvSpPr>
          <p:nvPr/>
        </p:nvSpPr>
        <p:spPr>
          <a:xfrm>
            <a:off x="7510972" y="2377950"/>
            <a:ext cx="115676" cy="11341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89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6" grpId="0" animBg="1"/>
      <p:bldP spid="16" grpId="0" animBg="1"/>
      <p:bldP spid="7" grpId="0"/>
      <p:bldP spid="17" grpId="0"/>
      <p:bldP spid="5" grpId="0"/>
      <p:bldP spid="33" grpId="0"/>
      <p:bldP spid="35" grpId="0"/>
      <p:bldP spid="11" grpId="0"/>
      <p:bldP spid="5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F71D0-058E-0840-984B-E3A3B09E5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– Variance Tradeoff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7DD4C-75C6-264A-AD76-9DE4B289FA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3850849" cy="31813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Total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Error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Bias</m:t>
                        </m:r>
                      </m:e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80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800"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  <m:sup>
                        <m:r>
                          <a:rPr lang="en-US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800" dirty="0"/>
              </a:p>
              <a:p>
                <a:endParaRPr lang="en-US" sz="1800" dirty="0"/>
              </a:p>
              <a:p>
                <a:r>
                  <a:rPr lang="en-US" sz="1800" dirty="0"/>
                  <a:t>Bias and variance move in opposite directions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Simpler models often have </a:t>
                </a:r>
                <a:r>
                  <a:rPr lang="en-US" sz="1800" b="1" dirty="0"/>
                  <a:t>higher</a:t>
                </a:r>
                <a:r>
                  <a:rPr lang="en-US" sz="1800" dirty="0"/>
                  <a:t> bias and </a:t>
                </a:r>
                <a:r>
                  <a:rPr lang="en-US" sz="1800" b="1" dirty="0"/>
                  <a:t>lower</a:t>
                </a:r>
                <a:r>
                  <a:rPr lang="en-US" sz="1800" dirty="0"/>
                  <a:t> variance </a:t>
                </a:r>
              </a:p>
              <a:p>
                <a:pPr lvl="1"/>
                <a:endParaRPr lang="en-US" sz="800" dirty="0"/>
              </a:p>
              <a:p>
                <a:r>
                  <a:rPr lang="en-US" sz="1800" dirty="0"/>
                  <a:t>Complex models typically have </a:t>
                </a:r>
                <a:r>
                  <a:rPr lang="en-US" sz="1800" b="1" dirty="0"/>
                  <a:t>lower</a:t>
                </a:r>
                <a:r>
                  <a:rPr lang="en-US" sz="1800" dirty="0"/>
                  <a:t> bias but </a:t>
                </a:r>
                <a:r>
                  <a:rPr lang="en-US" sz="1800" b="1" dirty="0"/>
                  <a:t>higher</a:t>
                </a:r>
                <a:r>
                  <a:rPr lang="en-US" sz="1800" dirty="0"/>
                  <a:t> variance</a:t>
                </a:r>
              </a:p>
              <a:p>
                <a:endParaRPr lang="en-US" sz="1800" dirty="0"/>
              </a:p>
              <a:p>
                <a:endParaRPr lang="en-US" sz="1800" dirty="0"/>
              </a:p>
              <a:p>
                <a:endParaRPr lang="en-US" sz="1800" dirty="0"/>
              </a:p>
              <a:p>
                <a:pPr lvl="1"/>
                <a:endParaRPr lang="en-US" sz="14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07DD4C-75C6-264A-AD76-9DE4B289FA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3850849" cy="3181350"/>
              </a:xfrm>
              <a:blipFill>
                <a:blip r:embed="rId2"/>
                <a:stretch>
                  <a:fillRect l="-987" r="-1316" b="-5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Arc 27">
            <a:extLst>
              <a:ext uri="{FF2B5EF4-FFF2-40B4-BE49-F238E27FC236}">
                <a16:creationId xmlns:a16="http://schemas.microsoft.com/office/drawing/2014/main" id="{7A688D69-D3F3-9A4A-BFBE-AE2827DA0FD1}"/>
              </a:ext>
            </a:extLst>
          </p:cNvPr>
          <p:cNvSpPr/>
          <p:nvPr/>
        </p:nvSpPr>
        <p:spPr>
          <a:xfrm rot="5400000">
            <a:off x="4852287" y="377643"/>
            <a:ext cx="3851590" cy="2598233"/>
          </a:xfrm>
          <a:prstGeom prst="arc">
            <a:avLst>
              <a:gd name="adj1" fmla="val 16453823"/>
              <a:gd name="adj2" fmla="val 5175744"/>
            </a:avLst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AA26D9-A127-364C-AE8E-51E92CE00802}"/>
              </a:ext>
            </a:extLst>
          </p:cNvPr>
          <p:cNvCxnSpPr/>
          <p:nvPr/>
        </p:nvCxnSpPr>
        <p:spPr>
          <a:xfrm flipV="1">
            <a:off x="5152612" y="1613210"/>
            <a:ext cx="0" cy="2408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EEE52-518F-4944-ADCD-EE0D342CA035}"/>
              </a:ext>
            </a:extLst>
          </p:cNvPr>
          <p:cNvCxnSpPr/>
          <p:nvPr/>
        </p:nvCxnSpPr>
        <p:spPr>
          <a:xfrm>
            <a:off x="5152612" y="4021873"/>
            <a:ext cx="33081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ACE7A11-FF29-4C4D-8181-2DE8FDA74C45}"/>
              </a:ext>
            </a:extLst>
          </p:cNvPr>
          <p:cNvSpPr txBox="1"/>
          <p:nvPr/>
        </p:nvSpPr>
        <p:spPr>
          <a:xfrm rot="16200000">
            <a:off x="4223343" y="2601952"/>
            <a:ext cx="14868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ED2AB-A105-C94A-93F6-05F7EC72D4B0}"/>
              </a:ext>
            </a:extLst>
          </p:cNvPr>
          <p:cNvSpPr txBox="1"/>
          <p:nvPr/>
        </p:nvSpPr>
        <p:spPr>
          <a:xfrm>
            <a:off x="5691587" y="4119891"/>
            <a:ext cx="223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Model complexity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677A9FF-C2B9-2747-9724-50FBF47A80B1}"/>
              </a:ext>
            </a:extLst>
          </p:cNvPr>
          <p:cNvCxnSpPr/>
          <p:nvPr/>
        </p:nvCxnSpPr>
        <p:spPr>
          <a:xfrm>
            <a:off x="6637582" y="1761893"/>
            <a:ext cx="0" cy="2259980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Freeform 32">
            <a:extLst>
              <a:ext uri="{FF2B5EF4-FFF2-40B4-BE49-F238E27FC236}">
                <a16:creationId xmlns:a16="http://schemas.microsoft.com/office/drawing/2014/main" id="{CF69C59D-6BAB-D042-9A84-688E3E6A81F8}"/>
              </a:ext>
            </a:extLst>
          </p:cNvPr>
          <p:cNvSpPr/>
          <p:nvPr/>
        </p:nvSpPr>
        <p:spPr>
          <a:xfrm>
            <a:off x="5234388" y="1977483"/>
            <a:ext cx="3122342" cy="1925444"/>
          </a:xfrm>
          <a:custGeom>
            <a:avLst/>
            <a:gdLst>
              <a:gd name="connsiteX0" fmla="*/ 0 w 3122342"/>
              <a:gd name="connsiteY0" fmla="*/ 0 h 1925444"/>
              <a:gd name="connsiteX1" fmla="*/ 156117 w 3122342"/>
              <a:gd name="connsiteY1" fmla="*/ 884663 h 1925444"/>
              <a:gd name="connsiteX2" fmla="*/ 654205 w 3122342"/>
              <a:gd name="connsiteY2" fmla="*/ 1553737 h 1925444"/>
              <a:gd name="connsiteX3" fmla="*/ 1813932 w 3122342"/>
              <a:gd name="connsiteY3" fmla="*/ 1858537 h 1925444"/>
              <a:gd name="connsiteX4" fmla="*/ 3122342 w 3122342"/>
              <a:gd name="connsiteY4" fmla="*/ 1925444 h 19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342" h="1925444">
                <a:moveTo>
                  <a:pt x="0" y="0"/>
                </a:moveTo>
                <a:cubicBezTo>
                  <a:pt x="23541" y="312853"/>
                  <a:pt x="47083" y="625707"/>
                  <a:pt x="156117" y="884663"/>
                </a:cubicBezTo>
                <a:cubicBezTo>
                  <a:pt x="265151" y="1143619"/>
                  <a:pt x="377903" y="1391425"/>
                  <a:pt x="654205" y="1553737"/>
                </a:cubicBezTo>
                <a:cubicBezTo>
                  <a:pt x="930507" y="1716049"/>
                  <a:pt x="1402576" y="1796586"/>
                  <a:pt x="1813932" y="1858537"/>
                </a:cubicBezTo>
                <a:cubicBezTo>
                  <a:pt x="2225288" y="1920488"/>
                  <a:pt x="2673815" y="1922966"/>
                  <a:pt x="3122342" y="1925444"/>
                </a:cubicBez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52FD4105-0849-5548-837A-F9A2F45F8AD2}"/>
              </a:ext>
            </a:extLst>
          </p:cNvPr>
          <p:cNvSpPr/>
          <p:nvPr/>
        </p:nvSpPr>
        <p:spPr>
          <a:xfrm flipH="1">
            <a:off x="5384934" y="1951904"/>
            <a:ext cx="2821249" cy="1925444"/>
          </a:xfrm>
          <a:custGeom>
            <a:avLst/>
            <a:gdLst>
              <a:gd name="connsiteX0" fmla="*/ 0 w 3122342"/>
              <a:gd name="connsiteY0" fmla="*/ 0 h 1925444"/>
              <a:gd name="connsiteX1" fmla="*/ 156117 w 3122342"/>
              <a:gd name="connsiteY1" fmla="*/ 884663 h 1925444"/>
              <a:gd name="connsiteX2" fmla="*/ 654205 w 3122342"/>
              <a:gd name="connsiteY2" fmla="*/ 1553737 h 1925444"/>
              <a:gd name="connsiteX3" fmla="*/ 1813932 w 3122342"/>
              <a:gd name="connsiteY3" fmla="*/ 1858537 h 1925444"/>
              <a:gd name="connsiteX4" fmla="*/ 3122342 w 3122342"/>
              <a:gd name="connsiteY4" fmla="*/ 1925444 h 1925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342" h="1925444">
                <a:moveTo>
                  <a:pt x="0" y="0"/>
                </a:moveTo>
                <a:cubicBezTo>
                  <a:pt x="23541" y="312853"/>
                  <a:pt x="47083" y="625707"/>
                  <a:pt x="156117" y="884663"/>
                </a:cubicBezTo>
                <a:cubicBezTo>
                  <a:pt x="265151" y="1143619"/>
                  <a:pt x="377903" y="1391425"/>
                  <a:pt x="654205" y="1553737"/>
                </a:cubicBezTo>
                <a:cubicBezTo>
                  <a:pt x="930507" y="1716049"/>
                  <a:pt x="1402576" y="1796586"/>
                  <a:pt x="1813932" y="1858537"/>
                </a:cubicBezTo>
                <a:cubicBezTo>
                  <a:pt x="2225288" y="1920488"/>
                  <a:pt x="2673815" y="1922966"/>
                  <a:pt x="3122342" y="1925444"/>
                </a:cubicBez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D8F994-2470-7C42-967E-987EB42EE7F7}"/>
              </a:ext>
            </a:extLst>
          </p:cNvPr>
          <p:cNvSpPr txBox="1"/>
          <p:nvPr/>
        </p:nvSpPr>
        <p:spPr>
          <a:xfrm>
            <a:off x="7421880" y="1705607"/>
            <a:ext cx="4683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Total error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2ACDF5-AE63-EF4E-85B1-F1D2D2BFA14E}"/>
              </a:ext>
            </a:extLst>
          </p:cNvPr>
          <p:cNvSpPr txBox="1"/>
          <p:nvPr/>
        </p:nvSpPr>
        <p:spPr>
          <a:xfrm>
            <a:off x="8256363" y="1957034"/>
            <a:ext cx="7322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Variance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4561B5-060D-A947-B917-297F258BB903}"/>
              </a:ext>
            </a:extLst>
          </p:cNvPr>
          <p:cNvSpPr txBox="1"/>
          <p:nvPr/>
        </p:nvSpPr>
        <p:spPr>
          <a:xfrm>
            <a:off x="8072377" y="3582604"/>
            <a:ext cx="7006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6"/>
                </a:solidFill>
              </a:rPr>
              <a:t>Bias</a:t>
            </a:r>
            <a:r>
              <a:rPr lang="en-US" sz="1000" baseline="30000" dirty="0">
                <a:solidFill>
                  <a:schemeClr val="accent6"/>
                </a:solidFill>
              </a:rPr>
              <a:t>2</a:t>
            </a:r>
            <a:endParaRPr lang="en-US" sz="1000" dirty="0">
              <a:solidFill>
                <a:schemeClr val="accent6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97D1D2-8B11-8A49-97C2-63F0EEFECE40}"/>
              </a:ext>
            </a:extLst>
          </p:cNvPr>
          <p:cNvSpPr txBox="1"/>
          <p:nvPr/>
        </p:nvSpPr>
        <p:spPr>
          <a:xfrm>
            <a:off x="5868558" y="1803145"/>
            <a:ext cx="7998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/>
              <a:t>Optimal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511278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33" grpId="0" animBg="1"/>
      <p:bldP spid="35" grpId="0" animBg="1"/>
      <p:bldP spid="34" grpId="0"/>
      <p:bldP spid="37" grpId="0"/>
      <p:bldP spid="38" grpId="0"/>
      <p:bldP spid="3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7EDC59E-1B29-CA43-A7D3-C887F69A0595}"/>
              </a:ext>
            </a:extLst>
          </p:cNvPr>
          <p:cNvGrpSpPr/>
          <p:nvPr/>
        </p:nvGrpSpPr>
        <p:grpSpPr>
          <a:xfrm>
            <a:off x="264691" y="1514583"/>
            <a:ext cx="4152679" cy="2768291"/>
            <a:chOff x="4991321" y="1613210"/>
            <a:chExt cx="4152679" cy="2768291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6C3C389-F566-5345-ABB1-B7A9D4CBE132}"/>
                </a:ext>
              </a:extLst>
            </p:cNvPr>
            <p:cNvCxnSpPr/>
            <p:nvPr/>
          </p:nvCxnSpPr>
          <p:spPr>
            <a:xfrm flipV="1">
              <a:off x="5307980" y="1613210"/>
              <a:ext cx="0" cy="24086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8FCBD1A-82A7-8F4F-9D31-727BE2084A72}"/>
                </a:ext>
              </a:extLst>
            </p:cNvPr>
            <p:cNvCxnSpPr/>
            <p:nvPr/>
          </p:nvCxnSpPr>
          <p:spPr>
            <a:xfrm>
              <a:off x="5307980" y="4021873"/>
              <a:ext cx="3308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EF4BA55-DE25-1648-B8FC-62291BE4DA86}"/>
                </a:ext>
              </a:extLst>
            </p:cNvPr>
            <p:cNvSpPr txBox="1"/>
            <p:nvPr/>
          </p:nvSpPr>
          <p:spPr>
            <a:xfrm rot="16200000">
              <a:off x="4378711" y="2601952"/>
              <a:ext cx="14868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Error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9BD2364-33A2-974D-9378-AFBC59B40110}"/>
                </a:ext>
              </a:extLst>
            </p:cNvPr>
            <p:cNvSpPr txBox="1"/>
            <p:nvPr/>
          </p:nvSpPr>
          <p:spPr>
            <a:xfrm>
              <a:off x="5846955" y="4119891"/>
              <a:ext cx="2230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Model complexity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AAC4DF9-A805-844B-97EF-9914A350D413}"/>
                </a:ext>
              </a:extLst>
            </p:cNvPr>
            <p:cNvCxnSpPr/>
            <p:nvPr/>
          </p:nvCxnSpPr>
          <p:spPr>
            <a:xfrm>
              <a:off x="6792950" y="1761893"/>
              <a:ext cx="0" cy="225998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CBD47DC6-AADF-2B43-9EB5-A0D79F9B4C0F}"/>
                </a:ext>
              </a:extLst>
            </p:cNvPr>
            <p:cNvSpPr/>
            <p:nvPr/>
          </p:nvSpPr>
          <p:spPr>
            <a:xfrm>
              <a:off x="5389756" y="1977483"/>
              <a:ext cx="3122342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DD082A1-66BA-4C44-9629-F1EE13FADB94}"/>
                </a:ext>
              </a:extLst>
            </p:cNvPr>
            <p:cNvSpPr/>
            <p:nvPr/>
          </p:nvSpPr>
          <p:spPr>
            <a:xfrm flipH="1">
              <a:off x="5540302" y="1951904"/>
              <a:ext cx="2821249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2B92E5-AC23-A540-83FC-57397FCED153}"/>
                </a:ext>
              </a:extLst>
            </p:cNvPr>
            <p:cNvSpPr txBox="1"/>
            <p:nvPr/>
          </p:nvSpPr>
          <p:spPr>
            <a:xfrm>
              <a:off x="7577248" y="1705607"/>
              <a:ext cx="4683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Total error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E671A9-9B96-A046-8737-C60A4D669DD3}"/>
                </a:ext>
              </a:extLst>
            </p:cNvPr>
            <p:cNvSpPr txBox="1"/>
            <p:nvPr/>
          </p:nvSpPr>
          <p:spPr>
            <a:xfrm>
              <a:off x="8411731" y="1957034"/>
              <a:ext cx="7322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</a:rPr>
                <a:t>Variance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A31513-EFCD-8643-BB04-99033DEA2507}"/>
                </a:ext>
              </a:extLst>
            </p:cNvPr>
            <p:cNvSpPr txBox="1"/>
            <p:nvPr/>
          </p:nvSpPr>
          <p:spPr>
            <a:xfrm>
              <a:off x="8227745" y="3582604"/>
              <a:ext cx="7006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6"/>
                  </a:solidFill>
                </a:rPr>
                <a:t>Bias</a:t>
              </a:r>
              <a:r>
                <a:rPr lang="en-US" sz="1000" baseline="30000" dirty="0">
                  <a:solidFill>
                    <a:schemeClr val="accent6"/>
                  </a:solidFill>
                </a:rPr>
                <a:t>2</a:t>
              </a:r>
              <a:endParaRPr lang="en-US" sz="1000" dirty="0">
                <a:solidFill>
                  <a:schemeClr val="accent6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8763CE0-40A3-214B-976A-ED8BDB114CFA}"/>
                </a:ext>
              </a:extLst>
            </p:cNvPr>
            <p:cNvSpPr txBox="1"/>
            <p:nvPr/>
          </p:nvSpPr>
          <p:spPr>
            <a:xfrm>
              <a:off x="6023926" y="1803145"/>
              <a:ext cx="79984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Optimal model complexity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9FC36C-9C8E-E443-8007-C41728AD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vs. Overfitting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93065-CB62-8843-B585-EAB766366827}"/>
              </a:ext>
            </a:extLst>
          </p:cNvPr>
          <p:cNvSpPr txBox="1"/>
          <p:nvPr/>
        </p:nvSpPr>
        <p:spPr>
          <a:xfrm>
            <a:off x="377424" y="4733832"/>
            <a:ext cx="306057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/>
              <a:t>Image source: http://</a:t>
            </a:r>
            <a:r>
              <a:rPr lang="en-US" sz="600" i="1" dirty="0" err="1"/>
              <a:t>scott.fortmann-roe.com</a:t>
            </a:r>
            <a:r>
              <a:rPr lang="en-US" sz="600" i="1" dirty="0"/>
              <a:t>/docs/</a:t>
            </a:r>
            <a:r>
              <a:rPr lang="en-US" sz="600" i="1" dirty="0" err="1"/>
              <a:t>BiasVariance.html</a:t>
            </a:r>
            <a:endParaRPr lang="en-US" sz="600" i="1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73B572-80AA-8646-8D70-F6840B1D2281}"/>
              </a:ext>
            </a:extLst>
          </p:cNvPr>
          <p:cNvSpPr/>
          <p:nvPr/>
        </p:nvSpPr>
        <p:spPr>
          <a:xfrm>
            <a:off x="608076" y="1514584"/>
            <a:ext cx="1458242" cy="2356498"/>
          </a:xfrm>
          <a:prstGeom prst="roundRect">
            <a:avLst/>
          </a:prstGeom>
          <a:solidFill>
            <a:srgbClr val="0070C0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Underfitting</a:t>
            </a:r>
          </a:p>
          <a:p>
            <a:pPr algn="ctr"/>
            <a:r>
              <a:rPr lang="en-US" sz="1400" dirty="0"/>
              <a:t>Model is too simple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63BD2C1-6732-1345-8B32-5DAB7D924BE4}"/>
              </a:ext>
            </a:extLst>
          </p:cNvPr>
          <p:cNvGrpSpPr/>
          <p:nvPr/>
        </p:nvGrpSpPr>
        <p:grpSpPr>
          <a:xfrm>
            <a:off x="4643025" y="1514583"/>
            <a:ext cx="4152679" cy="2768291"/>
            <a:chOff x="4991321" y="1613210"/>
            <a:chExt cx="4152679" cy="2768291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A52855A-C882-FD4E-8808-6DC8ABD41809}"/>
                </a:ext>
              </a:extLst>
            </p:cNvPr>
            <p:cNvCxnSpPr/>
            <p:nvPr/>
          </p:nvCxnSpPr>
          <p:spPr>
            <a:xfrm flipV="1">
              <a:off x="5307980" y="1613210"/>
              <a:ext cx="0" cy="240866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5970C3B-8DAC-334F-8439-6D85E0A90073}"/>
                </a:ext>
              </a:extLst>
            </p:cNvPr>
            <p:cNvCxnSpPr/>
            <p:nvPr/>
          </p:nvCxnSpPr>
          <p:spPr>
            <a:xfrm>
              <a:off x="5307980" y="4021873"/>
              <a:ext cx="3308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F13FD6E-6A69-BC44-B05F-B98C8D64D9B3}"/>
                </a:ext>
              </a:extLst>
            </p:cNvPr>
            <p:cNvSpPr txBox="1"/>
            <p:nvPr/>
          </p:nvSpPr>
          <p:spPr>
            <a:xfrm rot="16200000">
              <a:off x="4378711" y="2601952"/>
              <a:ext cx="14868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Error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D6EEFA-116F-FF41-B5CF-A04FA434CBD8}"/>
                </a:ext>
              </a:extLst>
            </p:cNvPr>
            <p:cNvSpPr txBox="1"/>
            <p:nvPr/>
          </p:nvSpPr>
          <p:spPr>
            <a:xfrm>
              <a:off x="5846955" y="4119891"/>
              <a:ext cx="223024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Model complexity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2055A9-C169-AF42-BC6A-49170A1C362C}"/>
                </a:ext>
              </a:extLst>
            </p:cNvPr>
            <p:cNvCxnSpPr/>
            <p:nvPr/>
          </p:nvCxnSpPr>
          <p:spPr>
            <a:xfrm>
              <a:off x="6792950" y="1761893"/>
              <a:ext cx="0" cy="2259980"/>
            </a:xfrm>
            <a:prstGeom prst="line">
              <a:avLst/>
            </a:prstGeom>
            <a:ln>
              <a:prstDash val="lgDash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C7A2A4F-4D58-014A-BA5D-4A503264D610}"/>
                </a:ext>
              </a:extLst>
            </p:cNvPr>
            <p:cNvSpPr/>
            <p:nvPr/>
          </p:nvSpPr>
          <p:spPr>
            <a:xfrm>
              <a:off x="5389756" y="1977483"/>
              <a:ext cx="3122342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F000E1E-FE4F-104E-AB08-F617DC362D73}"/>
                </a:ext>
              </a:extLst>
            </p:cNvPr>
            <p:cNvSpPr/>
            <p:nvPr/>
          </p:nvSpPr>
          <p:spPr>
            <a:xfrm flipH="1">
              <a:off x="5540302" y="1951904"/>
              <a:ext cx="2821249" cy="1925444"/>
            </a:xfrm>
            <a:custGeom>
              <a:avLst/>
              <a:gdLst>
                <a:gd name="connsiteX0" fmla="*/ 0 w 3122342"/>
                <a:gd name="connsiteY0" fmla="*/ 0 h 1925444"/>
                <a:gd name="connsiteX1" fmla="*/ 156117 w 3122342"/>
                <a:gd name="connsiteY1" fmla="*/ 884663 h 1925444"/>
                <a:gd name="connsiteX2" fmla="*/ 654205 w 3122342"/>
                <a:gd name="connsiteY2" fmla="*/ 1553737 h 1925444"/>
                <a:gd name="connsiteX3" fmla="*/ 1813932 w 3122342"/>
                <a:gd name="connsiteY3" fmla="*/ 1858537 h 1925444"/>
                <a:gd name="connsiteX4" fmla="*/ 3122342 w 3122342"/>
                <a:gd name="connsiteY4" fmla="*/ 1925444 h 1925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2342" h="1925444">
                  <a:moveTo>
                    <a:pt x="0" y="0"/>
                  </a:moveTo>
                  <a:cubicBezTo>
                    <a:pt x="23541" y="312853"/>
                    <a:pt x="47083" y="625707"/>
                    <a:pt x="156117" y="884663"/>
                  </a:cubicBezTo>
                  <a:cubicBezTo>
                    <a:pt x="265151" y="1143619"/>
                    <a:pt x="377903" y="1391425"/>
                    <a:pt x="654205" y="1553737"/>
                  </a:cubicBezTo>
                  <a:cubicBezTo>
                    <a:pt x="930507" y="1716049"/>
                    <a:pt x="1402576" y="1796586"/>
                    <a:pt x="1813932" y="1858537"/>
                  </a:cubicBezTo>
                  <a:cubicBezTo>
                    <a:pt x="2225288" y="1920488"/>
                    <a:pt x="2673815" y="1922966"/>
                    <a:pt x="3122342" y="1925444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C5BD9BE-B9A7-E740-B6D2-F2A84B6AB214}"/>
                </a:ext>
              </a:extLst>
            </p:cNvPr>
            <p:cNvSpPr txBox="1"/>
            <p:nvPr/>
          </p:nvSpPr>
          <p:spPr>
            <a:xfrm>
              <a:off x="7577248" y="1705607"/>
              <a:ext cx="4683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FF0000"/>
                  </a:solidFill>
                </a:rPr>
                <a:t>Total error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839ADD9-A7E3-4745-9010-9DEF7DA61239}"/>
                </a:ext>
              </a:extLst>
            </p:cNvPr>
            <p:cNvSpPr txBox="1"/>
            <p:nvPr/>
          </p:nvSpPr>
          <p:spPr>
            <a:xfrm>
              <a:off x="8411731" y="1957034"/>
              <a:ext cx="7322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1"/>
                  </a:solidFill>
                </a:rPr>
                <a:t>Variance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49A17E1-F0A6-1249-8A67-C1B97B49D684}"/>
                </a:ext>
              </a:extLst>
            </p:cNvPr>
            <p:cNvSpPr txBox="1"/>
            <p:nvPr/>
          </p:nvSpPr>
          <p:spPr>
            <a:xfrm>
              <a:off x="8227745" y="3582604"/>
              <a:ext cx="70066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accent6"/>
                  </a:solidFill>
                </a:rPr>
                <a:t>Bias</a:t>
              </a:r>
              <a:r>
                <a:rPr lang="en-US" sz="1000" baseline="30000" dirty="0">
                  <a:solidFill>
                    <a:schemeClr val="accent6"/>
                  </a:solidFill>
                </a:rPr>
                <a:t>2</a:t>
              </a:r>
              <a:endParaRPr lang="en-US" sz="1000" dirty="0">
                <a:solidFill>
                  <a:schemeClr val="accent6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665B938-5477-2142-AABA-58CCD757002F}"/>
                </a:ext>
              </a:extLst>
            </p:cNvPr>
            <p:cNvSpPr txBox="1"/>
            <p:nvPr/>
          </p:nvSpPr>
          <p:spPr>
            <a:xfrm>
              <a:off x="6023926" y="1803145"/>
              <a:ext cx="79984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/>
                <a:t>Optimal model complexity</a:t>
              </a:r>
            </a:p>
          </p:txBody>
        </p:sp>
      </p:grp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5D8831-516D-034F-8205-31DE3478901C}"/>
              </a:ext>
            </a:extLst>
          </p:cNvPr>
          <p:cNvSpPr/>
          <p:nvPr/>
        </p:nvSpPr>
        <p:spPr>
          <a:xfrm>
            <a:off x="6475472" y="1595845"/>
            <a:ext cx="1537782" cy="2259980"/>
          </a:xfrm>
          <a:prstGeom prst="roundRect">
            <a:avLst/>
          </a:prstGeom>
          <a:solidFill>
            <a:schemeClr val="accent6">
              <a:alpha val="7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u="sng" dirty="0"/>
              <a:t>Overfitting</a:t>
            </a:r>
          </a:p>
          <a:p>
            <a:pPr algn="ctr"/>
            <a:r>
              <a:rPr lang="en-US" sz="1400" dirty="0"/>
              <a:t>Model is too complex</a:t>
            </a:r>
          </a:p>
        </p:txBody>
      </p:sp>
    </p:spTree>
    <p:extLst>
      <p:ext uri="{BB962C8B-B14F-4D97-AF65-F5344CB8AC3E}">
        <p14:creationId xmlns:p14="http://schemas.microsoft.com/office/powerpoint/2010/main" val="8460766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9627D-18DE-8141-832B-2E259958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Underfitting vs. Overfitting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E294B8F-2950-C443-8D7E-0F830E9DE1CA}"/>
              </a:ext>
            </a:extLst>
          </p:cNvPr>
          <p:cNvSpPr/>
          <p:nvPr/>
        </p:nvSpPr>
        <p:spPr>
          <a:xfrm>
            <a:off x="1048215" y="1176957"/>
            <a:ext cx="1922867" cy="1012945"/>
          </a:xfrm>
          <a:prstGeom prst="roundRect">
            <a:avLst/>
          </a:prstGeom>
          <a:solidFill>
            <a:srgbClr val="0070C0">
              <a:alpha val="7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Underfitting</a:t>
            </a:r>
          </a:p>
          <a:p>
            <a:pPr algn="ctr"/>
            <a:r>
              <a:rPr lang="en-US" sz="1600" dirty="0"/>
              <a:t>Model is too simple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7AEAC7-ACB2-4743-9E3D-517C57A636FC}"/>
              </a:ext>
            </a:extLst>
          </p:cNvPr>
          <p:cNvSpPr/>
          <p:nvPr/>
        </p:nvSpPr>
        <p:spPr>
          <a:xfrm>
            <a:off x="5870889" y="1176956"/>
            <a:ext cx="1922867" cy="984912"/>
          </a:xfrm>
          <a:prstGeom prst="roundRect">
            <a:avLst/>
          </a:prstGeom>
          <a:solidFill>
            <a:schemeClr val="accent6">
              <a:alpha val="7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Overfitting</a:t>
            </a:r>
          </a:p>
          <a:p>
            <a:pPr algn="ctr"/>
            <a:r>
              <a:rPr lang="en-US" sz="1600" dirty="0"/>
              <a:t>Model is too complex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9F62C-39C2-F84E-91E9-7D87DF8B054F}"/>
              </a:ext>
            </a:extLst>
          </p:cNvPr>
          <p:cNvSpPr txBox="1"/>
          <p:nvPr/>
        </p:nvSpPr>
        <p:spPr>
          <a:xfrm>
            <a:off x="275411" y="4869229"/>
            <a:ext cx="221104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i="1" dirty="0"/>
              <a:t>Image source: Scikit Learn documentation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0A0AD6-8428-1F46-BD86-EC95E8906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15" y="2286261"/>
            <a:ext cx="1922867" cy="2278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95802E-4870-D140-82B9-22CDC5209D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889" y="2258227"/>
            <a:ext cx="1922867" cy="23390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9F2C29-9884-4448-AA5A-34B62AC8E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552" y="2286261"/>
            <a:ext cx="1922867" cy="2330748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296E060-6FFB-FD4A-A2D9-4F5526409AF1}"/>
              </a:ext>
            </a:extLst>
          </p:cNvPr>
          <p:cNvSpPr/>
          <p:nvPr/>
        </p:nvSpPr>
        <p:spPr>
          <a:xfrm>
            <a:off x="3448401" y="1176956"/>
            <a:ext cx="1922867" cy="1012945"/>
          </a:xfrm>
          <a:prstGeom prst="roundRect">
            <a:avLst/>
          </a:prstGeom>
          <a:solidFill>
            <a:schemeClr val="accent3">
              <a:alpha val="7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/>
              <a:t>Good Fit</a:t>
            </a:r>
          </a:p>
          <a:p>
            <a:pPr algn="ctr"/>
            <a:r>
              <a:rPr lang="en-US" sz="1600" dirty="0"/>
              <a:t>Model fits well, with some error</a:t>
            </a:r>
          </a:p>
        </p:txBody>
      </p:sp>
    </p:spTree>
    <p:extLst>
      <p:ext uri="{BB962C8B-B14F-4D97-AF65-F5344CB8AC3E}">
        <p14:creationId xmlns:p14="http://schemas.microsoft.com/office/powerpoint/2010/main" val="30794581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91A1A-0D13-C049-A91F-854952175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How do we recognize overfitting?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654D1-5B34-0D44-BB07-020C424C5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369633" cy="3181350"/>
          </a:xfrm>
        </p:spPr>
        <p:txBody>
          <a:bodyPr/>
          <a:lstStyle/>
          <a:p>
            <a:r>
              <a:rPr lang="en-US" sz="1800" dirty="0"/>
              <a:t>As we increase complexity, training score continues to improve</a:t>
            </a:r>
          </a:p>
          <a:p>
            <a:endParaRPr lang="en-US" sz="1800" dirty="0"/>
          </a:p>
          <a:p>
            <a:r>
              <a:rPr lang="en-US" sz="1800" dirty="0"/>
              <a:t>However, validation score improves to a point but then drops as model overfits the training data</a:t>
            </a:r>
          </a:p>
          <a:p>
            <a:endParaRPr lang="en-US" sz="1800" dirty="0"/>
          </a:p>
          <a:p>
            <a:r>
              <a:rPr lang="en-US" sz="1800" dirty="0"/>
              <a:t>Eventually, training performance &amp; validation performance diverge indicating model is overfit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B3167D-A0B0-DD4D-8908-F70105950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02" y="1200151"/>
            <a:ext cx="3798897" cy="27962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9281DA-25F2-9743-8ED5-B10E2851E80C}"/>
              </a:ext>
            </a:extLst>
          </p:cNvPr>
          <p:cNvSpPr txBox="1"/>
          <p:nvPr/>
        </p:nvSpPr>
        <p:spPr>
          <a:xfrm>
            <a:off x="6017857" y="3963961"/>
            <a:ext cx="22110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Image source: Python Data Science Handbook</a:t>
            </a:r>
          </a:p>
        </p:txBody>
      </p:sp>
    </p:spTree>
    <p:extLst>
      <p:ext uri="{BB962C8B-B14F-4D97-AF65-F5344CB8AC3E}">
        <p14:creationId xmlns:p14="http://schemas.microsoft.com/office/powerpoint/2010/main" val="14283418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CA7FA-1D9E-4F41-9966-4571EC0DD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optimal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BB5B1-A71D-3C4C-87D4-1027EF751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21667" cy="3181350"/>
          </a:xfrm>
        </p:spPr>
        <p:txBody>
          <a:bodyPr/>
          <a:lstStyle/>
          <a:p>
            <a:r>
              <a:rPr lang="en-US" sz="1600" dirty="0"/>
              <a:t>Our goal is to find the optimal model complexity to balance bias and variance, thereby minimizing error</a:t>
            </a:r>
          </a:p>
          <a:p>
            <a:endParaRPr lang="en-US" sz="800" dirty="0"/>
          </a:p>
          <a:p>
            <a:r>
              <a:rPr lang="en-US" sz="1600" dirty="0"/>
              <a:t>What influences complexity?</a:t>
            </a:r>
          </a:p>
          <a:p>
            <a:pPr lvl="1"/>
            <a:r>
              <a:rPr lang="en-US" sz="1400" b="1" dirty="0"/>
              <a:t>Choice of algorithm</a:t>
            </a:r>
          </a:p>
          <a:p>
            <a:pPr lvl="1"/>
            <a:r>
              <a:rPr lang="en-US" sz="1400" b="1" dirty="0"/>
              <a:t>Number of features</a:t>
            </a:r>
          </a:p>
          <a:p>
            <a:pPr lvl="1"/>
            <a:r>
              <a:rPr lang="en-US" sz="1400" b="1" dirty="0"/>
              <a:t>Hyperparameter settings</a:t>
            </a:r>
          </a:p>
          <a:p>
            <a:pPr lvl="1"/>
            <a:endParaRPr lang="en-US" sz="800" dirty="0"/>
          </a:p>
          <a:p>
            <a:r>
              <a:rPr lang="en-US" sz="1600" dirty="0"/>
              <a:t>Optimal complexity varies with amount of data – the more data, the more complex model you can use</a:t>
            </a:r>
          </a:p>
          <a:p>
            <a:endParaRPr lang="en-US" sz="800" dirty="0"/>
          </a:p>
          <a:p>
            <a:r>
              <a:rPr lang="en-US" sz="1600" dirty="0"/>
              <a:t>We find this using the validation approaches we discussed last class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ED2B1-4551-134F-8ABA-AEAD806D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00151"/>
            <a:ext cx="4128957" cy="28709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D25ECF-683F-2442-A169-BFBF369B3CEA}"/>
              </a:ext>
            </a:extLst>
          </p:cNvPr>
          <p:cNvSpPr txBox="1"/>
          <p:nvPr/>
        </p:nvSpPr>
        <p:spPr>
          <a:xfrm>
            <a:off x="5721524" y="4126256"/>
            <a:ext cx="22110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i="1" dirty="0"/>
              <a:t>Image source: Python Data Science Handbook</a:t>
            </a:r>
          </a:p>
        </p:txBody>
      </p:sp>
    </p:spTree>
    <p:extLst>
      <p:ext uri="{BB962C8B-B14F-4D97-AF65-F5344CB8AC3E}">
        <p14:creationId xmlns:p14="http://schemas.microsoft.com/office/powerpoint/2010/main" val="4137262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0BACE-8286-3A46-A350-89B4A05F7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210896"/>
            <a:ext cx="7772400" cy="1021556"/>
          </a:xfrm>
        </p:spPr>
        <p:txBody>
          <a:bodyPr/>
          <a:lstStyle/>
          <a:p>
            <a:r>
              <a:rPr lang="en-US" dirty="0"/>
              <a:t>DEMO Notebook: </a:t>
            </a:r>
            <a:br>
              <a:rPr lang="en-US" dirty="0"/>
            </a:br>
            <a:r>
              <a:rPr lang="en-US" dirty="0"/>
              <a:t>Validation Curves</a:t>
            </a:r>
          </a:p>
        </p:txBody>
      </p:sp>
    </p:spTree>
    <p:extLst>
      <p:ext uri="{BB962C8B-B14F-4D97-AF65-F5344CB8AC3E}">
        <p14:creationId xmlns:p14="http://schemas.microsoft.com/office/powerpoint/2010/main" val="36467830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Metrics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2752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C663-E02B-5445-BD91-8F65445E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vs. Outputs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199120F-8825-444E-967F-7E1BAD18B76A}"/>
              </a:ext>
            </a:extLst>
          </p:cNvPr>
          <p:cNvSpPr txBox="1">
            <a:spLocks/>
          </p:cNvSpPr>
          <p:nvPr/>
        </p:nvSpPr>
        <p:spPr bwMode="auto">
          <a:xfrm>
            <a:off x="457200" y="1847087"/>
            <a:ext cx="3653624" cy="236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</a:pPr>
            <a:r>
              <a:rPr lang="en-US" sz="1600" dirty="0"/>
              <a:t>Refers to the desired business impact on your organization or for your customer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Stated in terms of the expected impact (which is often $)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Does NOT contain model performance metrics or other technical metrics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A2DCFE-CD2B-D44D-9726-96C9C52B6F46}"/>
              </a:ext>
            </a:extLst>
          </p:cNvPr>
          <p:cNvSpPr/>
          <p:nvPr/>
        </p:nvSpPr>
        <p:spPr>
          <a:xfrm>
            <a:off x="457200" y="1280160"/>
            <a:ext cx="3677081" cy="42976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Outcome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4A1555-A732-1142-A541-26C636FE8973}"/>
              </a:ext>
            </a:extLst>
          </p:cNvPr>
          <p:cNvSpPr/>
          <p:nvPr/>
        </p:nvSpPr>
        <p:spPr>
          <a:xfrm>
            <a:off x="4727448" y="1280159"/>
            <a:ext cx="3677081" cy="42976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Output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0CDC15D-6D85-9345-8508-75C99D10749A}"/>
              </a:ext>
            </a:extLst>
          </p:cNvPr>
          <p:cNvSpPr txBox="1">
            <a:spLocks/>
          </p:cNvSpPr>
          <p:nvPr/>
        </p:nvSpPr>
        <p:spPr bwMode="auto">
          <a:xfrm>
            <a:off x="4727448" y="1847087"/>
            <a:ext cx="3494201" cy="2369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 sz="1600" dirty="0"/>
              <a:t>Refers to the desired output from the model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Measured in terms of a model performance metric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Typically not communicated to the customer  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Set this AFTER setting the desired outcome</a:t>
            </a:r>
          </a:p>
        </p:txBody>
      </p:sp>
    </p:spTree>
    <p:extLst>
      <p:ext uri="{BB962C8B-B14F-4D97-AF65-F5344CB8AC3E}">
        <p14:creationId xmlns:p14="http://schemas.microsoft.com/office/powerpoint/2010/main" val="3080846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3C663-E02B-5445-BD91-8F65445E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Outcomes vs. Outputs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49E71-392F-5A49-9399-6D3606AD6D45}"/>
              </a:ext>
            </a:extLst>
          </p:cNvPr>
          <p:cNvSpPr/>
          <p:nvPr/>
        </p:nvSpPr>
        <p:spPr>
          <a:xfrm>
            <a:off x="2468878" y="1283874"/>
            <a:ext cx="2580199" cy="7951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 dirty="0"/>
              <a:t>A tool to predict turbulence for airlines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733CF8-2011-164F-96B5-34181FCDAA79}"/>
              </a:ext>
            </a:extLst>
          </p:cNvPr>
          <p:cNvSpPr/>
          <p:nvPr/>
        </p:nvSpPr>
        <p:spPr>
          <a:xfrm>
            <a:off x="373711" y="3447133"/>
            <a:ext cx="1796995" cy="9369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Output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5E6490-A114-E44E-9FC8-6BDA98985A9A}"/>
              </a:ext>
            </a:extLst>
          </p:cNvPr>
          <p:cNvSpPr/>
          <p:nvPr/>
        </p:nvSpPr>
        <p:spPr>
          <a:xfrm>
            <a:off x="373711" y="2299250"/>
            <a:ext cx="1796995" cy="936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Outcome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6ACA6-BD98-B84C-B1AB-DEA0F6862585}"/>
              </a:ext>
            </a:extLst>
          </p:cNvPr>
          <p:cNvSpPr/>
          <p:nvPr/>
        </p:nvSpPr>
        <p:spPr>
          <a:xfrm>
            <a:off x="2468878" y="2299250"/>
            <a:ext cx="2580199" cy="936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 # of safety incidents per year, or lower $ of safety-related claims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A0FCF4-E04D-AC40-9EBC-EBAB3C75F323}"/>
              </a:ext>
            </a:extLst>
          </p:cNvPr>
          <p:cNvSpPr/>
          <p:nvPr/>
        </p:nvSpPr>
        <p:spPr>
          <a:xfrm>
            <a:off x="2468878" y="3447132"/>
            <a:ext cx="2580199" cy="9369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AUROC or precision/recall of turbulence prediction (binary or 1-5 scale)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B5C32-4BF7-E847-B3A8-BE6C6C2B2506}"/>
              </a:ext>
            </a:extLst>
          </p:cNvPr>
          <p:cNvSpPr/>
          <p:nvPr/>
        </p:nvSpPr>
        <p:spPr>
          <a:xfrm>
            <a:off x="5412186" y="1283873"/>
            <a:ext cx="2580199" cy="7951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b="1" dirty="0"/>
              <a:t>A power demand forecasting tool for a utility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9D675D-B8A3-E948-B00F-E03C25D9586D}"/>
              </a:ext>
            </a:extLst>
          </p:cNvPr>
          <p:cNvSpPr/>
          <p:nvPr/>
        </p:nvSpPr>
        <p:spPr>
          <a:xfrm>
            <a:off x="5412186" y="2299250"/>
            <a:ext cx="2580199" cy="9369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cost per MWh of power produced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Lower emissions rate per MWh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DC9B1C-D3C6-F840-9166-86C3BA22E595}"/>
              </a:ext>
            </a:extLst>
          </p:cNvPr>
          <p:cNvSpPr/>
          <p:nvPr/>
        </p:nvSpPr>
        <p:spPr>
          <a:xfrm>
            <a:off x="5412186" y="3447132"/>
            <a:ext cx="2580199" cy="936929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MSE (most likely) or MAE/MAPE</a:t>
            </a:r>
          </a:p>
        </p:txBody>
      </p:sp>
    </p:spTree>
    <p:extLst>
      <p:ext uri="{BB962C8B-B14F-4D97-AF65-F5344CB8AC3E}">
        <p14:creationId xmlns:p14="http://schemas.microsoft.com/office/powerpoint/2010/main" val="1726934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2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583BE-A405-845A-A8CA-D7ACACE36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EE14-03E1-2BEF-55E4-0887E7669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800" dirty="0"/>
              <a:t>Metrics are meaningless without a baseline for comparison</a:t>
            </a:r>
          </a:p>
          <a:p>
            <a:pPr>
              <a:spcAft>
                <a:spcPts val="600"/>
              </a:spcAft>
            </a:pPr>
            <a:r>
              <a:rPr lang="en-US" sz="1800" dirty="0"/>
              <a:t>There are a few important baselines to determine: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Zero rule baseline </a:t>
            </a:r>
            <a:r>
              <a:rPr lang="en-US" sz="1600" dirty="0"/>
              <a:t>(Most common class / mean value)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Heuristic baseline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Human baseline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b="1" dirty="0">
                <a:solidFill>
                  <a:schemeClr val="tx2"/>
                </a:solidFill>
              </a:rPr>
              <a:t>Existing solution baseline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endParaRPr lang="en-US" sz="1600" dirty="0"/>
          </a:p>
          <a:p>
            <a:pPr>
              <a:spcAft>
                <a:spcPts val="6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65900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64CA-C15A-2842-81A4-0DFB35E5F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2178766"/>
            <a:ext cx="8328025" cy="1501557"/>
          </a:xfrm>
        </p:spPr>
        <p:txBody>
          <a:bodyPr/>
          <a:lstStyle/>
          <a:p>
            <a:pPr>
              <a:defRPr/>
            </a:pPr>
            <a:r>
              <a:rPr lang="en-US" dirty="0"/>
              <a:t>Regression Error Metrics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32193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8F93-A4CB-544B-B35E-FCBBABCDD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MSE, MAE and MAPE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542E1-0304-E344-BE44-D098258FC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3540" y="2563318"/>
            <a:ext cx="2875167" cy="2057919"/>
          </a:xfrm>
        </p:spPr>
        <p:txBody>
          <a:bodyPr/>
          <a:lstStyle/>
          <a:p>
            <a:r>
              <a:rPr lang="en-US" sz="1400" dirty="0"/>
              <a:t>Also influenced by scale </a:t>
            </a:r>
          </a:p>
          <a:p>
            <a:r>
              <a:rPr lang="en-US" sz="1400" dirty="0"/>
              <a:t>More robust to outliers</a:t>
            </a:r>
          </a:p>
          <a:p>
            <a:r>
              <a:rPr lang="en-US" sz="1400" dirty="0"/>
              <a:t>Can be easier to interpret in context of the problem</a:t>
            </a:r>
          </a:p>
          <a:p>
            <a:r>
              <a:rPr lang="en-US" sz="1400" dirty="0"/>
              <a:t>Abs value is less desirable for calculations (squared terms are easier to minimize via differentiation)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050C7C-0372-7A4F-AEE0-C06216EFE6D7}"/>
              </a:ext>
            </a:extLst>
          </p:cNvPr>
          <p:cNvSpPr/>
          <p:nvPr/>
        </p:nvSpPr>
        <p:spPr>
          <a:xfrm>
            <a:off x="3203540" y="1169232"/>
            <a:ext cx="2715689" cy="47219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Mean Absolute Error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3B6137-BE54-4048-81FC-6033C5EC302F}"/>
              </a:ext>
            </a:extLst>
          </p:cNvPr>
          <p:cNvSpPr/>
          <p:nvPr/>
        </p:nvSpPr>
        <p:spPr>
          <a:xfrm>
            <a:off x="278571" y="1169232"/>
            <a:ext cx="2715689" cy="47219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Mean Squared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458001-83AC-644D-821B-1A5F5567DF10}"/>
                  </a:ext>
                </a:extLst>
              </p:cNvPr>
              <p:cNvSpPr txBox="1"/>
              <p:nvPr/>
            </p:nvSpPr>
            <p:spPr>
              <a:xfrm>
                <a:off x="3512721" y="1789375"/>
                <a:ext cx="2034403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A458001-83AC-644D-821B-1A5F5567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2721" y="1789375"/>
                <a:ext cx="2034403" cy="597471"/>
              </a:xfrm>
              <a:prstGeom prst="rect">
                <a:avLst/>
              </a:prstGeom>
              <a:blipFill>
                <a:blip r:embed="rId2"/>
                <a:stretch>
                  <a:fillRect l="-1242" t="-150000" r="-3106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8E265B-5C42-1C4C-B71E-2478CFE12494}"/>
                  </a:ext>
                </a:extLst>
              </p:cNvPr>
              <p:cNvSpPr txBox="1"/>
              <p:nvPr/>
            </p:nvSpPr>
            <p:spPr>
              <a:xfrm>
                <a:off x="627329" y="1789375"/>
                <a:ext cx="2078774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8E265B-5C42-1C4C-B71E-2478CFE12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329" y="1789375"/>
                <a:ext cx="2078774" cy="597471"/>
              </a:xfrm>
              <a:prstGeom prst="rect">
                <a:avLst/>
              </a:prstGeom>
              <a:blipFill>
                <a:blip r:embed="rId3"/>
                <a:stretch>
                  <a:fillRect l="-1818" t="-150000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AB09682-C973-1040-990C-2CD0D000AA2F}"/>
              </a:ext>
            </a:extLst>
          </p:cNvPr>
          <p:cNvSpPr txBox="1">
            <a:spLocks/>
          </p:cNvSpPr>
          <p:nvPr/>
        </p:nvSpPr>
        <p:spPr bwMode="auto">
          <a:xfrm>
            <a:off x="278572" y="2563318"/>
            <a:ext cx="2786723" cy="205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Most popular regression error metric</a:t>
            </a:r>
          </a:p>
          <a:p>
            <a:r>
              <a:rPr lang="en-US" sz="1400" dirty="0"/>
              <a:t>Heavily influenced by outliers - penalizes large errors much more than small ones</a:t>
            </a:r>
          </a:p>
          <a:p>
            <a:r>
              <a:rPr lang="en-US" sz="1400" dirty="0"/>
              <a:t>Influenced by scale of data</a:t>
            </a:r>
          </a:p>
          <a:p>
            <a:r>
              <a:rPr lang="en-US" sz="1400" dirty="0"/>
              <a:t>Sometimes used as RMSE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942376C-FC75-E140-ABE2-AA5F6E16D05C}"/>
              </a:ext>
            </a:extLst>
          </p:cNvPr>
          <p:cNvSpPr txBox="1">
            <a:spLocks/>
          </p:cNvSpPr>
          <p:nvPr/>
        </p:nvSpPr>
        <p:spPr bwMode="auto">
          <a:xfrm>
            <a:off x="6183639" y="2571750"/>
            <a:ext cx="2715689" cy="20579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Converts error to a percentage</a:t>
            </a:r>
          </a:p>
          <a:p>
            <a:r>
              <a:rPr lang="en-US" sz="1400" dirty="0"/>
              <a:t>Popular among non-technical managers because it is easily understood</a:t>
            </a:r>
          </a:p>
          <a:p>
            <a:r>
              <a:rPr lang="en-US" sz="1400" dirty="0"/>
              <a:t>Skewed by high % errors for low values of 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EEF5FC-3206-9C47-9479-69C147E950A4}"/>
              </a:ext>
            </a:extLst>
          </p:cNvPr>
          <p:cNvSpPr/>
          <p:nvPr/>
        </p:nvSpPr>
        <p:spPr>
          <a:xfrm>
            <a:off x="6183639" y="1169232"/>
            <a:ext cx="2715689" cy="472190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Mean Absolute %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D8E703-D676-3640-8C54-87B126C1E092}"/>
                  </a:ext>
                </a:extLst>
              </p:cNvPr>
              <p:cNvSpPr txBox="1"/>
              <p:nvPr/>
            </p:nvSpPr>
            <p:spPr>
              <a:xfrm>
                <a:off x="6354560" y="1758894"/>
                <a:ext cx="2126864" cy="597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𝑀𝐴𝑃𝐸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9D8E703-D676-3640-8C54-87B126C1E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560" y="1758894"/>
                <a:ext cx="2126864" cy="597471"/>
              </a:xfrm>
              <a:prstGeom prst="rect">
                <a:avLst/>
              </a:prstGeom>
              <a:blipFill>
                <a:blip r:embed="rId4"/>
                <a:stretch>
                  <a:fillRect l="-1786" t="-147917" r="-2381" b="-20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497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/>
      <p:bldP spid="10" grpId="0"/>
      <p:bldP spid="11" grpId="0" animBg="1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3578-A2CE-074D-ACC2-2C982420F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MAE vs. MSE/RMSE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01E4F-3FEA-1E4C-B18F-236E18A39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582649"/>
            <a:ext cx="8229600" cy="798852"/>
          </a:xfrm>
        </p:spPr>
        <p:txBody>
          <a:bodyPr/>
          <a:lstStyle/>
          <a:p>
            <a:r>
              <a:rPr lang="en-US" sz="1600" dirty="0"/>
              <a:t>MSE/RMSE penalizes severe errors much more than MAE</a:t>
            </a:r>
          </a:p>
          <a:p>
            <a:r>
              <a:rPr lang="en-US" sz="1600" dirty="0"/>
              <a:t>This can be desirable if being off by a lot one time is much worse than being off by a little every time</a:t>
            </a:r>
          </a:p>
        </p:txBody>
      </p:sp>
      <p:pic>
        <p:nvPicPr>
          <p:cNvPr id="7174" name="Picture 6" descr="Image for post">
            <a:extLst>
              <a:ext uri="{FF2B5EF4-FFF2-40B4-BE49-F238E27FC236}">
                <a16:creationId xmlns:a16="http://schemas.microsoft.com/office/drawing/2014/main" id="{BA1CBB8B-0914-F044-87CE-2AAC5A0F9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282" y="1155779"/>
            <a:ext cx="6075087" cy="2426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FC7DDB-7906-FA4E-A280-EDC9BEDFC325}"/>
              </a:ext>
            </a:extLst>
          </p:cNvPr>
          <p:cNvSpPr/>
          <p:nvPr/>
        </p:nvSpPr>
        <p:spPr>
          <a:xfrm>
            <a:off x="951875" y="4756150"/>
            <a:ext cx="4957997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00" dirty="0"/>
              <a:t>Image source: https://</a:t>
            </a:r>
            <a:r>
              <a:rPr lang="en-US" sz="700" dirty="0" err="1"/>
              <a:t>medium.com</a:t>
            </a:r>
            <a:r>
              <a:rPr lang="en-US" sz="700" dirty="0"/>
              <a:t>/human-in-a-machine-world/mae-and-rmse-which-metric-is-better-e60ac3bde13d</a:t>
            </a:r>
          </a:p>
        </p:txBody>
      </p:sp>
    </p:spTree>
    <p:extLst>
      <p:ext uri="{BB962C8B-B14F-4D97-AF65-F5344CB8AC3E}">
        <p14:creationId xmlns:p14="http://schemas.microsoft.com/office/powerpoint/2010/main" val="24373382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FB9E2-20D4-8B42-A98E-B408838C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Coefficient of determination (R</a:t>
            </a:r>
            <a:r>
              <a:rPr lang="en-US" sz="3600" baseline="30000" dirty="0"/>
              <a:t>2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7DA7F-0C49-6F42-8803-5070A7ABA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131571"/>
            <a:ext cx="8229600" cy="1371599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sz="1600" dirty="0"/>
              <a:t>Deviation of points from mean can be broken down into two components: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”Explained deviation” – portion of deviation predicted by your model</a:t>
            </a:r>
          </a:p>
          <a:p>
            <a:pPr lvl="1">
              <a:spcAft>
                <a:spcPts val="400"/>
              </a:spcAft>
            </a:pPr>
            <a:r>
              <a:rPr lang="en-US" sz="1600" dirty="0"/>
              <a:t>“Unexplained deviation” – difference between prediction and actual point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A4860336-061B-1BB4-3E0C-990CBAA969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2" t="48972" r="48927" b="3322"/>
          <a:stretch/>
        </p:blipFill>
        <p:spPr bwMode="auto">
          <a:xfrm>
            <a:off x="1828080" y="2416396"/>
            <a:ext cx="4973935" cy="254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95623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9E92C5-0A24-BC45-AE3F-AC81BE591425}"/>
              </a:ext>
            </a:extLst>
          </p:cNvPr>
          <p:cNvSpPr/>
          <p:nvPr/>
        </p:nvSpPr>
        <p:spPr>
          <a:xfrm>
            <a:off x="1391092" y="3764305"/>
            <a:ext cx="2552700" cy="777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FB9E2-20D4-8B42-A98E-B408838C1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Coefficient of determination (R</a:t>
            </a:r>
            <a:r>
              <a:rPr lang="en-US" sz="3600" baseline="30000" dirty="0"/>
              <a:t>2</a:t>
            </a:r>
            <a:r>
              <a:rPr lang="en-US" sz="3600" dirty="0"/>
              <a:t>)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5E798FC-3DC9-3E47-B29C-1FD3A6A31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1" t="3601" r="4502" b="7119"/>
          <a:stretch/>
        </p:blipFill>
        <p:spPr bwMode="auto">
          <a:xfrm>
            <a:off x="1615027" y="1079671"/>
            <a:ext cx="5327031" cy="199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0BBB42-A8EF-C149-886B-50E6B87353CA}"/>
                  </a:ext>
                </a:extLst>
              </p:cNvPr>
              <p:cNvSpPr txBox="1"/>
              <p:nvPr/>
            </p:nvSpPr>
            <p:spPr>
              <a:xfrm>
                <a:off x="1549653" y="3892694"/>
                <a:ext cx="2127185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𝑆𝑆𝑅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𝑆𝑆𝐸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𝑆𝑆𝑇</m:t>
                          </m:r>
                        </m:den>
                      </m:f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10BBB42-A8EF-C149-886B-50E6B8735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9653" y="3892694"/>
                <a:ext cx="2127185" cy="520463"/>
              </a:xfrm>
              <a:prstGeom prst="rect">
                <a:avLst/>
              </a:prstGeom>
              <a:blipFill>
                <a:blip r:embed="rId3"/>
                <a:stretch>
                  <a:fillRect l="-1183" t="-4762" r="-1775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4AF6A551-A97A-F04E-AFF7-F694F4D75C10}"/>
              </a:ext>
            </a:extLst>
          </p:cNvPr>
          <p:cNvSpPr/>
          <p:nvPr/>
        </p:nvSpPr>
        <p:spPr>
          <a:xfrm>
            <a:off x="1646975" y="4595302"/>
            <a:ext cx="204094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/>
              <a:t>R</a:t>
            </a:r>
            <a:r>
              <a:rPr lang="en-US" sz="1200" baseline="30000" dirty="0"/>
              <a:t>2</a:t>
            </a:r>
            <a:r>
              <a:rPr lang="en-US" sz="1200" dirty="0"/>
              <a:t> ranges between 0 and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6A086-464C-3AF8-2842-316F920A1338}"/>
              </a:ext>
            </a:extLst>
          </p:cNvPr>
          <p:cNvSpPr txBox="1"/>
          <p:nvPr/>
        </p:nvSpPr>
        <p:spPr>
          <a:xfrm>
            <a:off x="3527892" y="3068362"/>
            <a:ext cx="150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Unexplained deviation (error)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0F1C8-21DA-17C3-D496-E545553008EB}"/>
              </a:ext>
            </a:extLst>
          </p:cNvPr>
          <p:cNvSpPr txBox="1"/>
          <p:nvPr/>
        </p:nvSpPr>
        <p:spPr>
          <a:xfrm>
            <a:off x="5409326" y="3068362"/>
            <a:ext cx="150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Deviation explained by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D0AE13-6939-2512-CD24-CF73F736A749}"/>
              </a:ext>
            </a:extLst>
          </p:cNvPr>
          <p:cNvSpPr txBox="1"/>
          <p:nvPr/>
        </p:nvSpPr>
        <p:spPr>
          <a:xfrm>
            <a:off x="1646458" y="3065644"/>
            <a:ext cx="1501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Total deviation from mean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5B60A-708D-CAB4-2610-6F81790D1CB0}"/>
              </a:ext>
            </a:extLst>
          </p:cNvPr>
          <p:cNvSpPr txBox="1"/>
          <p:nvPr/>
        </p:nvSpPr>
        <p:spPr>
          <a:xfrm>
            <a:off x="4100182" y="3815602"/>
            <a:ext cx="41195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dirty="0"/>
              <a:t>R-squared is typically used to communicate how well your feature variables (X) explain the variability in your target variable (y)</a:t>
            </a:r>
          </a:p>
        </p:txBody>
      </p:sp>
    </p:spTree>
    <p:extLst>
      <p:ext uri="{BB962C8B-B14F-4D97-AF65-F5344CB8AC3E}">
        <p14:creationId xmlns:p14="http://schemas.microsoft.com/office/powerpoint/2010/main" val="36420824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00044-C8ED-3E45-A138-9DFEE3C8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Adjusted R</a:t>
            </a:r>
            <a:r>
              <a:rPr lang="en-US" baseline="30000" dirty="0"/>
              <a:t>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4D156-A4B3-6E42-A0BB-48FAFF2F4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1600" dirty="0"/>
              <a:t>R-squared is often viewed as a measure of </a:t>
            </a:r>
            <a:r>
              <a:rPr lang="en-US" sz="1600" b="1" dirty="0"/>
              <a:t>goodness of fit </a:t>
            </a:r>
            <a:r>
              <a:rPr lang="en-US" sz="1600" dirty="0"/>
              <a:t>rather than prediction ability -&gt; calculated “in-sample” on the training data itself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As we add more features, the R-squared almost always goes up because the model finds additional patterns of correlation (which might be noise)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However, this does not mean the model can generate better predictions on new data -&gt; remember our discussion on overfitting 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To help with this problem, we often report ”adjusted R-squared”, which penalizes for more features (added complexity)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4A15CA-0B94-8E48-8BA0-44541C67A359}"/>
                  </a:ext>
                </a:extLst>
              </p:cNvPr>
              <p:cNvSpPr txBox="1"/>
              <p:nvPr/>
            </p:nvSpPr>
            <p:spPr>
              <a:xfrm>
                <a:off x="2473377" y="3861493"/>
                <a:ext cx="3620158" cy="6049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𝐴𝑑𝑗𝑢𝑠𝑡𝑒𝑑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4A15CA-0B94-8E48-8BA0-44541C67A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377" y="3861493"/>
                <a:ext cx="3620158" cy="604974"/>
              </a:xfrm>
              <a:prstGeom prst="rect">
                <a:avLst/>
              </a:prstGeom>
              <a:blipFill>
                <a:blip r:embed="rId2"/>
                <a:stretch>
                  <a:fillRect l="-1394" r="-1394" b="-16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CFEF2AE-D4E4-E744-A871-A22947EE304E}"/>
              </a:ext>
            </a:extLst>
          </p:cNvPr>
          <p:cNvSpPr/>
          <p:nvPr/>
        </p:nvSpPr>
        <p:spPr>
          <a:xfrm>
            <a:off x="712032" y="4756150"/>
            <a:ext cx="510415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“Is R-squared useless?”: https://</a:t>
            </a:r>
            <a:r>
              <a:rPr lang="en-US" sz="1050" dirty="0" err="1"/>
              <a:t>data.library.virginia.edu</a:t>
            </a:r>
            <a:r>
              <a:rPr lang="en-US" sz="1050" dirty="0"/>
              <a:t>/is-r-squared-useless/</a:t>
            </a:r>
          </a:p>
        </p:txBody>
      </p:sp>
    </p:spTree>
    <p:extLst>
      <p:ext uri="{BB962C8B-B14F-4D97-AF65-F5344CB8AC3E}">
        <p14:creationId xmlns:p14="http://schemas.microsoft.com/office/powerpoint/2010/main" val="870494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34E51-0339-B24D-85B1-FAC2528C3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2262760"/>
            <a:ext cx="7772400" cy="1021556"/>
          </a:xfrm>
        </p:spPr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4346683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0277-E000-2942-9338-A396C8169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F0226-F393-4D44-AA7C-D8010229D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lang="en-US" sz="1800" dirty="0"/>
              <a:t>Read:</a:t>
            </a:r>
          </a:p>
          <a:p>
            <a:pPr lvl="1">
              <a:spcAft>
                <a:spcPts val="400"/>
              </a:spcAft>
            </a:pPr>
            <a:r>
              <a:rPr lang="en-US" sz="1400" dirty="0">
                <a:hlinkClick r:id="rId2"/>
              </a:rPr>
              <a:t>Machine learning that matters</a:t>
            </a:r>
            <a:endParaRPr lang="en-US" sz="1400" dirty="0"/>
          </a:p>
          <a:p>
            <a:pPr lvl="1">
              <a:spcAft>
                <a:spcPts val="400"/>
              </a:spcAft>
            </a:pPr>
            <a:r>
              <a:rPr lang="en-US" sz="1400" dirty="0">
                <a:hlinkClick r:id="rId3"/>
              </a:rPr>
              <a:t>The first rule of ML: start without ML</a:t>
            </a:r>
            <a:endParaRPr lang="en-US" sz="1400" dirty="0"/>
          </a:p>
          <a:p>
            <a:pPr lvl="1">
              <a:spcAft>
                <a:spcPts val="400"/>
              </a:spcAft>
            </a:pPr>
            <a:r>
              <a:rPr lang="en-US" sz="1400" dirty="0">
                <a:hlinkClick r:id="rId4"/>
              </a:rPr>
              <a:t>Google’s Rules of ML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305581"/>
      </p:ext>
    </p:extLst>
  </p:cSld>
  <p:clrMapOvr>
    <a:masterClrMapping/>
  </p:clrMapOvr>
</p:sld>
</file>

<file path=ppt/theme/theme1.xml><?xml version="1.0" encoding="utf-8"?>
<a:theme xmlns:a="http://schemas.openxmlformats.org/drawingml/2006/main" name="pratt-template-aerial-w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att-template-photo-2019  -  Compatibility Mode" id="{D42B5714-30A2-CD4D-AF08-507A411B0D58}" vid="{297FEE61-2E36-AA47-ADC1-104B8049EC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46301</TotalTime>
  <Words>3416</Words>
  <Application>Microsoft Macintosh PowerPoint</Application>
  <PresentationFormat>On-screen Show (16:9)</PresentationFormat>
  <Paragraphs>541</Paragraphs>
  <Slides>71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Times New Roman</vt:lpstr>
      <vt:lpstr>Cambria Math</vt:lpstr>
      <vt:lpstr>Calibri</vt:lpstr>
      <vt:lpstr>Open Sans</vt:lpstr>
      <vt:lpstr>Arial</vt:lpstr>
      <vt:lpstr>pratt-template-aerial-wide</vt:lpstr>
      <vt:lpstr>AIPI 520: Modeling Process &amp; Algorithms    </vt:lpstr>
      <vt:lpstr>Context</vt:lpstr>
      <vt:lpstr>What we will learn</vt:lpstr>
      <vt:lpstr>Syllabus review</vt:lpstr>
      <vt:lpstr>Introduction to Machine Learning </vt:lpstr>
      <vt:lpstr>What is Machine Learning?</vt:lpstr>
      <vt:lpstr>Why do we need ML?</vt:lpstr>
      <vt:lpstr>What is a model?</vt:lpstr>
      <vt:lpstr>What is a model?</vt:lpstr>
      <vt:lpstr>PowerPoint Presentation</vt:lpstr>
      <vt:lpstr>Structured data</vt:lpstr>
      <vt:lpstr>Supervised vs. unsupervised learning</vt:lpstr>
      <vt:lpstr>Supervised learning types</vt:lpstr>
      <vt:lpstr>Practice: Regression or classification?</vt:lpstr>
      <vt:lpstr>ML vs Heuristics </vt:lpstr>
      <vt:lpstr>Heuristics</vt:lpstr>
      <vt:lpstr>Heuristics versus ML</vt:lpstr>
      <vt:lpstr>Example: using heuristics</vt:lpstr>
      <vt:lpstr>Establishing a baseline</vt:lpstr>
      <vt:lpstr>Heuristics as a baseline</vt:lpstr>
      <vt:lpstr>Modeling Process</vt:lpstr>
      <vt:lpstr>Algorithm selection</vt:lpstr>
      <vt:lpstr>Performance vs Interpretability</vt:lpstr>
      <vt:lpstr>Occam’s Razor</vt:lpstr>
      <vt:lpstr>PowerPoint Presentation</vt:lpstr>
      <vt:lpstr>PowerPoint Presentation</vt:lpstr>
      <vt:lpstr>Why are simpler systems better</vt:lpstr>
      <vt:lpstr>Algorithm selection best practice</vt:lpstr>
      <vt:lpstr>Model Evaluation</vt:lpstr>
      <vt:lpstr>Training &amp; Test Sets</vt:lpstr>
      <vt:lpstr>Sampling</vt:lpstr>
      <vt:lpstr>Nonprobability sampling</vt:lpstr>
      <vt:lpstr>Nonprobability sampling</vt:lpstr>
      <vt:lpstr>Random sampling</vt:lpstr>
      <vt:lpstr>Sampling for test set</vt:lpstr>
      <vt:lpstr>Data Leakage</vt:lpstr>
      <vt:lpstr>Data Leakage</vt:lpstr>
      <vt:lpstr>Data Leakage</vt:lpstr>
      <vt:lpstr>Common causes of data leakage</vt:lpstr>
      <vt:lpstr>Comparing Models</vt:lpstr>
      <vt:lpstr>Comparing models- validation sets</vt:lpstr>
      <vt:lpstr>Question</vt:lpstr>
      <vt:lpstr>Cross-Validation</vt:lpstr>
      <vt:lpstr>K-Folds Cross Validation</vt:lpstr>
      <vt:lpstr>K-Folds Cross Validation</vt:lpstr>
      <vt:lpstr>Other types of cross-validation</vt:lpstr>
      <vt:lpstr>Why use cross-validation?</vt:lpstr>
      <vt:lpstr>CV and Model Evaluation</vt:lpstr>
      <vt:lpstr>CV using Scikit-learn</vt:lpstr>
      <vt:lpstr>Model Selection:  The Bias-Variance Tradeoff</vt:lpstr>
      <vt:lpstr>Model Complexity</vt:lpstr>
      <vt:lpstr>Bias and Variance</vt:lpstr>
      <vt:lpstr>Bias – Variance Tradeoff</vt:lpstr>
      <vt:lpstr>Bias – Variance Tradeoff</vt:lpstr>
      <vt:lpstr>Underfitting vs. Overfitting</vt:lpstr>
      <vt:lpstr>Underfitting vs. Overfitting</vt:lpstr>
      <vt:lpstr>How do we recognize overfitting?</vt:lpstr>
      <vt:lpstr>Finding the optimal model</vt:lpstr>
      <vt:lpstr>DEMO Notebook:  Validation Curves</vt:lpstr>
      <vt:lpstr>Metrics</vt:lpstr>
      <vt:lpstr>Outcomes vs. Outputs</vt:lpstr>
      <vt:lpstr>Outcomes vs. Outputs</vt:lpstr>
      <vt:lpstr>Baselines</vt:lpstr>
      <vt:lpstr>Regression Error Metrics</vt:lpstr>
      <vt:lpstr>MSE, MAE and MAPE</vt:lpstr>
      <vt:lpstr>Example: MAE vs. MSE/RMSE</vt:lpstr>
      <vt:lpstr>Coefficient of determination (R2)</vt:lpstr>
      <vt:lpstr>Coefficient of determination (R2)</vt:lpstr>
      <vt:lpstr>Adjusted R2</vt:lpstr>
      <vt:lpstr>Questions?</vt:lpstr>
      <vt:lpstr>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Sourcing Data for Analytics: Introduction  Week 1    </dc:title>
  <dc:creator>Jon Reifschneider</dc:creator>
  <cp:lastModifiedBy>Jon Reifschneider</cp:lastModifiedBy>
  <cp:revision>362</cp:revision>
  <dcterms:created xsi:type="dcterms:W3CDTF">2020-08-17T17:32:42Z</dcterms:created>
  <dcterms:modified xsi:type="dcterms:W3CDTF">2025-08-27T12:28:36Z</dcterms:modified>
</cp:coreProperties>
</file>